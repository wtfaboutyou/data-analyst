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Playfair Display Bold" charset="1" panose="00000000000000000000"/>
      <p:regular r:id="rId16"/>
    </p:embeddedFont>
    <p:embeddedFont>
      <p:font typeface="Libre Baskerville Bold" charset="1" panose="02000000000000000000"/>
      <p:regular r:id="rId17"/>
    </p:embeddedFont>
    <p:embeddedFont>
      <p:font typeface="Libre Baskerville" charset="1" panose="02000000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3.jpe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18.jpeg" Type="http://schemas.openxmlformats.org/officeDocument/2006/relationships/image"/><Relationship Id="rId7" Target="../media/image19.png" Type="http://schemas.openxmlformats.org/officeDocument/2006/relationships/image"/><Relationship Id="rId8" Target="../media/image20.svg" Type="http://schemas.openxmlformats.org/officeDocument/2006/relationships/image"/><Relationship Id="rId9" Target="https://www.kaggle.com/datasets/seanangelonathanael/tindak-pidana-di-indonesia" TargetMode="External" Type="http://schemas.openxmlformats.org/officeDocument/2006/relationships/hyperlink"/></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svg" Type="http://schemas.openxmlformats.org/officeDocument/2006/relationships/image"/><Relationship Id="rId4" Target="../media/image25.png" Type="http://schemas.openxmlformats.org/officeDocument/2006/relationships/image"/><Relationship Id="rId5" Target="../media/image26.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 Id="rId4" Target="../media/image29.png" Type="http://schemas.openxmlformats.org/officeDocument/2006/relationships/image"/><Relationship Id="rId5" Target="../media/image30.svg" Type="http://schemas.openxmlformats.org/officeDocument/2006/relationships/image"/><Relationship Id="rId6" Target="../media/image31.png" Type="http://schemas.openxmlformats.org/officeDocument/2006/relationships/image"/><Relationship Id="rId7" Target="../media/image32.svg" Type="http://schemas.openxmlformats.org/officeDocument/2006/relationships/image"/><Relationship Id="rId8" Target="../media/image33.png" Type="http://schemas.openxmlformats.org/officeDocument/2006/relationships/image"/><Relationship Id="rId9" Target="../media/image3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 Id="rId3" Target="../media/image36.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png" Type="http://schemas.openxmlformats.org/officeDocument/2006/relationships/image"/><Relationship Id="rId3" Target="../media/image38.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png" Type="http://schemas.openxmlformats.org/officeDocument/2006/relationships/image"/><Relationship Id="rId3" Target="../media/image40.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41.png" Type="http://schemas.openxmlformats.org/officeDocument/2006/relationships/image"/><Relationship Id="rId7" Target="../media/image4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141346" y="3065811"/>
            <a:ext cx="13773616" cy="4155378"/>
            <a:chOff x="0" y="0"/>
            <a:chExt cx="3627619" cy="1094420"/>
          </a:xfrm>
        </p:grpSpPr>
        <p:sp>
          <p:nvSpPr>
            <p:cNvPr name="Freeform 3" id="3"/>
            <p:cNvSpPr/>
            <p:nvPr/>
          </p:nvSpPr>
          <p:spPr>
            <a:xfrm flipH="false" flipV="false" rot="0">
              <a:off x="0" y="0"/>
              <a:ext cx="3627619" cy="1094420"/>
            </a:xfrm>
            <a:custGeom>
              <a:avLst/>
              <a:gdLst/>
              <a:ahLst/>
              <a:cxnLst/>
              <a:rect r="r" b="b" t="t" l="l"/>
              <a:pathLst>
                <a:path h="1094420" w="3627619">
                  <a:moveTo>
                    <a:pt x="0" y="0"/>
                  </a:moveTo>
                  <a:lnTo>
                    <a:pt x="3627619" y="0"/>
                  </a:lnTo>
                  <a:lnTo>
                    <a:pt x="3627619" y="1094420"/>
                  </a:lnTo>
                  <a:lnTo>
                    <a:pt x="0" y="1094420"/>
                  </a:lnTo>
                  <a:close/>
                </a:path>
              </a:pathLst>
            </a:custGeom>
            <a:solidFill>
              <a:srgbClr val="456882"/>
            </a:solidFill>
          </p:spPr>
        </p:sp>
        <p:sp>
          <p:nvSpPr>
            <p:cNvPr name="TextBox 4" id="4"/>
            <p:cNvSpPr txBox="true"/>
            <p:nvPr/>
          </p:nvSpPr>
          <p:spPr>
            <a:xfrm>
              <a:off x="0" y="-38100"/>
              <a:ext cx="3627619" cy="113252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0" y="0"/>
            <a:ext cx="3059915" cy="4114800"/>
          </a:xfrm>
          <a:custGeom>
            <a:avLst/>
            <a:gdLst/>
            <a:ahLst/>
            <a:cxnLst/>
            <a:rect r="r" b="b" t="t" l="l"/>
            <a:pathLst>
              <a:path h="4114800" w="3059915">
                <a:moveTo>
                  <a:pt x="0" y="0"/>
                </a:moveTo>
                <a:lnTo>
                  <a:pt x="3059915" y="0"/>
                </a:lnTo>
                <a:lnTo>
                  <a:pt x="3059915"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127897" y="9258300"/>
            <a:ext cx="10005308" cy="255013"/>
            <a:chOff x="0" y="0"/>
            <a:chExt cx="2635143" cy="67164"/>
          </a:xfrm>
        </p:grpSpPr>
        <p:sp>
          <p:nvSpPr>
            <p:cNvPr name="Freeform 7" id="7"/>
            <p:cNvSpPr/>
            <p:nvPr/>
          </p:nvSpPr>
          <p:spPr>
            <a:xfrm flipH="false" flipV="false" rot="0">
              <a:off x="0" y="0"/>
              <a:ext cx="2635143" cy="67164"/>
            </a:xfrm>
            <a:custGeom>
              <a:avLst/>
              <a:gdLst/>
              <a:ahLst/>
              <a:cxnLst/>
              <a:rect r="r" b="b" t="t" l="l"/>
              <a:pathLst>
                <a:path h="67164" w="2635143">
                  <a:moveTo>
                    <a:pt x="0" y="0"/>
                  </a:moveTo>
                  <a:lnTo>
                    <a:pt x="2635143" y="0"/>
                  </a:lnTo>
                  <a:lnTo>
                    <a:pt x="2635143" y="67164"/>
                  </a:lnTo>
                  <a:lnTo>
                    <a:pt x="0" y="67164"/>
                  </a:lnTo>
                  <a:close/>
                </a:path>
              </a:pathLst>
            </a:custGeom>
            <a:solidFill>
              <a:srgbClr val="1B3C53"/>
            </a:solidFill>
          </p:spPr>
        </p:sp>
        <p:sp>
          <p:nvSpPr>
            <p:cNvPr name="TextBox 8" id="8"/>
            <p:cNvSpPr txBox="true"/>
            <p:nvPr/>
          </p:nvSpPr>
          <p:spPr>
            <a:xfrm>
              <a:off x="0" y="-38100"/>
              <a:ext cx="2635143" cy="105264"/>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0" y="9644889"/>
            <a:ext cx="10005308" cy="255013"/>
            <a:chOff x="0" y="0"/>
            <a:chExt cx="2635143" cy="67164"/>
          </a:xfrm>
        </p:grpSpPr>
        <p:sp>
          <p:nvSpPr>
            <p:cNvPr name="Freeform 10" id="10"/>
            <p:cNvSpPr/>
            <p:nvPr/>
          </p:nvSpPr>
          <p:spPr>
            <a:xfrm flipH="false" flipV="false" rot="0">
              <a:off x="0" y="0"/>
              <a:ext cx="2635143" cy="67164"/>
            </a:xfrm>
            <a:custGeom>
              <a:avLst/>
              <a:gdLst/>
              <a:ahLst/>
              <a:cxnLst/>
              <a:rect r="r" b="b" t="t" l="l"/>
              <a:pathLst>
                <a:path h="67164" w="2635143">
                  <a:moveTo>
                    <a:pt x="0" y="0"/>
                  </a:moveTo>
                  <a:lnTo>
                    <a:pt x="2635143" y="0"/>
                  </a:lnTo>
                  <a:lnTo>
                    <a:pt x="2635143" y="67164"/>
                  </a:lnTo>
                  <a:lnTo>
                    <a:pt x="0" y="67164"/>
                  </a:lnTo>
                  <a:close/>
                </a:path>
              </a:pathLst>
            </a:custGeom>
            <a:solidFill>
              <a:srgbClr val="D2C1B6"/>
            </a:solidFill>
          </p:spPr>
        </p:sp>
        <p:sp>
          <p:nvSpPr>
            <p:cNvPr name="TextBox 11" id="11"/>
            <p:cNvSpPr txBox="true"/>
            <p:nvPr/>
          </p:nvSpPr>
          <p:spPr>
            <a:xfrm>
              <a:off x="0" y="-38100"/>
              <a:ext cx="2635143" cy="105264"/>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0">
            <a:off x="4141346" y="892379"/>
            <a:ext cx="581545" cy="581545"/>
          </a:xfrm>
          <a:custGeom>
            <a:avLst/>
            <a:gdLst/>
            <a:ahLst/>
            <a:cxnLst/>
            <a:rect r="r" b="b" t="t" l="l"/>
            <a:pathLst>
              <a:path h="581545" w="581545">
                <a:moveTo>
                  <a:pt x="0" y="0"/>
                </a:moveTo>
                <a:lnTo>
                  <a:pt x="581545" y="0"/>
                </a:lnTo>
                <a:lnTo>
                  <a:pt x="581545" y="581545"/>
                </a:lnTo>
                <a:lnTo>
                  <a:pt x="0" y="58154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1504736" y="8160797"/>
            <a:ext cx="3685104" cy="2968184"/>
          </a:xfrm>
          <a:custGeom>
            <a:avLst/>
            <a:gdLst/>
            <a:ahLst/>
            <a:cxnLst/>
            <a:rect r="r" b="b" t="t" l="l"/>
            <a:pathLst>
              <a:path h="2968184" w="3685104">
                <a:moveTo>
                  <a:pt x="0" y="0"/>
                </a:moveTo>
                <a:lnTo>
                  <a:pt x="3685104" y="0"/>
                </a:lnTo>
                <a:lnTo>
                  <a:pt x="3685104" y="2968183"/>
                </a:lnTo>
                <a:lnTo>
                  <a:pt x="0" y="2968183"/>
                </a:lnTo>
                <a:lnTo>
                  <a:pt x="0" y="0"/>
                </a:lnTo>
                <a:close/>
              </a:path>
            </a:pathLst>
          </a:custGeom>
          <a:blipFill>
            <a:blip r:embed="rId6">
              <a:alphaModFix amt="36000"/>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true" flipV="true" rot="-217147">
            <a:off x="12740301" y="4571800"/>
            <a:ext cx="7432162" cy="5851138"/>
          </a:xfrm>
          <a:custGeom>
            <a:avLst/>
            <a:gdLst/>
            <a:ahLst/>
            <a:cxnLst/>
            <a:rect r="r" b="b" t="t" l="l"/>
            <a:pathLst>
              <a:path h="5851138" w="7432162">
                <a:moveTo>
                  <a:pt x="7432162" y="5851138"/>
                </a:moveTo>
                <a:lnTo>
                  <a:pt x="0" y="5851138"/>
                </a:lnTo>
                <a:lnTo>
                  <a:pt x="0" y="0"/>
                </a:lnTo>
                <a:lnTo>
                  <a:pt x="7432162" y="0"/>
                </a:lnTo>
                <a:lnTo>
                  <a:pt x="7432162" y="5851138"/>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0">
            <a:off x="11681218" y="-1333355"/>
            <a:ext cx="8317483" cy="8550683"/>
          </a:xfrm>
          <a:custGeom>
            <a:avLst/>
            <a:gdLst/>
            <a:ahLst/>
            <a:cxnLst/>
            <a:rect r="r" b="b" t="t" l="l"/>
            <a:pathLst>
              <a:path h="8550683" w="8317483">
                <a:moveTo>
                  <a:pt x="0" y="0"/>
                </a:moveTo>
                <a:lnTo>
                  <a:pt x="8317483" y="0"/>
                </a:lnTo>
                <a:lnTo>
                  <a:pt x="8317483" y="8550683"/>
                </a:lnTo>
                <a:lnTo>
                  <a:pt x="0" y="855068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6" id="16"/>
          <p:cNvSpPr txBox="true"/>
          <p:nvPr/>
        </p:nvSpPr>
        <p:spPr>
          <a:xfrm rot="0">
            <a:off x="4450302" y="2951511"/>
            <a:ext cx="8112737" cy="2281350"/>
          </a:xfrm>
          <a:prstGeom prst="rect">
            <a:avLst/>
          </a:prstGeom>
        </p:spPr>
        <p:txBody>
          <a:bodyPr anchor="t" rtlCol="false" tIns="0" lIns="0" bIns="0" rIns="0">
            <a:spAutoFit/>
          </a:bodyPr>
          <a:lstStyle/>
          <a:p>
            <a:pPr algn="l">
              <a:lnSpc>
                <a:spcPts val="18631"/>
              </a:lnSpc>
            </a:pPr>
            <a:r>
              <a:rPr lang="en-US" sz="13308" b="true">
                <a:solidFill>
                  <a:srgbClr val="FFFFFF"/>
                </a:solidFill>
                <a:latin typeface="Playfair Display Bold"/>
                <a:ea typeface="Playfair Display Bold"/>
                <a:cs typeface="Playfair Display Bold"/>
                <a:sym typeface="Playfair Display Bold"/>
              </a:rPr>
              <a:t>STUDI</a:t>
            </a:r>
          </a:p>
        </p:txBody>
      </p:sp>
      <p:sp>
        <p:nvSpPr>
          <p:cNvPr name="TextBox 17" id="17"/>
          <p:cNvSpPr txBox="true"/>
          <p:nvPr/>
        </p:nvSpPr>
        <p:spPr>
          <a:xfrm rot="0">
            <a:off x="4450302" y="4593007"/>
            <a:ext cx="10073216" cy="2281350"/>
          </a:xfrm>
          <a:prstGeom prst="rect">
            <a:avLst/>
          </a:prstGeom>
        </p:spPr>
        <p:txBody>
          <a:bodyPr anchor="t" rtlCol="false" tIns="0" lIns="0" bIns="0" rIns="0">
            <a:spAutoFit/>
          </a:bodyPr>
          <a:lstStyle/>
          <a:p>
            <a:pPr algn="l">
              <a:lnSpc>
                <a:spcPts val="18631"/>
              </a:lnSpc>
            </a:pPr>
            <a:r>
              <a:rPr lang="en-US" sz="13308" b="true">
                <a:solidFill>
                  <a:srgbClr val="FFFFFF"/>
                </a:solidFill>
                <a:latin typeface="Playfair Display Bold"/>
                <a:ea typeface="Playfair Display Bold"/>
                <a:cs typeface="Playfair Display Bold"/>
                <a:sym typeface="Playfair Display Bold"/>
              </a:rPr>
              <a:t>KASUS</a:t>
            </a:r>
          </a:p>
        </p:txBody>
      </p:sp>
      <p:sp>
        <p:nvSpPr>
          <p:cNvPr name="TextBox 18" id="18"/>
          <p:cNvSpPr txBox="true"/>
          <p:nvPr/>
        </p:nvSpPr>
        <p:spPr>
          <a:xfrm rot="0">
            <a:off x="4141346" y="2229558"/>
            <a:ext cx="6106663" cy="712428"/>
          </a:xfrm>
          <a:prstGeom prst="rect">
            <a:avLst/>
          </a:prstGeom>
        </p:spPr>
        <p:txBody>
          <a:bodyPr anchor="t" rtlCol="false" tIns="0" lIns="0" bIns="0" rIns="0">
            <a:spAutoFit/>
          </a:bodyPr>
          <a:lstStyle/>
          <a:p>
            <a:pPr algn="l">
              <a:lnSpc>
                <a:spcPts val="5882"/>
              </a:lnSpc>
            </a:pPr>
            <a:r>
              <a:rPr lang="en-US" b="true" sz="4201" spc="911">
                <a:solidFill>
                  <a:srgbClr val="7B4C26"/>
                </a:solidFill>
                <a:latin typeface="Libre Baskerville Bold"/>
                <a:ea typeface="Libre Baskerville Bold"/>
                <a:cs typeface="Libre Baskerville Bold"/>
                <a:sym typeface="Libre Baskerville Bold"/>
              </a:rPr>
              <a:t>PRESENTASI</a:t>
            </a:r>
          </a:p>
        </p:txBody>
      </p:sp>
      <p:sp>
        <p:nvSpPr>
          <p:cNvPr name="TextBox 19" id="19"/>
          <p:cNvSpPr txBox="true"/>
          <p:nvPr/>
        </p:nvSpPr>
        <p:spPr>
          <a:xfrm rot="0">
            <a:off x="4897879" y="990600"/>
            <a:ext cx="6340852" cy="372702"/>
          </a:xfrm>
          <a:prstGeom prst="rect">
            <a:avLst/>
          </a:prstGeom>
        </p:spPr>
        <p:txBody>
          <a:bodyPr anchor="t" rtlCol="false" tIns="0" lIns="0" bIns="0" rIns="0">
            <a:spAutoFit/>
          </a:bodyPr>
          <a:lstStyle/>
          <a:p>
            <a:pPr algn="l">
              <a:lnSpc>
                <a:spcPts val="3082"/>
              </a:lnSpc>
            </a:pPr>
            <a:r>
              <a:rPr lang="en-US" sz="2201" b="true">
                <a:solidFill>
                  <a:srgbClr val="7B4C26"/>
                </a:solidFill>
                <a:latin typeface="Libre Baskerville Bold"/>
                <a:ea typeface="Libre Baskerville Bold"/>
                <a:cs typeface="Libre Baskerville Bold"/>
                <a:sym typeface="Libre Baskerville Bold"/>
              </a:rPr>
              <a:t>SMK NEGERI 2 SURAKARTA</a:t>
            </a:r>
          </a:p>
        </p:txBody>
      </p:sp>
      <p:sp>
        <p:nvSpPr>
          <p:cNvPr name="TextBox 20" id="20"/>
          <p:cNvSpPr txBox="true"/>
          <p:nvPr/>
        </p:nvSpPr>
        <p:spPr>
          <a:xfrm rot="0">
            <a:off x="4141346" y="7440219"/>
            <a:ext cx="7341022" cy="521293"/>
          </a:xfrm>
          <a:prstGeom prst="rect">
            <a:avLst/>
          </a:prstGeom>
        </p:spPr>
        <p:txBody>
          <a:bodyPr anchor="t" rtlCol="false" tIns="0" lIns="0" bIns="0" rIns="0">
            <a:spAutoFit/>
          </a:bodyPr>
          <a:lstStyle/>
          <a:p>
            <a:pPr algn="l">
              <a:lnSpc>
                <a:spcPts val="4342"/>
              </a:lnSpc>
            </a:pPr>
            <a:r>
              <a:rPr lang="en-US" sz="3101">
                <a:solidFill>
                  <a:srgbClr val="7B4C26"/>
                </a:solidFill>
                <a:latin typeface="Libre Baskerville"/>
                <a:ea typeface="Libre Baskerville"/>
                <a:cs typeface="Libre Baskerville"/>
                <a:sym typeface="Libre Baskerville"/>
              </a:rPr>
              <a:t>Oleh: Avrillia Zahra Khoirun Nisa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1028700" y="9258300"/>
            <a:ext cx="3398965" cy="2515234"/>
          </a:xfrm>
          <a:custGeom>
            <a:avLst/>
            <a:gdLst/>
            <a:ahLst/>
            <a:cxnLst/>
            <a:rect r="r" b="b" t="t" l="l"/>
            <a:pathLst>
              <a:path h="2515234" w="3398965">
                <a:moveTo>
                  <a:pt x="3398965" y="0"/>
                </a:moveTo>
                <a:lnTo>
                  <a:pt x="0" y="0"/>
                </a:lnTo>
                <a:lnTo>
                  <a:pt x="0" y="2515234"/>
                </a:lnTo>
                <a:lnTo>
                  <a:pt x="3398965" y="2515234"/>
                </a:lnTo>
                <a:lnTo>
                  <a:pt x="3398965" y="0"/>
                </a:lnTo>
                <a:close/>
              </a:path>
            </a:pathLst>
          </a:custGeom>
          <a:blipFill>
            <a:blip r:embed="rId2">
              <a:alphaModFix amt="31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298058" y="1028700"/>
            <a:ext cx="1965454" cy="835863"/>
            <a:chOff x="0" y="0"/>
            <a:chExt cx="517651" cy="220145"/>
          </a:xfrm>
        </p:grpSpPr>
        <p:sp>
          <p:nvSpPr>
            <p:cNvPr name="Freeform 4" id="4"/>
            <p:cNvSpPr/>
            <p:nvPr/>
          </p:nvSpPr>
          <p:spPr>
            <a:xfrm flipH="false" flipV="false" rot="0">
              <a:off x="0" y="0"/>
              <a:ext cx="517651" cy="220145"/>
            </a:xfrm>
            <a:custGeom>
              <a:avLst/>
              <a:gdLst/>
              <a:ahLst/>
              <a:cxnLst/>
              <a:rect r="r" b="b" t="t" l="l"/>
              <a:pathLst>
                <a:path h="220145" w="517651">
                  <a:moveTo>
                    <a:pt x="0" y="0"/>
                  </a:moveTo>
                  <a:lnTo>
                    <a:pt x="517651" y="0"/>
                  </a:lnTo>
                  <a:lnTo>
                    <a:pt x="517651" y="220145"/>
                  </a:lnTo>
                  <a:lnTo>
                    <a:pt x="0" y="220145"/>
                  </a:lnTo>
                  <a:close/>
                </a:path>
              </a:pathLst>
            </a:custGeom>
            <a:solidFill>
              <a:srgbClr val="1B3C53"/>
            </a:solidFill>
          </p:spPr>
        </p:sp>
        <p:sp>
          <p:nvSpPr>
            <p:cNvPr name="TextBox 5" id="5"/>
            <p:cNvSpPr txBox="true"/>
            <p:nvPr/>
          </p:nvSpPr>
          <p:spPr>
            <a:xfrm>
              <a:off x="0" y="-38100"/>
              <a:ext cx="517651" cy="258245"/>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298058" y="3508667"/>
            <a:ext cx="20107371" cy="5262626"/>
            <a:chOff x="0" y="0"/>
            <a:chExt cx="5295768" cy="1386042"/>
          </a:xfrm>
        </p:grpSpPr>
        <p:sp>
          <p:nvSpPr>
            <p:cNvPr name="Freeform 7" id="7"/>
            <p:cNvSpPr/>
            <p:nvPr/>
          </p:nvSpPr>
          <p:spPr>
            <a:xfrm flipH="false" flipV="false" rot="0">
              <a:off x="0" y="0"/>
              <a:ext cx="5295768" cy="1386042"/>
            </a:xfrm>
            <a:custGeom>
              <a:avLst/>
              <a:gdLst/>
              <a:ahLst/>
              <a:cxnLst/>
              <a:rect r="r" b="b" t="t" l="l"/>
              <a:pathLst>
                <a:path h="1386042" w="5295768">
                  <a:moveTo>
                    <a:pt x="18096" y="0"/>
                  </a:moveTo>
                  <a:lnTo>
                    <a:pt x="5277672" y="0"/>
                  </a:lnTo>
                  <a:cubicBezTo>
                    <a:pt x="5287666" y="0"/>
                    <a:pt x="5295768" y="8102"/>
                    <a:pt x="5295768" y="18096"/>
                  </a:cubicBezTo>
                  <a:lnTo>
                    <a:pt x="5295768" y="1367945"/>
                  </a:lnTo>
                  <a:cubicBezTo>
                    <a:pt x="5295768" y="1372745"/>
                    <a:pt x="5293862" y="1377348"/>
                    <a:pt x="5290468" y="1380741"/>
                  </a:cubicBezTo>
                  <a:cubicBezTo>
                    <a:pt x="5287074" y="1384135"/>
                    <a:pt x="5282471" y="1386042"/>
                    <a:pt x="5277672" y="1386042"/>
                  </a:cubicBezTo>
                  <a:lnTo>
                    <a:pt x="18096" y="1386042"/>
                  </a:lnTo>
                  <a:cubicBezTo>
                    <a:pt x="8102" y="1386042"/>
                    <a:pt x="0" y="1377940"/>
                    <a:pt x="0" y="1367945"/>
                  </a:cubicBezTo>
                  <a:lnTo>
                    <a:pt x="0" y="18096"/>
                  </a:lnTo>
                  <a:cubicBezTo>
                    <a:pt x="0" y="13297"/>
                    <a:pt x="1907" y="8694"/>
                    <a:pt x="5300" y="5300"/>
                  </a:cubicBezTo>
                  <a:cubicBezTo>
                    <a:pt x="8694" y="1907"/>
                    <a:pt x="13297" y="0"/>
                    <a:pt x="18096" y="0"/>
                  </a:cubicBezTo>
                  <a:close/>
                </a:path>
              </a:pathLst>
            </a:custGeom>
            <a:solidFill>
              <a:srgbClr val="D2C1B6">
                <a:alpha val="72941"/>
              </a:srgbClr>
            </a:solidFill>
          </p:spPr>
        </p:sp>
        <p:sp>
          <p:nvSpPr>
            <p:cNvPr name="TextBox 8" id="8"/>
            <p:cNvSpPr txBox="true"/>
            <p:nvPr/>
          </p:nvSpPr>
          <p:spPr>
            <a:xfrm>
              <a:off x="0" y="-38100"/>
              <a:ext cx="5295768" cy="1424142"/>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3587113">
            <a:off x="14030879" y="512781"/>
            <a:ext cx="5331404" cy="2197724"/>
            <a:chOff x="0" y="0"/>
            <a:chExt cx="1404156" cy="578824"/>
          </a:xfrm>
        </p:grpSpPr>
        <p:sp>
          <p:nvSpPr>
            <p:cNvPr name="Freeform 10" id="10"/>
            <p:cNvSpPr/>
            <p:nvPr/>
          </p:nvSpPr>
          <p:spPr>
            <a:xfrm flipH="false" flipV="false" rot="0">
              <a:off x="0" y="0"/>
              <a:ext cx="1404156" cy="578824"/>
            </a:xfrm>
            <a:custGeom>
              <a:avLst/>
              <a:gdLst/>
              <a:ahLst/>
              <a:cxnLst/>
              <a:rect r="r" b="b" t="t" l="l"/>
              <a:pathLst>
                <a:path h="578824" w="1404156">
                  <a:moveTo>
                    <a:pt x="0" y="0"/>
                  </a:moveTo>
                  <a:lnTo>
                    <a:pt x="1404156" y="0"/>
                  </a:lnTo>
                  <a:lnTo>
                    <a:pt x="1404156" y="578824"/>
                  </a:lnTo>
                  <a:lnTo>
                    <a:pt x="0" y="578824"/>
                  </a:lnTo>
                  <a:close/>
                </a:path>
              </a:pathLst>
            </a:custGeom>
            <a:solidFill>
              <a:srgbClr val="D2C1B6"/>
            </a:solidFill>
          </p:spPr>
        </p:sp>
        <p:sp>
          <p:nvSpPr>
            <p:cNvPr name="TextBox 11" id="11"/>
            <p:cNvSpPr txBox="true"/>
            <p:nvPr/>
          </p:nvSpPr>
          <p:spPr>
            <a:xfrm>
              <a:off x="0" y="-38100"/>
              <a:ext cx="1404156" cy="616924"/>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6023207">
            <a:off x="12193187" y="5416409"/>
            <a:ext cx="9359356" cy="2308481"/>
            <a:chOff x="0" y="0"/>
            <a:chExt cx="2465016" cy="607995"/>
          </a:xfrm>
        </p:grpSpPr>
        <p:sp>
          <p:nvSpPr>
            <p:cNvPr name="Freeform 13" id="13"/>
            <p:cNvSpPr/>
            <p:nvPr/>
          </p:nvSpPr>
          <p:spPr>
            <a:xfrm flipH="false" flipV="false" rot="0">
              <a:off x="0" y="0"/>
              <a:ext cx="2465016" cy="607995"/>
            </a:xfrm>
            <a:custGeom>
              <a:avLst/>
              <a:gdLst/>
              <a:ahLst/>
              <a:cxnLst/>
              <a:rect r="r" b="b" t="t" l="l"/>
              <a:pathLst>
                <a:path h="607995" w="2465016">
                  <a:moveTo>
                    <a:pt x="0" y="0"/>
                  </a:moveTo>
                  <a:lnTo>
                    <a:pt x="2465016" y="0"/>
                  </a:lnTo>
                  <a:lnTo>
                    <a:pt x="2465016" y="607995"/>
                  </a:lnTo>
                  <a:lnTo>
                    <a:pt x="0" y="607995"/>
                  </a:lnTo>
                  <a:close/>
                </a:path>
              </a:pathLst>
            </a:custGeom>
            <a:solidFill>
              <a:srgbClr val="456882"/>
            </a:solidFill>
          </p:spPr>
        </p:sp>
        <p:sp>
          <p:nvSpPr>
            <p:cNvPr name="TextBox 14" id="14"/>
            <p:cNvSpPr txBox="true"/>
            <p:nvPr/>
          </p:nvSpPr>
          <p:spPr>
            <a:xfrm>
              <a:off x="0" y="-38100"/>
              <a:ext cx="2465016" cy="646095"/>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a:grpSpLocks noChangeAspect="true"/>
          </p:cNvGrpSpPr>
          <p:nvPr/>
        </p:nvGrpSpPr>
        <p:grpSpPr>
          <a:xfrm rot="0">
            <a:off x="14075825" y="885482"/>
            <a:ext cx="5066721" cy="5565633"/>
            <a:chOff x="0" y="0"/>
            <a:chExt cx="5803900" cy="6375400"/>
          </a:xfrm>
        </p:grpSpPr>
        <p:sp>
          <p:nvSpPr>
            <p:cNvPr name="Freeform 16" id="16"/>
            <p:cNvSpPr/>
            <p:nvPr/>
          </p:nvSpPr>
          <p:spPr>
            <a:xfrm flipH="false" flipV="false" rot="0">
              <a:off x="12700" y="12700"/>
              <a:ext cx="5778500" cy="6350000"/>
            </a:xfrm>
            <a:custGeom>
              <a:avLst/>
              <a:gdLst/>
              <a:ahLst/>
              <a:cxnLst/>
              <a:rect r="r" b="b" t="t" l="l"/>
              <a:pathLst>
                <a:path h="6350000" w="5778500">
                  <a:moveTo>
                    <a:pt x="2889250" y="0"/>
                  </a:moveTo>
                  <a:cubicBezTo>
                    <a:pt x="1258570" y="0"/>
                    <a:pt x="0" y="1144270"/>
                    <a:pt x="0" y="2917190"/>
                  </a:cubicBezTo>
                  <a:cubicBezTo>
                    <a:pt x="0" y="4175760"/>
                    <a:pt x="0" y="6350000"/>
                    <a:pt x="0" y="6350000"/>
                  </a:cubicBezTo>
                  <a:lnTo>
                    <a:pt x="2889250" y="6350000"/>
                  </a:lnTo>
                  <a:lnTo>
                    <a:pt x="5778500" y="6350000"/>
                  </a:lnTo>
                  <a:cubicBezTo>
                    <a:pt x="5778500" y="6350000"/>
                    <a:pt x="5778500" y="4175760"/>
                    <a:pt x="5778500" y="2917190"/>
                  </a:cubicBezTo>
                  <a:cubicBezTo>
                    <a:pt x="5778500" y="1144270"/>
                    <a:pt x="4519930" y="0"/>
                    <a:pt x="2889250" y="0"/>
                  </a:cubicBezTo>
                  <a:close/>
                </a:path>
              </a:pathLst>
            </a:custGeom>
            <a:blipFill>
              <a:blip r:embed="rId4"/>
              <a:stretch>
                <a:fillRect l="-32342" t="0" r="-32342" b="0"/>
              </a:stretch>
            </a:blipFill>
          </p:spPr>
        </p:sp>
        <p:sp>
          <p:nvSpPr>
            <p:cNvPr name="Freeform 17" id="17"/>
            <p:cNvSpPr/>
            <p:nvPr/>
          </p:nvSpPr>
          <p:spPr>
            <a:xfrm flipH="false" flipV="false" rot="0">
              <a:off x="0" y="0"/>
              <a:ext cx="5803900" cy="6375400"/>
            </a:xfrm>
            <a:custGeom>
              <a:avLst/>
              <a:gdLst/>
              <a:ahLst/>
              <a:cxnLst/>
              <a:rect r="r" b="b" t="t" l="l"/>
              <a:pathLst>
                <a:path h="6375400" w="5803900">
                  <a:moveTo>
                    <a:pt x="5803900" y="6375400"/>
                  </a:moveTo>
                  <a:lnTo>
                    <a:pt x="0" y="6375400"/>
                  </a:lnTo>
                  <a:lnTo>
                    <a:pt x="0" y="2929890"/>
                  </a:lnTo>
                  <a:cubicBezTo>
                    <a:pt x="0" y="2495550"/>
                    <a:pt x="74930" y="2089150"/>
                    <a:pt x="223520" y="1720850"/>
                  </a:cubicBezTo>
                  <a:cubicBezTo>
                    <a:pt x="365760" y="1367790"/>
                    <a:pt x="571500" y="1056640"/>
                    <a:pt x="836930" y="797560"/>
                  </a:cubicBezTo>
                  <a:cubicBezTo>
                    <a:pt x="1361440" y="283210"/>
                    <a:pt x="2095500" y="0"/>
                    <a:pt x="2901950" y="0"/>
                  </a:cubicBezTo>
                  <a:cubicBezTo>
                    <a:pt x="3708400" y="0"/>
                    <a:pt x="4441190" y="283210"/>
                    <a:pt x="4966970" y="797560"/>
                  </a:cubicBezTo>
                  <a:cubicBezTo>
                    <a:pt x="5232400" y="1056640"/>
                    <a:pt x="5438140" y="1367790"/>
                    <a:pt x="5580380" y="1722120"/>
                  </a:cubicBezTo>
                  <a:cubicBezTo>
                    <a:pt x="5728970" y="2090420"/>
                    <a:pt x="5803900" y="2496820"/>
                    <a:pt x="5803900" y="2931160"/>
                  </a:cubicBezTo>
                  <a:lnTo>
                    <a:pt x="5803900" y="6375400"/>
                  </a:lnTo>
                  <a:close/>
                  <a:moveTo>
                    <a:pt x="25400" y="6350000"/>
                  </a:moveTo>
                  <a:lnTo>
                    <a:pt x="5778500" y="6350000"/>
                  </a:lnTo>
                  <a:lnTo>
                    <a:pt x="5778500" y="2929890"/>
                  </a:lnTo>
                  <a:cubicBezTo>
                    <a:pt x="5778500" y="2499360"/>
                    <a:pt x="5703570" y="2095500"/>
                    <a:pt x="5557520" y="1731010"/>
                  </a:cubicBezTo>
                  <a:cubicBezTo>
                    <a:pt x="5416550" y="1380490"/>
                    <a:pt x="5212080" y="1073150"/>
                    <a:pt x="4949190" y="815340"/>
                  </a:cubicBezTo>
                  <a:cubicBezTo>
                    <a:pt x="4428490" y="306070"/>
                    <a:pt x="3700780" y="25400"/>
                    <a:pt x="2901950" y="25400"/>
                  </a:cubicBezTo>
                  <a:cubicBezTo>
                    <a:pt x="2103120" y="25400"/>
                    <a:pt x="1375410" y="306070"/>
                    <a:pt x="854710" y="815340"/>
                  </a:cubicBezTo>
                  <a:cubicBezTo>
                    <a:pt x="591820" y="1071880"/>
                    <a:pt x="387350" y="1380490"/>
                    <a:pt x="246380" y="1731010"/>
                  </a:cubicBezTo>
                  <a:cubicBezTo>
                    <a:pt x="100330" y="2095500"/>
                    <a:pt x="25400" y="2499360"/>
                    <a:pt x="25400" y="2929890"/>
                  </a:cubicBezTo>
                  <a:lnTo>
                    <a:pt x="25400" y="6350000"/>
                  </a:lnTo>
                  <a:close/>
                </a:path>
              </a:pathLst>
            </a:custGeom>
            <a:solidFill>
              <a:srgbClr val="456882"/>
            </a:solidFill>
          </p:spPr>
        </p:sp>
      </p:grpSp>
      <p:sp>
        <p:nvSpPr>
          <p:cNvPr name="TextBox 18" id="18"/>
          <p:cNvSpPr txBox="true"/>
          <p:nvPr/>
        </p:nvSpPr>
        <p:spPr>
          <a:xfrm rot="0">
            <a:off x="1247224" y="4016270"/>
            <a:ext cx="12328918" cy="4190272"/>
          </a:xfrm>
          <a:prstGeom prst="rect">
            <a:avLst/>
          </a:prstGeom>
        </p:spPr>
        <p:txBody>
          <a:bodyPr anchor="t" rtlCol="false" tIns="0" lIns="0" bIns="0" rIns="0">
            <a:spAutoFit/>
          </a:bodyPr>
          <a:lstStyle/>
          <a:p>
            <a:pPr algn="l">
              <a:lnSpc>
                <a:spcPts val="3715"/>
              </a:lnSpc>
            </a:pPr>
            <a:r>
              <a:rPr lang="en-US" sz="2653">
                <a:solidFill>
                  <a:srgbClr val="7B4C26"/>
                </a:solidFill>
                <a:latin typeface="Libre Baskerville"/>
                <a:ea typeface="Libre Baskerville"/>
                <a:cs typeface="Libre Baskerville"/>
                <a:sym typeface="Libre Baskerville"/>
              </a:rPr>
              <a:t>D</a:t>
            </a:r>
            <a:r>
              <a:rPr lang="en-US" sz="2653">
                <a:solidFill>
                  <a:srgbClr val="7B4C26"/>
                </a:solidFill>
                <a:latin typeface="Libre Baskerville"/>
                <a:ea typeface="Libre Baskerville"/>
                <a:cs typeface="Libre Baskerville"/>
                <a:sym typeface="Libre Baskerville"/>
              </a:rPr>
              <a:t>ataset yang dipilih adalah Presentase Penyelesaian Tindak Pidana di Indonesia Tahun 2021–2022. Dataset ini memuat jumlah tindak pidana yang tercatat serta persentase penyelesaiannya di setiap wilayah Kepolisian Daerah (Polda), dibandingkan antara tahun 2021 dan 2022.</a:t>
            </a:r>
          </a:p>
          <a:p>
            <a:pPr algn="l">
              <a:lnSpc>
                <a:spcPts val="3715"/>
              </a:lnSpc>
            </a:pPr>
            <a:r>
              <a:rPr lang="en-US" sz="2653">
                <a:solidFill>
                  <a:srgbClr val="7B4C26"/>
                </a:solidFill>
                <a:latin typeface="Libre Baskerville"/>
                <a:ea typeface="Libre Baskerville"/>
                <a:cs typeface="Libre Baskerville"/>
                <a:sym typeface="Libre Baskerville"/>
              </a:rPr>
              <a:t>Alasan pemilihan dataset ini:</a:t>
            </a:r>
          </a:p>
          <a:p>
            <a:pPr algn="l" marL="572930" indent="-286465" lvl="1">
              <a:lnSpc>
                <a:spcPts val="3715"/>
              </a:lnSpc>
              <a:buAutoNum type="arabicPeriod" startAt="1"/>
            </a:pPr>
            <a:r>
              <a:rPr lang="en-US" sz="2653">
                <a:solidFill>
                  <a:srgbClr val="7B4C26"/>
                </a:solidFill>
                <a:latin typeface="Libre Baskerville"/>
                <a:ea typeface="Libre Baskerville"/>
                <a:cs typeface="Libre Baskerville"/>
                <a:sym typeface="Libre Baskerville"/>
              </a:rPr>
              <a:t>Menggabungkan dua sisi analisis sekaligus: volume kasus dan efektivitas penanganannya.</a:t>
            </a:r>
          </a:p>
          <a:p>
            <a:pPr algn="l" marL="572928" indent="-286464" lvl="1">
              <a:lnSpc>
                <a:spcPts val="3715"/>
              </a:lnSpc>
              <a:buAutoNum type="arabicPeriod" startAt="1"/>
            </a:pPr>
            <a:r>
              <a:rPr lang="en-US" sz="2653">
                <a:solidFill>
                  <a:srgbClr val="7B4C26"/>
                </a:solidFill>
                <a:latin typeface="Libre Baskerville"/>
                <a:ea typeface="Libre Baskerville"/>
                <a:cs typeface="Libre Baskerville"/>
                <a:sym typeface="Libre Baskerville"/>
              </a:rPr>
              <a:t>Cakupannya nasional, mencakup 34 wilayah Polda, sehingga bisa dibandingkan antarprovinsi secara menyeluruh.</a:t>
            </a:r>
          </a:p>
        </p:txBody>
      </p:sp>
      <p:sp>
        <p:nvSpPr>
          <p:cNvPr name="TextBox 19" id="19"/>
          <p:cNvSpPr txBox="true"/>
          <p:nvPr/>
        </p:nvSpPr>
        <p:spPr>
          <a:xfrm rot="0">
            <a:off x="1895518" y="582980"/>
            <a:ext cx="11032330" cy="1203203"/>
          </a:xfrm>
          <a:prstGeom prst="rect">
            <a:avLst/>
          </a:prstGeom>
        </p:spPr>
        <p:txBody>
          <a:bodyPr anchor="t" rtlCol="false" tIns="0" lIns="0" bIns="0" rIns="0">
            <a:spAutoFit/>
          </a:bodyPr>
          <a:lstStyle/>
          <a:p>
            <a:pPr algn="l">
              <a:lnSpc>
                <a:spcPts val="9806"/>
              </a:lnSpc>
            </a:pPr>
            <a:r>
              <a:rPr lang="en-US" sz="7004" b="true">
                <a:solidFill>
                  <a:srgbClr val="1B3C53"/>
                </a:solidFill>
                <a:latin typeface="Playfair Display Bold"/>
                <a:ea typeface="Playfair Display Bold"/>
                <a:cs typeface="Playfair Display Bold"/>
                <a:sym typeface="Playfair Display Bold"/>
              </a:rPr>
              <a:t>DATASET YANG DIPILIH</a:t>
            </a:r>
          </a:p>
        </p:txBody>
      </p:sp>
      <p:sp>
        <p:nvSpPr>
          <p:cNvPr name="TextBox 20" id="20"/>
          <p:cNvSpPr txBox="true"/>
          <p:nvPr/>
        </p:nvSpPr>
        <p:spPr>
          <a:xfrm rot="0">
            <a:off x="1895518" y="2068176"/>
            <a:ext cx="11395218" cy="1091824"/>
          </a:xfrm>
          <a:prstGeom prst="rect">
            <a:avLst/>
          </a:prstGeom>
        </p:spPr>
        <p:txBody>
          <a:bodyPr anchor="t" rtlCol="false" tIns="0" lIns="0" bIns="0" rIns="0">
            <a:spAutoFit/>
          </a:bodyPr>
          <a:lstStyle/>
          <a:p>
            <a:pPr algn="l">
              <a:lnSpc>
                <a:spcPts val="4395"/>
              </a:lnSpc>
            </a:pPr>
            <a:r>
              <a:rPr lang="en-US" sz="3139" b="true">
                <a:solidFill>
                  <a:srgbClr val="7B4C26"/>
                </a:solidFill>
                <a:latin typeface="Playfair Display Bold"/>
                <a:ea typeface="Playfair Display Bold"/>
                <a:cs typeface="Playfair Display Bold"/>
                <a:sym typeface="Playfair Display Bold"/>
              </a:rPr>
              <a:t>Persentase Penyelesaian Tindak Pidana di Indonesia Tahun 2021-2022</a:t>
            </a:r>
          </a:p>
        </p:txBody>
      </p:sp>
      <p:grpSp>
        <p:nvGrpSpPr>
          <p:cNvPr name="Group 21" id="21"/>
          <p:cNvGrpSpPr/>
          <p:nvPr/>
        </p:nvGrpSpPr>
        <p:grpSpPr>
          <a:xfrm rot="0">
            <a:off x="16035642" y="9258300"/>
            <a:ext cx="982727" cy="636341"/>
            <a:chOff x="0" y="0"/>
            <a:chExt cx="258825" cy="167596"/>
          </a:xfrm>
        </p:grpSpPr>
        <p:sp>
          <p:nvSpPr>
            <p:cNvPr name="Freeform 22" id="22"/>
            <p:cNvSpPr/>
            <p:nvPr/>
          </p:nvSpPr>
          <p:spPr>
            <a:xfrm flipH="false" flipV="false" rot="0">
              <a:off x="0" y="0"/>
              <a:ext cx="258825" cy="167596"/>
            </a:xfrm>
            <a:custGeom>
              <a:avLst/>
              <a:gdLst/>
              <a:ahLst/>
              <a:cxnLst/>
              <a:rect r="r" b="b" t="t" l="l"/>
              <a:pathLst>
                <a:path h="167596" w="258825">
                  <a:moveTo>
                    <a:pt x="83798" y="0"/>
                  </a:moveTo>
                  <a:lnTo>
                    <a:pt x="175027" y="0"/>
                  </a:lnTo>
                  <a:cubicBezTo>
                    <a:pt x="221308" y="0"/>
                    <a:pt x="258825" y="37518"/>
                    <a:pt x="258825" y="83798"/>
                  </a:cubicBezTo>
                  <a:lnTo>
                    <a:pt x="258825" y="83798"/>
                  </a:lnTo>
                  <a:cubicBezTo>
                    <a:pt x="258825" y="130078"/>
                    <a:pt x="221308" y="167596"/>
                    <a:pt x="175027" y="167596"/>
                  </a:cubicBezTo>
                  <a:lnTo>
                    <a:pt x="83798" y="167596"/>
                  </a:lnTo>
                  <a:cubicBezTo>
                    <a:pt x="37518" y="167596"/>
                    <a:pt x="0" y="130078"/>
                    <a:pt x="0" y="83798"/>
                  </a:cubicBezTo>
                  <a:lnTo>
                    <a:pt x="0" y="83798"/>
                  </a:lnTo>
                  <a:cubicBezTo>
                    <a:pt x="0" y="37518"/>
                    <a:pt x="37518" y="0"/>
                    <a:pt x="83798" y="0"/>
                  </a:cubicBezTo>
                  <a:close/>
                </a:path>
              </a:pathLst>
            </a:custGeom>
            <a:solidFill>
              <a:srgbClr val="D2C1B6"/>
            </a:solidFill>
            <a:ln w="38100" cap="rnd">
              <a:solidFill>
                <a:srgbClr val="FFFFFF"/>
              </a:solidFill>
              <a:prstDash val="solid"/>
              <a:round/>
            </a:ln>
          </p:spPr>
        </p:sp>
        <p:sp>
          <p:nvSpPr>
            <p:cNvPr name="TextBox 23" id="23"/>
            <p:cNvSpPr txBox="true"/>
            <p:nvPr/>
          </p:nvSpPr>
          <p:spPr>
            <a:xfrm>
              <a:off x="0" y="-38100"/>
              <a:ext cx="258825" cy="205696"/>
            </a:xfrm>
            <a:prstGeom prst="rect">
              <a:avLst/>
            </a:prstGeom>
          </p:spPr>
          <p:txBody>
            <a:bodyPr anchor="ctr" rtlCol="false" tIns="50800" lIns="50800" bIns="50800" rIns="50800"/>
            <a:lstStyle/>
            <a:p>
              <a:pPr algn="ctr">
                <a:lnSpc>
                  <a:spcPts val="2659"/>
                </a:lnSpc>
                <a:spcBef>
                  <a:spcPct val="0"/>
                </a:spcBef>
              </a:pPr>
            </a:p>
          </p:txBody>
        </p:sp>
      </p:grpSp>
      <p:sp>
        <p:nvSpPr>
          <p:cNvPr name="TextBox 24" id="24"/>
          <p:cNvSpPr txBox="true"/>
          <p:nvPr/>
        </p:nvSpPr>
        <p:spPr>
          <a:xfrm rot="0">
            <a:off x="16181145" y="9248775"/>
            <a:ext cx="691721" cy="484444"/>
          </a:xfrm>
          <a:prstGeom prst="rect">
            <a:avLst/>
          </a:prstGeom>
        </p:spPr>
        <p:txBody>
          <a:bodyPr anchor="t" rtlCol="false" tIns="0" lIns="0" bIns="0" rIns="0">
            <a:spAutoFit/>
          </a:bodyPr>
          <a:lstStyle/>
          <a:p>
            <a:pPr algn="ctr">
              <a:lnSpc>
                <a:spcPts val="4028"/>
              </a:lnSpc>
            </a:pPr>
            <a:r>
              <a:rPr lang="en-US" b="true" sz="2877">
                <a:solidFill>
                  <a:srgbClr val="1B3C53"/>
                </a:solidFill>
                <a:latin typeface="Playfair Display Bold"/>
                <a:ea typeface="Playfair Display Bold"/>
                <a:cs typeface="Playfair Display Bold"/>
                <a:sym typeface="Playfair Display Bold"/>
              </a:rPr>
              <a:t>02</a:t>
            </a:r>
          </a:p>
        </p:txBody>
      </p:sp>
      <p:grpSp>
        <p:nvGrpSpPr>
          <p:cNvPr name="Group 25" id="25"/>
          <p:cNvGrpSpPr/>
          <p:nvPr/>
        </p:nvGrpSpPr>
        <p:grpSpPr>
          <a:xfrm rot="0">
            <a:off x="17067659" y="9415048"/>
            <a:ext cx="2388751" cy="318171"/>
            <a:chOff x="0" y="0"/>
            <a:chExt cx="629136" cy="83798"/>
          </a:xfrm>
        </p:grpSpPr>
        <p:sp>
          <p:nvSpPr>
            <p:cNvPr name="Freeform 26" id="26"/>
            <p:cNvSpPr/>
            <p:nvPr/>
          </p:nvSpPr>
          <p:spPr>
            <a:xfrm flipH="false" flipV="false" rot="0">
              <a:off x="0" y="0"/>
              <a:ext cx="629136" cy="83798"/>
            </a:xfrm>
            <a:custGeom>
              <a:avLst/>
              <a:gdLst/>
              <a:ahLst/>
              <a:cxnLst/>
              <a:rect r="r" b="b" t="t" l="l"/>
              <a:pathLst>
                <a:path h="83798" w="629136">
                  <a:moveTo>
                    <a:pt x="41899" y="0"/>
                  </a:moveTo>
                  <a:lnTo>
                    <a:pt x="587237" y="0"/>
                  </a:lnTo>
                  <a:cubicBezTo>
                    <a:pt x="598349" y="0"/>
                    <a:pt x="609007" y="4414"/>
                    <a:pt x="616864" y="12272"/>
                  </a:cubicBezTo>
                  <a:cubicBezTo>
                    <a:pt x="624722" y="20130"/>
                    <a:pt x="629136" y="30787"/>
                    <a:pt x="629136" y="41899"/>
                  </a:cubicBezTo>
                  <a:lnTo>
                    <a:pt x="629136" y="41899"/>
                  </a:lnTo>
                  <a:cubicBezTo>
                    <a:pt x="629136" y="53011"/>
                    <a:pt x="624722" y="63668"/>
                    <a:pt x="616864" y="71526"/>
                  </a:cubicBezTo>
                  <a:cubicBezTo>
                    <a:pt x="609007" y="79384"/>
                    <a:pt x="598349" y="83798"/>
                    <a:pt x="587237" y="83798"/>
                  </a:cubicBezTo>
                  <a:lnTo>
                    <a:pt x="41899" y="83798"/>
                  </a:lnTo>
                  <a:cubicBezTo>
                    <a:pt x="30787" y="83798"/>
                    <a:pt x="20130" y="79384"/>
                    <a:pt x="12272" y="71526"/>
                  </a:cubicBezTo>
                  <a:cubicBezTo>
                    <a:pt x="4414" y="63668"/>
                    <a:pt x="0" y="53011"/>
                    <a:pt x="0" y="41899"/>
                  </a:cubicBezTo>
                  <a:lnTo>
                    <a:pt x="0" y="41899"/>
                  </a:lnTo>
                  <a:cubicBezTo>
                    <a:pt x="0" y="30787"/>
                    <a:pt x="4414" y="20130"/>
                    <a:pt x="12272" y="12272"/>
                  </a:cubicBezTo>
                  <a:cubicBezTo>
                    <a:pt x="20130" y="4414"/>
                    <a:pt x="30787" y="0"/>
                    <a:pt x="41899" y="0"/>
                  </a:cubicBezTo>
                  <a:close/>
                </a:path>
              </a:pathLst>
            </a:custGeom>
            <a:solidFill>
              <a:srgbClr val="D2C1B6"/>
            </a:solidFill>
            <a:ln w="38100" cap="rnd">
              <a:solidFill>
                <a:srgbClr val="FFFFFF"/>
              </a:solidFill>
              <a:prstDash val="solid"/>
              <a:round/>
            </a:ln>
          </p:spPr>
        </p:sp>
        <p:sp>
          <p:nvSpPr>
            <p:cNvPr name="TextBox 27" id="27"/>
            <p:cNvSpPr txBox="true"/>
            <p:nvPr/>
          </p:nvSpPr>
          <p:spPr>
            <a:xfrm>
              <a:off x="0" y="-38100"/>
              <a:ext cx="629136" cy="121898"/>
            </a:xfrm>
            <a:prstGeom prst="rect">
              <a:avLst/>
            </a:prstGeom>
          </p:spPr>
          <p:txBody>
            <a:bodyPr anchor="ctr" rtlCol="false" tIns="50800" lIns="50800" bIns="50800" rIns="50800"/>
            <a:lstStyle/>
            <a:p>
              <a:pPr algn="ctr">
                <a:lnSpc>
                  <a:spcPts val="2659"/>
                </a:lnSpc>
                <a:spcBef>
                  <a:spcPct val="0"/>
                </a:spcBef>
              </a:pPr>
            </a:p>
          </p:txBody>
        </p:sp>
      </p:grpSp>
      <p:sp>
        <p:nvSpPr>
          <p:cNvPr name="Freeform 28" id="28"/>
          <p:cNvSpPr/>
          <p:nvPr/>
        </p:nvSpPr>
        <p:spPr>
          <a:xfrm flipH="false" flipV="false" rot="0">
            <a:off x="12927848" y="1259969"/>
            <a:ext cx="2593176" cy="2088686"/>
          </a:xfrm>
          <a:custGeom>
            <a:avLst/>
            <a:gdLst/>
            <a:ahLst/>
            <a:cxnLst/>
            <a:rect r="r" b="b" t="t" l="l"/>
            <a:pathLst>
              <a:path h="2088686" w="2593176">
                <a:moveTo>
                  <a:pt x="0" y="0"/>
                </a:moveTo>
                <a:lnTo>
                  <a:pt x="2593176" y="0"/>
                </a:lnTo>
                <a:lnTo>
                  <a:pt x="2593176" y="2088686"/>
                </a:lnTo>
                <a:lnTo>
                  <a:pt x="0" y="208868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00045" y="773687"/>
            <a:ext cx="9981479" cy="421819"/>
            <a:chOff x="0" y="0"/>
            <a:chExt cx="2628867" cy="111096"/>
          </a:xfrm>
        </p:grpSpPr>
        <p:sp>
          <p:nvSpPr>
            <p:cNvPr name="Freeform 3" id="3"/>
            <p:cNvSpPr/>
            <p:nvPr/>
          </p:nvSpPr>
          <p:spPr>
            <a:xfrm flipH="false" flipV="false" rot="0">
              <a:off x="0" y="0"/>
              <a:ext cx="2628867" cy="111096"/>
            </a:xfrm>
            <a:custGeom>
              <a:avLst/>
              <a:gdLst/>
              <a:ahLst/>
              <a:cxnLst/>
              <a:rect r="r" b="b" t="t" l="l"/>
              <a:pathLst>
                <a:path h="111096" w="2628867">
                  <a:moveTo>
                    <a:pt x="0" y="0"/>
                  </a:moveTo>
                  <a:lnTo>
                    <a:pt x="2628867" y="0"/>
                  </a:lnTo>
                  <a:lnTo>
                    <a:pt x="2628867" y="111096"/>
                  </a:lnTo>
                  <a:lnTo>
                    <a:pt x="0" y="111096"/>
                  </a:lnTo>
                  <a:close/>
                </a:path>
              </a:pathLst>
            </a:custGeom>
            <a:solidFill>
              <a:srgbClr val="D2C1B6"/>
            </a:solidFill>
          </p:spPr>
        </p:sp>
        <p:sp>
          <p:nvSpPr>
            <p:cNvPr name="TextBox 4" id="4"/>
            <p:cNvSpPr txBox="true"/>
            <p:nvPr/>
          </p:nvSpPr>
          <p:spPr>
            <a:xfrm>
              <a:off x="0" y="-38100"/>
              <a:ext cx="2628867" cy="149196"/>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3577096" y="5040630"/>
            <a:ext cx="2654707" cy="3073871"/>
          </a:xfrm>
          <a:custGeom>
            <a:avLst/>
            <a:gdLst/>
            <a:ahLst/>
            <a:cxnLst/>
            <a:rect r="r" b="b" t="t" l="l"/>
            <a:pathLst>
              <a:path h="3073871" w="2654707">
                <a:moveTo>
                  <a:pt x="0" y="0"/>
                </a:moveTo>
                <a:lnTo>
                  <a:pt x="2654707" y="0"/>
                </a:lnTo>
                <a:lnTo>
                  <a:pt x="2654707" y="3073871"/>
                </a:lnTo>
                <a:lnTo>
                  <a:pt x="0" y="30738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5771307" y="-1484092"/>
            <a:ext cx="3685104" cy="2968184"/>
          </a:xfrm>
          <a:custGeom>
            <a:avLst/>
            <a:gdLst/>
            <a:ahLst/>
            <a:cxnLst/>
            <a:rect r="r" b="b" t="t" l="l"/>
            <a:pathLst>
              <a:path h="2968184" w="3685104">
                <a:moveTo>
                  <a:pt x="0" y="0"/>
                </a:moveTo>
                <a:lnTo>
                  <a:pt x="3685104" y="0"/>
                </a:lnTo>
                <a:lnTo>
                  <a:pt x="3685104" y="2968184"/>
                </a:lnTo>
                <a:lnTo>
                  <a:pt x="0" y="2968184"/>
                </a:lnTo>
                <a:lnTo>
                  <a:pt x="0" y="0"/>
                </a:lnTo>
                <a:close/>
              </a:path>
            </a:pathLst>
          </a:custGeom>
          <a:blipFill>
            <a:blip r:embed="rId4">
              <a:alphaModFix amt="36000"/>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837479" y="9083135"/>
            <a:ext cx="9981479" cy="175165"/>
            <a:chOff x="0" y="0"/>
            <a:chExt cx="2628867" cy="46134"/>
          </a:xfrm>
        </p:grpSpPr>
        <p:sp>
          <p:nvSpPr>
            <p:cNvPr name="Freeform 8" id="8"/>
            <p:cNvSpPr/>
            <p:nvPr/>
          </p:nvSpPr>
          <p:spPr>
            <a:xfrm flipH="false" flipV="false" rot="0">
              <a:off x="0" y="0"/>
              <a:ext cx="2628867" cy="46134"/>
            </a:xfrm>
            <a:custGeom>
              <a:avLst/>
              <a:gdLst/>
              <a:ahLst/>
              <a:cxnLst/>
              <a:rect r="r" b="b" t="t" l="l"/>
              <a:pathLst>
                <a:path h="46134" w="2628867">
                  <a:moveTo>
                    <a:pt x="0" y="0"/>
                  </a:moveTo>
                  <a:lnTo>
                    <a:pt x="2628867" y="0"/>
                  </a:lnTo>
                  <a:lnTo>
                    <a:pt x="2628867" y="46134"/>
                  </a:lnTo>
                  <a:lnTo>
                    <a:pt x="0" y="46134"/>
                  </a:lnTo>
                  <a:close/>
                </a:path>
              </a:pathLst>
            </a:custGeom>
            <a:solidFill>
              <a:srgbClr val="456882"/>
            </a:solidFill>
          </p:spPr>
        </p:sp>
        <p:sp>
          <p:nvSpPr>
            <p:cNvPr name="TextBox 9" id="9"/>
            <p:cNvSpPr txBox="true"/>
            <p:nvPr/>
          </p:nvSpPr>
          <p:spPr>
            <a:xfrm>
              <a:off x="0" y="-38100"/>
              <a:ext cx="2628867" cy="84234"/>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0">
            <a:off x="10532391" y="5040630"/>
            <a:ext cx="4372059" cy="5246370"/>
            <a:chOff x="0" y="0"/>
            <a:chExt cx="11062970" cy="13275310"/>
          </a:xfrm>
        </p:grpSpPr>
        <p:sp>
          <p:nvSpPr>
            <p:cNvPr name="Freeform 11" id="11"/>
            <p:cNvSpPr/>
            <p:nvPr/>
          </p:nvSpPr>
          <p:spPr>
            <a:xfrm flipH="false" flipV="false" rot="0">
              <a:off x="0" y="0"/>
              <a:ext cx="11062970" cy="13275311"/>
            </a:xfrm>
            <a:custGeom>
              <a:avLst/>
              <a:gdLst/>
              <a:ahLst/>
              <a:cxnLst/>
              <a:rect r="r" b="b" t="t" l="l"/>
              <a:pathLst>
                <a:path h="13275311" w="11062970">
                  <a:moveTo>
                    <a:pt x="6649720" y="0"/>
                  </a:moveTo>
                  <a:lnTo>
                    <a:pt x="11062970" y="0"/>
                  </a:lnTo>
                  <a:lnTo>
                    <a:pt x="11062970" y="13275311"/>
                  </a:lnTo>
                  <a:lnTo>
                    <a:pt x="0" y="13275311"/>
                  </a:lnTo>
                  <a:lnTo>
                    <a:pt x="0" y="6649720"/>
                  </a:lnTo>
                  <a:cubicBezTo>
                    <a:pt x="0" y="2976880"/>
                    <a:pt x="2976880" y="0"/>
                    <a:pt x="6649720" y="0"/>
                  </a:cubicBezTo>
                  <a:close/>
                </a:path>
              </a:pathLst>
            </a:custGeom>
            <a:blipFill>
              <a:blip r:embed="rId6"/>
              <a:stretch>
                <a:fillRect l="-8849" t="0" r="-70983" b="0"/>
              </a:stretch>
            </a:blipFill>
          </p:spPr>
        </p:sp>
      </p:grpSp>
      <p:sp>
        <p:nvSpPr>
          <p:cNvPr name="TextBox 12" id="12"/>
          <p:cNvSpPr txBox="true"/>
          <p:nvPr/>
        </p:nvSpPr>
        <p:spPr>
          <a:xfrm rot="0">
            <a:off x="10876819" y="1712692"/>
            <a:ext cx="5996047" cy="2108227"/>
          </a:xfrm>
          <a:prstGeom prst="rect">
            <a:avLst/>
          </a:prstGeom>
        </p:spPr>
        <p:txBody>
          <a:bodyPr anchor="t" rtlCol="false" tIns="0" lIns="0" bIns="0" rIns="0">
            <a:spAutoFit/>
          </a:bodyPr>
          <a:lstStyle/>
          <a:p>
            <a:pPr algn="l">
              <a:lnSpc>
                <a:spcPts val="8095"/>
              </a:lnSpc>
            </a:pPr>
            <a:r>
              <a:rPr lang="en-US" sz="8704" b="true">
                <a:solidFill>
                  <a:srgbClr val="1B3C53"/>
                </a:solidFill>
                <a:latin typeface="Playfair Display Bold"/>
                <a:ea typeface="Playfair Display Bold"/>
                <a:cs typeface="Playfair Display Bold"/>
                <a:sym typeface="Playfair Display Bold"/>
              </a:rPr>
              <a:t>SUMBER</a:t>
            </a:r>
          </a:p>
          <a:p>
            <a:pPr algn="l">
              <a:lnSpc>
                <a:spcPts val="8095"/>
              </a:lnSpc>
            </a:pPr>
            <a:r>
              <a:rPr lang="en-US" sz="8704" b="true">
                <a:solidFill>
                  <a:srgbClr val="1B3C53"/>
                </a:solidFill>
                <a:latin typeface="Playfair Display Bold"/>
                <a:ea typeface="Playfair Display Bold"/>
                <a:cs typeface="Playfair Display Bold"/>
                <a:sym typeface="Playfair Display Bold"/>
              </a:rPr>
              <a:t>DATA</a:t>
            </a:r>
          </a:p>
        </p:txBody>
      </p:sp>
      <p:sp>
        <p:nvSpPr>
          <p:cNvPr name="Freeform 13" id="13"/>
          <p:cNvSpPr/>
          <p:nvPr/>
        </p:nvSpPr>
        <p:spPr>
          <a:xfrm flipH="false" flipV="false" rot="-5267873">
            <a:off x="-166542" y="-829239"/>
            <a:ext cx="2100757" cy="2824979"/>
          </a:xfrm>
          <a:custGeom>
            <a:avLst/>
            <a:gdLst/>
            <a:ahLst/>
            <a:cxnLst/>
            <a:rect r="r" b="b" t="t" l="l"/>
            <a:pathLst>
              <a:path h="2824979" w="2100757">
                <a:moveTo>
                  <a:pt x="0" y="0"/>
                </a:moveTo>
                <a:lnTo>
                  <a:pt x="2100757" y="0"/>
                </a:lnTo>
                <a:lnTo>
                  <a:pt x="2100757" y="2824980"/>
                </a:lnTo>
                <a:lnTo>
                  <a:pt x="0" y="282498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4" id="14"/>
          <p:cNvGrpSpPr/>
          <p:nvPr/>
        </p:nvGrpSpPr>
        <p:grpSpPr>
          <a:xfrm rot="0">
            <a:off x="-837479" y="3299977"/>
            <a:ext cx="10988456" cy="4363838"/>
            <a:chOff x="0" y="0"/>
            <a:chExt cx="2894079" cy="1149323"/>
          </a:xfrm>
        </p:grpSpPr>
        <p:sp>
          <p:nvSpPr>
            <p:cNvPr name="Freeform 15" id="15"/>
            <p:cNvSpPr/>
            <p:nvPr/>
          </p:nvSpPr>
          <p:spPr>
            <a:xfrm flipH="false" flipV="false" rot="0">
              <a:off x="0" y="0"/>
              <a:ext cx="2894079" cy="1149323"/>
            </a:xfrm>
            <a:custGeom>
              <a:avLst/>
              <a:gdLst/>
              <a:ahLst/>
              <a:cxnLst/>
              <a:rect r="r" b="b" t="t" l="l"/>
              <a:pathLst>
                <a:path h="1149323" w="2894079">
                  <a:moveTo>
                    <a:pt x="33114" y="0"/>
                  </a:moveTo>
                  <a:lnTo>
                    <a:pt x="2860965" y="0"/>
                  </a:lnTo>
                  <a:cubicBezTo>
                    <a:pt x="2879253" y="0"/>
                    <a:pt x="2894079" y="14826"/>
                    <a:pt x="2894079" y="33114"/>
                  </a:cubicBezTo>
                  <a:lnTo>
                    <a:pt x="2894079" y="1116210"/>
                  </a:lnTo>
                  <a:cubicBezTo>
                    <a:pt x="2894079" y="1134498"/>
                    <a:pt x="2879253" y="1149323"/>
                    <a:pt x="2860965" y="1149323"/>
                  </a:cubicBezTo>
                  <a:lnTo>
                    <a:pt x="33114" y="1149323"/>
                  </a:lnTo>
                  <a:cubicBezTo>
                    <a:pt x="14826" y="1149323"/>
                    <a:pt x="0" y="1134498"/>
                    <a:pt x="0" y="1116210"/>
                  </a:cubicBezTo>
                  <a:lnTo>
                    <a:pt x="0" y="33114"/>
                  </a:lnTo>
                  <a:cubicBezTo>
                    <a:pt x="0" y="14826"/>
                    <a:pt x="14826" y="0"/>
                    <a:pt x="33114" y="0"/>
                  </a:cubicBezTo>
                  <a:close/>
                </a:path>
              </a:pathLst>
            </a:custGeom>
            <a:solidFill>
              <a:srgbClr val="D2C1B6">
                <a:alpha val="72941"/>
              </a:srgbClr>
            </a:solidFill>
          </p:spPr>
        </p:sp>
        <p:sp>
          <p:nvSpPr>
            <p:cNvPr name="TextBox 16" id="16"/>
            <p:cNvSpPr txBox="true"/>
            <p:nvPr/>
          </p:nvSpPr>
          <p:spPr>
            <a:xfrm>
              <a:off x="0" y="-38100"/>
              <a:ext cx="2894079" cy="1187423"/>
            </a:xfrm>
            <a:prstGeom prst="rect">
              <a:avLst/>
            </a:prstGeom>
          </p:spPr>
          <p:txBody>
            <a:bodyPr anchor="ctr" rtlCol="false" tIns="50800" lIns="50800" bIns="50800" rIns="50800"/>
            <a:lstStyle/>
            <a:p>
              <a:pPr algn="ctr">
                <a:lnSpc>
                  <a:spcPts val="2659"/>
                </a:lnSpc>
                <a:spcBef>
                  <a:spcPct val="0"/>
                </a:spcBef>
              </a:pPr>
            </a:p>
          </p:txBody>
        </p:sp>
      </p:grpSp>
      <p:sp>
        <p:nvSpPr>
          <p:cNvPr name="TextBox 17" id="17"/>
          <p:cNvSpPr txBox="true"/>
          <p:nvPr/>
        </p:nvSpPr>
        <p:spPr>
          <a:xfrm rot="0">
            <a:off x="377769" y="3981152"/>
            <a:ext cx="9122277" cy="2944338"/>
          </a:xfrm>
          <a:prstGeom prst="rect">
            <a:avLst/>
          </a:prstGeom>
        </p:spPr>
        <p:txBody>
          <a:bodyPr anchor="t" rtlCol="false" tIns="0" lIns="0" bIns="0" rIns="0">
            <a:spAutoFit/>
          </a:bodyPr>
          <a:lstStyle/>
          <a:p>
            <a:pPr algn="just">
              <a:lnSpc>
                <a:spcPts val="3944"/>
              </a:lnSpc>
            </a:pPr>
            <a:r>
              <a:rPr lang="en-US" sz="2817">
                <a:solidFill>
                  <a:srgbClr val="7B4C26"/>
                </a:solidFill>
                <a:latin typeface="Libre Baskerville"/>
                <a:ea typeface="Libre Baskerville"/>
                <a:cs typeface="Libre Baskerville"/>
                <a:sym typeface="Libre Baskerville"/>
              </a:rPr>
              <a:t>Dataset ini diperoleh dari Kaggle, dengan judul "Tindak Pidana di Indonesia" yang diunggah oleh Sean Angelo Nathanael, dapat diakses melalui tautan: </a:t>
            </a:r>
            <a:r>
              <a:rPr lang="en-US" sz="2817" u="sng">
                <a:solidFill>
                  <a:srgbClr val="7B4C26"/>
                </a:solidFill>
                <a:latin typeface="Libre Baskerville"/>
                <a:ea typeface="Libre Baskerville"/>
                <a:cs typeface="Libre Baskerville"/>
                <a:sym typeface="Libre Baskerville"/>
                <a:hlinkClick r:id="rId9" tooltip="https://www.kaggle.com/datasets/seanangelonathanael/tindak-pidana-di-indonesia"/>
              </a:rPr>
              <a:t>https://www.kaggle.com/datasets/seanangelonathanael/tindak-pidana-di-indonesia</a:t>
            </a:r>
          </a:p>
        </p:txBody>
      </p:sp>
      <p:grpSp>
        <p:nvGrpSpPr>
          <p:cNvPr name="Group 18" id="18"/>
          <p:cNvGrpSpPr/>
          <p:nvPr/>
        </p:nvGrpSpPr>
        <p:grpSpPr>
          <a:xfrm rot="0">
            <a:off x="-166542" y="9429750"/>
            <a:ext cx="9981479" cy="207989"/>
            <a:chOff x="0" y="0"/>
            <a:chExt cx="2628867" cy="54779"/>
          </a:xfrm>
        </p:grpSpPr>
        <p:sp>
          <p:nvSpPr>
            <p:cNvPr name="Freeform 19" id="19"/>
            <p:cNvSpPr/>
            <p:nvPr/>
          </p:nvSpPr>
          <p:spPr>
            <a:xfrm flipH="false" flipV="false" rot="0">
              <a:off x="0" y="0"/>
              <a:ext cx="2628867" cy="54779"/>
            </a:xfrm>
            <a:custGeom>
              <a:avLst/>
              <a:gdLst/>
              <a:ahLst/>
              <a:cxnLst/>
              <a:rect r="r" b="b" t="t" l="l"/>
              <a:pathLst>
                <a:path h="54779" w="2628867">
                  <a:moveTo>
                    <a:pt x="0" y="0"/>
                  </a:moveTo>
                  <a:lnTo>
                    <a:pt x="2628867" y="0"/>
                  </a:lnTo>
                  <a:lnTo>
                    <a:pt x="2628867" y="54779"/>
                  </a:lnTo>
                  <a:lnTo>
                    <a:pt x="0" y="54779"/>
                  </a:lnTo>
                  <a:close/>
                </a:path>
              </a:pathLst>
            </a:custGeom>
            <a:solidFill>
              <a:srgbClr val="1B3C53"/>
            </a:solidFill>
          </p:spPr>
        </p:sp>
        <p:sp>
          <p:nvSpPr>
            <p:cNvPr name="TextBox 20" id="20"/>
            <p:cNvSpPr txBox="true"/>
            <p:nvPr/>
          </p:nvSpPr>
          <p:spPr>
            <a:xfrm>
              <a:off x="0" y="-38100"/>
              <a:ext cx="2628867" cy="92879"/>
            </a:xfrm>
            <a:prstGeom prst="rect">
              <a:avLst/>
            </a:prstGeom>
          </p:spPr>
          <p:txBody>
            <a:bodyPr anchor="ctr" rtlCol="false" tIns="50800" lIns="50800" bIns="50800" rIns="50800"/>
            <a:lstStyle/>
            <a:p>
              <a:pPr algn="ctr">
                <a:lnSpc>
                  <a:spcPts val="2659"/>
                </a:lnSpc>
                <a:spcBef>
                  <a:spcPct val="0"/>
                </a:spcBef>
              </a:pPr>
            </a:p>
          </p:txBody>
        </p:sp>
      </p:grpSp>
      <p:grpSp>
        <p:nvGrpSpPr>
          <p:cNvPr name="Group 21" id="21"/>
          <p:cNvGrpSpPr/>
          <p:nvPr/>
        </p:nvGrpSpPr>
        <p:grpSpPr>
          <a:xfrm rot="0">
            <a:off x="16035642" y="9258300"/>
            <a:ext cx="982727" cy="636341"/>
            <a:chOff x="0" y="0"/>
            <a:chExt cx="258825" cy="167596"/>
          </a:xfrm>
        </p:grpSpPr>
        <p:sp>
          <p:nvSpPr>
            <p:cNvPr name="Freeform 22" id="22"/>
            <p:cNvSpPr/>
            <p:nvPr/>
          </p:nvSpPr>
          <p:spPr>
            <a:xfrm flipH="false" flipV="false" rot="0">
              <a:off x="0" y="0"/>
              <a:ext cx="258825" cy="167596"/>
            </a:xfrm>
            <a:custGeom>
              <a:avLst/>
              <a:gdLst/>
              <a:ahLst/>
              <a:cxnLst/>
              <a:rect r="r" b="b" t="t" l="l"/>
              <a:pathLst>
                <a:path h="167596" w="258825">
                  <a:moveTo>
                    <a:pt x="83798" y="0"/>
                  </a:moveTo>
                  <a:lnTo>
                    <a:pt x="175027" y="0"/>
                  </a:lnTo>
                  <a:cubicBezTo>
                    <a:pt x="221308" y="0"/>
                    <a:pt x="258825" y="37518"/>
                    <a:pt x="258825" y="83798"/>
                  </a:cubicBezTo>
                  <a:lnTo>
                    <a:pt x="258825" y="83798"/>
                  </a:lnTo>
                  <a:cubicBezTo>
                    <a:pt x="258825" y="130078"/>
                    <a:pt x="221308" y="167596"/>
                    <a:pt x="175027" y="167596"/>
                  </a:cubicBezTo>
                  <a:lnTo>
                    <a:pt x="83798" y="167596"/>
                  </a:lnTo>
                  <a:cubicBezTo>
                    <a:pt x="37518" y="167596"/>
                    <a:pt x="0" y="130078"/>
                    <a:pt x="0" y="83798"/>
                  </a:cubicBezTo>
                  <a:lnTo>
                    <a:pt x="0" y="83798"/>
                  </a:lnTo>
                  <a:cubicBezTo>
                    <a:pt x="0" y="37518"/>
                    <a:pt x="37518" y="0"/>
                    <a:pt x="83798" y="0"/>
                  </a:cubicBezTo>
                  <a:close/>
                </a:path>
              </a:pathLst>
            </a:custGeom>
            <a:solidFill>
              <a:srgbClr val="D2C1B6"/>
            </a:solidFill>
            <a:ln w="38100" cap="rnd">
              <a:solidFill>
                <a:srgbClr val="FFFFFF"/>
              </a:solidFill>
              <a:prstDash val="solid"/>
              <a:round/>
            </a:ln>
          </p:spPr>
        </p:sp>
        <p:sp>
          <p:nvSpPr>
            <p:cNvPr name="TextBox 23" id="23"/>
            <p:cNvSpPr txBox="true"/>
            <p:nvPr/>
          </p:nvSpPr>
          <p:spPr>
            <a:xfrm>
              <a:off x="0" y="-38100"/>
              <a:ext cx="258825" cy="205696"/>
            </a:xfrm>
            <a:prstGeom prst="rect">
              <a:avLst/>
            </a:prstGeom>
          </p:spPr>
          <p:txBody>
            <a:bodyPr anchor="ctr" rtlCol="false" tIns="50800" lIns="50800" bIns="50800" rIns="50800"/>
            <a:lstStyle/>
            <a:p>
              <a:pPr algn="ctr">
                <a:lnSpc>
                  <a:spcPts val="2659"/>
                </a:lnSpc>
                <a:spcBef>
                  <a:spcPct val="0"/>
                </a:spcBef>
              </a:pPr>
            </a:p>
          </p:txBody>
        </p:sp>
      </p:grpSp>
      <p:sp>
        <p:nvSpPr>
          <p:cNvPr name="TextBox 24" id="24"/>
          <p:cNvSpPr txBox="true"/>
          <p:nvPr/>
        </p:nvSpPr>
        <p:spPr>
          <a:xfrm rot="0">
            <a:off x="16181145" y="9248775"/>
            <a:ext cx="691721" cy="484444"/>
          </a:xfrm>
          <a:prstGeom prst="rect">
            <a:avLst/>
          </a:prstGeom>
        </p:spPr>
        <p:txBody>
          <a:bodyPr anchor="t" rtlCol="false" tIns="0" lIns="0" bIns="0" rIns="0">
            <a:spAutoFit/>
          </a:bodyPr>
          <a:lstStyle/>
          <a:p>
            <a:pPr algn="ctr">
              <a:lnSpc>
                <a:spcPts val="4028"/>
              </a:lnSpc>
            </a:pPr>
            <a:r>
              <a:rPr lang="en-US" sz="2877" b="true">
                <a:solidFill>
                  <a:srgbClr val="1B3C53"/>
                </a:solidFill>
                <a:latin typeface="Playfair Display Bold"/>
                <a:ea typeface="Playfair Display Bold"/>
                <a:cs typeface="Playfair Display Bold"/>
                <a:sym typeface="Playfair Display Bold"/>
              </a:rPr>
              <a:t>03</a:t>
            </a:r>
          </a:p>
        </p:txBody>
      </p:sp>
      <p:grpSp>
        <p:nvGrpSpPr>
          <p:cNvPr name="Group 25" id="25"/>
          <p:cNvGrpSpPr/>
          <p:nvPr/>
        </p:nvGrpSpPr>
        <p:grpSpPr>
          <a:xfrm rot="0">
            <a:off x="17067659" y="9415048"/>
            <a:ext cx="2388751" cy="318171"/>
            <a:chOff x="0" y="0"/>
            <a:chExt cx="629136" cy="83798"/>
          </a:xfrm>
        </p:grpSpPr>
        <p:sp>
          <p:nvSpPr>
            <p:cNvPr name="Freeform 26" id="26"/>
            <p:cNvSpPr/>
            <p:nvPr/>
          </p:nvSpPr>
          <p:spPr>
            <a:xfrm flipH="false" flipV="false" rot="0">
              <a:off x="0" y="0"/>
              <a:ext cx="629136" cy="83798"/>
            </a:xfrm>
            <a:custGeom>
              <a:avLst/>
              <a:gdLst/>
              <a:ahLst/>
              <a:cxnLst/>
              <a:rect r="r" b="b" t="t" l="l"/>
              <a:pathLst>
                <a:path h="83798" w="629136">
                  <a:moveTo>
                    <a:pt x="41899" y="0"/>
                  </a:moveTo>
                  <a:lnTo>
                    <a:pt x="587237" y="0"/>
                  </a:lnTo>
                  <a:cubicBezTo>
                    <a:pt x="598349" y="0"/>
                    <a:pt x="609007" y="4414"/>
                    <a:pt x="616864" y="12272"/>
                  </a:cubicBezTo>
                  <a:cubicBezTo>
                    <a:pt x="624722" y="20130"/>
                    <a:pt x="629136" y="30787"/>
                    <a:pt x="629136" y="41899"/>
                  </a:cubicBezTo>
                  <a:lnTo>
                    <a:pt x="629136" y="41899"/>
                  </a:lnTo>
                  <a:cubicBezTo>
                    <a:pt x="629136" y="53011"/>
                    <a:pt x="624722" y="63668"/>
                    <a:pt x="616864" y="71526"/>
                  </a:cubicBezTo>
                  <a:cubicBezTo>
                    <a:pt x="609007" y="79384"/>
                    <a:pt x="598349" y="83798"/>
                    <a:pt x="587237" y="83798"/>
                  </a:cubicBezTo>
                  <a:lnTo>
                    <a:pt x="41899" y="83798"/>
                  </a:lnTo>
                  <a:cubicBezTo>
                    <a:pt x="30787" y="83798"/>
                    <a:pt x="20130" y="79384"/>
                    <a:pt x="12272" y="71526"/>
                  </a:cubicBezTo>
                  <a:cubicBezTo>
                    <a:pt x="4414" y="63668"/>
                    <a:pt x="0" y="53011"/>
                    <a:pt x="0" y="41899"/>
                  </a:cubicBezTo>
                  <a:lnTo>
                    <a:pt x="0" y="41899"/>
                  </a:lnTo>
                  <a:cubicBezTo>
                    <a:pt x="0" y="30787"/>
                    <a:pt x="4414" y="20130"/>
                    <a:pt x="12272" y="12272"/>
                  </a:cubicBezTo>
                  <a:cubicBezTo>
                    <a:pt x="20130" y="4414"/>
                    <a:pt x="30787" y="0"/>
                    <a:pt x="41899" y="0"/>
                  </a:cubicBezTo>
                  <a:close/>
                </a:path>
              </a:pathLst>
            </a:custGeom>
            <a:solidFill>
              <a:srgbClr val="D2C1B6"/>
            </a:solidFill>
            <a:ln w="38100" cap="rnd">
              <a:solidFill>
                <a:srgbClr val="FFFFFF"/>
              </a:solidFill>
              <a:prstDash val="solid"/>
              <a:round/>
            </a:ln>
          </p:spPr>
        </p:sp>
        <p:sp>
          <p:nvSpPr>
            <p:cNvPr name="TextBox 27" id="27"/>
            <p:cNvSpPr txBox="true"/>
            <p:nvPr/>
          </p:nvSpPr>
          <p:spPr>
            <a:xfrm>
              <a:off x="0" y="-38100"/>
              <a:ext cx="629136" cy="121898"/>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34753" y="-403557"/>
            <a:ext cx="20829275" cy="986808"/>
            <a:chOff x="0" y="0"/>
            <a:chExt cx="5485900" cy="259900"/>
          </a:xfrm>
        </p:grpSpPr>
        <p:sp>
          <p:nvSpPr>
            <p:cNvPr name="Freeform 3" id="3"/>
            <p:cNvSpPr/>
            <p:nvPr/>
          </p:nvSpPr>
          <p:spPr>
            <a:xfrm flipH="false" flipV="false" rot="0">
              <a:off x="0" y="0"/>
              <a:ext cx="5485900" cy="259900"/>
            </a:xfrm>
            <a:custGeom>
              <a:avLst/>
              <a:gdLst/>
              <a:ahLst/>
              <a:cxnLst/>
              <a:rect r="r" b="b" t="t" l="l"/>
              <a:pathLst>
                <a:path h="259900" w="5485900">
                  <a:moveTo>
                    <a:pt x="0" y="0"/>
                  </a:moveTo>
                  <a:lnTo>
                    <a:pt x="5485900" y="0"/>
                  </a:lnTo>
                  <a:lnTo>
                    <a:pt x="5485900" y="259900"/>
                  </a:lnTo>
                  <a:lnTo>
                    <a:pt x="0" y="259900"/>
                  </a:lnTo>
                  <a:close/>
                </a:path>
              </a:pathLst>
            </a:custGeom>
            <a:solidFill>
              <a:srgbClr val="1B3C53"/>
            </a:solidFill>
          </p:spPr>
        </p:sp>
        <p:sp>
          <p:nvSpPr>
            <p:cNvPr name="TextBox 4" id="4"/>
            <p:cNvSpPr txBox="true"/>
            <p:nvPr/>
          </p:nvSpPr>
          <p:spPr>
            <a:xfrm>
              <a:off x="0" y="-38100"/>
              <a:ext cx="5485900" cy="29800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438057" y="-900841"/>
            <a:ext cx="3685104" cy="2968184"/>
          </a:xfrm>
          <a:custGeom>
            <a:avLst/>
            <a:gdLst/>
            <a:ahLst/>
            <a:cxnLst/>
            <a:rect r="r" b="b" t="t" l="l"/>
            <a:pathLst>
              <a:path h="2968184" w="3685104">
                <a:moveTo>
                  <a:pt x="0" y="0"/>
                </a:moveTo>
                <a:lnTo>
                  <a:pt x="3685104" y="0"/>
                </a:lnTo>
                <a:lnTo>
                  <a:pt x="3685104" y="2968184"/>
                </a:lnTo>
                <a:lnTo>
                  <a:pt x="0" y="2968184"/>
                </a:lnTo>
                <a:lnTo>
                  <a:pt x="0" y="0"/>
                </a:lnTo>
                <a:close/>
              </a:path>
            </a:pathLst>
          </a:custGeom>
          <a:blipFill>
            <a:blip r:embed="rId2">
              <a:alphaModFix amt="36000"/>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837479" y="9083135"/>
            <a:ext cx="9981479" cy="175165"/>
            <a:chOff x="0" y="0"/>
            <a:chExt cx="2628867" cy="46134"/>
          </a:xfrm>
        </p:grpSpPr>
        <p:sp>
          <p:nvSpPr>
            <p:cNvPr name="Freeform 7" id="7"/>
            <p:cNvSpPr/>
            <p:nvPr/>
          </p:nvSpPr>
          <p:spPr>
            <a:xfrm flipH="false" flipV="false" rot="0">
              <a:off x="0" y="0"/>
              <a:ext cx="2628867" cy="46134"/>
            </a:xfrm>
            <a:custGeom>
              <a:avLst/>
              <a:gdLst/>
              <a:ahLst/>
              <a:cxnLst/>
              <a:rect r="r" b="b" t="t" l="l"/>
              <a:pathLst>
                <a:path h="46134" w="2628867">
                  <a:moveTo>
                    <a:pt x="0" y="0"/>
                  </a:moveTo>
                  <a:lnTo>
                    <a:pt x="2628867" y="0"/>
                  </a:lnTo>
                  <a:lnTo>
                    <a:pt x="2628867" y="46134"/>
                  </a:lnTo>
                  <a:lnTo>
                    <a:pt x="0" y="46134"/>
                  </a:lnTo>
                  <a:close/>
                </a:path>
              </a:pathLst>
            </a:custGeom>
            <a:solidFill>
              <a:srgbClr val="D2C1B6"/>
            </a:solidFill>
          </p:spPr>
        </p:sp>
        <p:sp>
          <p:nvSpPr>
            <p:cNvPr name="TextBox 8" id="8"/>
            <p:cNvSpPr txBox="true"/>
            <p:nvPr/>
          </p:nvSpPr>
          <p:spPr>
            <a:xfrm>
              <a:off x="0" y="-38100"/>
              <a:ext cx="2628867" cy="84234"/>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2540829" y="1321876"/>
            <a:ext cx="13603583" cy="1089052"/>
          </a:xfrm>
          <a:prstGeom prst="rect">
            <a:avLst/>
          </a:prstGeom>
        </p:spPr>
        <p:txBody>
          <a:bodyPr anchor="t" rtlCol="false" tIns="0" lIns="0" bIns="0" rIns="0">
            <a:spAutoFit/>
          </a:bodyPr>
          <a:lstStyle/>
          <a:p>
            <a:pPr algn="ctr">
              <a:lnSpc>
                <a:spcPts val="8095"/>
              </a:lnSpc>
            </a:pPr>
            <a:r>
              <a:rPr lang="en-US" b="true" sz="8704">
                <a:solidFill>
                  <a:srgbClr val="1B3C53"/>
                </a:solidFill>
                <a:latin typeface="Playfair Display Bold"/>
                <a:ea typeface="Playfair Display Bold"/>
                <a:cs typeface="Playfair Display Bold"/>
                <a:sym typeface="Playfair Display Bold"/>
              </a:rPr>
              <a:t>STRUKTUR DATASET</a:t>
            </a:r>
          </a:p>
        </p:txBody>
      </p:sp>
      <p:sp>
        <p:nvSpPr>
          <p:cNvPr name="Freeform 10" id="10"/>
          <p:cNvSpPr/>
          <p:nvPr/>
        </p:nvSpPr>
        <p:spPr>
          <a:xfrm flipH="false" flipV="false" rot="-5400000">
            <a:off x="16370891" y="-740889"/>
            <a:ext cx="2631861" cy="3539177"/>
          </a:xfrm>
          <a:custGeom>
            <a:avLst/>
            <a:gdLst/>
            <a:ahLst/>
            <a:cxnLst/>
            <a:rect r="r" b="b" t="t" l="l"/>
            <a:pathLst>
              <a:path h="3539177" w="2631861">
                <a:moveTo>
                  <a:pt x="0" y="0"/>
                </a:moveTo>
                <a:lnTo>
                  <a:pt x="2631861" y="0"/>
                </a:lnTo>
                <a:lnTo>
                  <a:pt x="2631861" y="3539178"/>
                </a:lnTo>
                <a:lnTo>
                  <a:pt x="0" y="35391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1" id="11"/>
          <p:cNvGrpSpPr/>
          <p:nvPr/>
        </p:nvGrpSpPr>
        <p:grpSpPr>
          <a:xfrm rot="0">
            <a:off x="1731955" y="2920954"/>
            <a:ext cx="3825630" cy="741042"/>
            <a:chOff x="0" y="0"/>
            <a:chExt cx="1007573" cy="195171"/>
          </a:xfrm>
        </p:grpSpPr>
        <p:sp>
          <p:nvSpPr>
            <p:cNvPr name="Freeform 12" id="12"/>
            <p:cNvSpPr/>
            <p:nvPr/>
          </p:nvSpPr>
          <p:spPr>
            <a:xfrm flipH="false" flipV="false" rot="0">
              <a:off x="0" y="0"/>
              <a:ext cx="1007573" cy="195171"/>
            </a:xfrm>
            <a:custGeom>
              <a:avLst/>
              <a:gdLst/>
              <a:ahLst/>
              <a:cxnLst/>
              <a:rect r="r" b="b" t="t" l="l"/>
              <a:pathLst>
                <a:path h="195171" w="1007573">
                  <a:moveTo>
                    <a:pt x="95114" y="0"/>
                  </a:moveTo>
                  <a:lnTo>
                    <a:pt x="912460" y="0"/>
                  </a:lnTo>
                  <a:cubicBezTo>
                    <a:pt x="937685" y="0"/>
                    <a:pt x="961878" y="10021"/>
                    <a:pt x="979715" y="27858"/>
                  </a:cubicBezTo>
                  <a:cubicBezTo>
                    <a:pt x="997552" y="45695"/>
                    <a:pt x="1007573" y="69888"/>
                    <a:pt x="1007573" y="95114"/>
                  </a:cubicBezTo>
                  <a:lnTo>
                    <a:pt x="1007573" y="100058"/>
                  </a:lnTo>
                  <a:cubicBezTo>
                    <a:pt x="1007573" y="125283"/>
                    <a:pt x="997552" y="149476"/>
                    <a:pt x="979715" y="167313"/>
                  </a:cubicBezTo>
                  <a:cubicBezTo>
                    <a:pt x="961878" y="185151"/>
                    <a:pt x="937685" y="195171"/>
                    <a:pt x="912460" y="195171"/>
                  </a:cubicBezTo>
                  <a:lnTo>
                    <a:pt x="95114" y="195171"/>
                  </a:lnTo>
                  <a:cubicBezTo>
                    <a:pt x="69888" y="195171"/>
                    <a:pt x="45695" y="185151"/>
                    <a:pt x="27858" y="167313"/>
                  </a:cubicBezTo>
                  <a:cubicBezTo>
                    <a:pt x="10021" y="149476"/>
                    <a:pt x="0" y="125283"/>
                    <a:pt x="0" y="100058"/>
                  </a:cubicBezTo>
                  <a:lnTo>
                    <a:pt x="0" y="95114"/>
                  </a:lnTo>
                  <a:cubicBezTo>
                    <a:pt x="0" y="69888"/>
                    <a:pt x="10021" y="45695"/>
                    <a:pt x="27858" y="27858"/>
                  </a:cubicBezTo>
                  <a:cubicBezTo>
                    <a:pt x="45695" y="10021"/>
                    <a:pt x="69888" y="0"/>
                    <a:pt x="95114" y="0"/>
                  </a:cubicBezTo>
                  <a:close/>
                </a:path>
              </a:pathLst>
            </a:custGeom>
            <a:solidFill>
              <a:srgbClr val="D2C1B6"/>
            </a:solidFill>
          </p:spPr>
        </p:sp>
        <p:sp>
          <p:nvSpPr>
            <p:cNvPr name="TextBox 13" id="13"/>
            <p:cNvSpPr txBox="true"/>
            <p:nvPr/>
          </p:nvSpPr>
          <p:spPr>
            <a:xfrm>
              <a:off x="0" y="-38100"/>
              <a:ext cx="1007573" cy="233271"/>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0">
            <a:off x="-166542" y="9429750"/>
            <a:ext cx="9981479" cy="207989"/>
            <a:chOff x="0" y="0"/>
            <a:chExt cx="2628867" cy="54779"/>
          </a:xfrm>
        </p:grpSpPr>
        <p:sp>
          <p:nvSpPr>
            <p:cNvPr name="Freeform 15" id="15"/>
            <p:cNvSpPr/>
            <p:nvPr/>
          </p:nvSpPr>
          <p:spPr>
            <a:xfrm flipH="false" flipV="false" rot="0">
              <a:off x="0" y="0"/>
              <a:ext cx="2628867" cy="54779"/>
            </a:xfrm>
            <a:custGeom>
              <a:avLst/>
              <a:gdLst/>
              <a:ahLst/>
              <a:cxnLst/>
              <a:rect r="r" b="b" t="t" l="l"/>
              <a:pathLst>
                <a:path h="54779" w="2628867">
                  <a:moveTo>
                    <a:pt x="0" y="0"/>
                  </a:moveTo>
                  <a:lnTo>
                    <a:pt x="2628867" y="0"/>
                  </a:lnTo>
                  <a:lnTo>
                    <a:pt x="2628867" y="54779"/>
                  </a:lnTo>
                  <a:lnTo>
                    <a:pt x="0" y="54779"/>
                  </a:lnTo>
                  <a:close/>
                </a:path>
              </a:pathLst>
            </a:custGeom>
            <a:solidFill>
              <a:srgbClr val="456882"/>
            </a:solidFill>
          </p:spPr>
        </p:sp>
        <p:sp>
          <p:nvSpPr>
            <p:cNvPr name="TextBox 16" id="16"/>
            <p:cNvSpPr txBox="true"/>
            <p:nvPr/>
          </p:nvSpPr>
          <p:spPr>
            <a:xfrm>
              <a:off x="0" y="-38100"/>
              <a:ext cx="2628867" cy="92879"/>
            </a:xfrm>
            <a:prstGeom prst="rect">
              <a:avLst/>
            </a:prstGeom>
          </p:spPr>
          <p:txBody>
            <a:bodyPr anchor="ctr" rtlCol="false" tIns="50800" lIns="50800" bIns="50800" rIns="50800"/>
            <a:lstStyle/>
            <a:p>
              <a:pPr algn="ctr">
                <a:lnSpc>
                  <a:spcPts val="2659"/>
                </a:lnSpc>
                <a:spcBef>
                  <a:spcPct val="0"/>
                </a:spcBef>
              </a:pPr>
            </a:p>
          </p:txBody>
        </p:sp>
      </p:grpSp>
      <p:sp>
        <p:nvSpPr>
          <p:cNvPr name="TextBox 17" id="17"/>
          <p:cNvSpPr txBox="true"/>
          <p:nvPr/>
        </p:nvSpPr>
        <p:spPr>
          <a:xfrm rot="0">
            <a:off x="1804136" y="3005878"/>
            <a:ext cx="3681269" cy="514043"/>
          </a:xfrm>
          <a:prstGeom prst="rect">
            <a:avLst/>
          </a:prstGeom>
        </p:spPr>
        <p:txBody>
          <a:bodyPr anchor="t" rtlCol="false" tIns="0" lIns="0" bIns="0" rIns="0">
            <a:spAutoFit/>
          </a:bodyPr>
          <a:lstStyle/>
          <a:p>
            <a:pPr algn="ctr">
              <a:lnSpc>
                <a:spcPts val="4216"/>
              </a:lnSpc>
            </a:pPr>
            <a:r>
              <a:rPr lang="en-US" b="true" sz="3012">
                <a:solidFill>
                  <a:srgbClr val="7B4C26"/>
                </a:solidFill>
                <a:latin typeface="Libre Baskerville Bold"/>
                <a:ea typeface="Libre Baskerville Bold"/>
                <a:cs typeface="Libre Baskerville Bold"/>
                <a:sym typeface="Libre Baskerville Bold"/>
              </a:rPr>
              <a:t>Kolom</a:t>
            </a:r>
          </a:p>
        </p:txBody>
      </p:sp>
      <p:sp>
        <p:nvSpPr>
          <p:cNvPr name="TextBox 18" id="18"/>
          <p:cNvSpPr txBox="true"/>
          <p:nvPr/>
        </p:nvSpPr>
        <p:spPr>
          <a:xfrm rot="0">
            <a:off x="1951033" y="4138245"/>
            <a:ext cx="3809755" cy="3834458"/>
          </a:xfrm>
          <a:prstGeom prst="rect">
            <a:avLst/>
          </a:prstGeom>
        </p:spPr>
        <p:txBody>
          <a:bodyPr anchor="t" rtlCol="false" tIns="0" lIns="0" bIns="0" rIns="0">
            <a:spAutoFit/>
          </a:bodyPr>
          <a:lstStyle/>
          <a:p>
            <a:pPr algn="l" marL="520772" indent="-260386" lvl="1">
              <a:lnSpc>
                <a:spcPts val="3376"/>
              </a:lnSpc>
              <a:buFont typeface="Arial"/>
              <a:buChar char="•"/>
            </a:pPr>
            <a:r>
              <a:rPr lang="en-US" sz="2412">
                <a:solidFill>
                  <a:srgbClr val="7B4C26"/>
                </a:solidFill>
                <a:latin typeface="Libre Baskerville"/>
                <a:ea typeface="Libre Baskerville"/>
                <a:cs typeface="Libre Baskerville"/>
                <a:sym typeface="Libre Baskerville"/>
              </a:rPr>
              <a:t>Kepolisiab Daerah</a:t>
            </a:r>
          </a:p>
          <a:p>
            <a:pPr algn="l" marL="520772" indent="-260386" lvl="1">
              <a:lnSpc>
                <a:spcPts val="3376"/>
              </a:lnSpc>
              <a:buFont typeface="Arial"/>
              <a:buChar char="•"/>
            </a:pPr>
            <a:r>
              <a:rPr lang="en-US" sz="2412">
                <a:solidFill>
                  <a:srgbClr val="7B4C26"/>
                </a:solidFill>
                <a:latin typeface="Libre Baskerville"/>
                <a:ea typeface="Libre Baskerville"/>
                <a:cs typeface="Libre Baskerville"/>
                <a:sym typeface="Libre Baskerville"/>
              </a:rPr>
              <a:t>Jumlah Tindak Pidana 2021</a:t>
            </a:r>
          </a:p>
          <a:p>
            <a:pPr algn="l" marL="520772" indent="-260386" lvl="1">
              <a:lnSpc>
                <a:spcPts val="3376"/>
              </a:lnSpc>
              <a:buFont typeface="Arial"/>
              <a:buChar char="•"/>
            </a:pPr>
            <a:r>
              <a:rPr lang="en-US" sz="2412">
                <a:solidFill>
                  <a:srgbClr val="7B4C26"/>
                </a:solidFill>
                <a:latin typeface="Libre Baskerville"/>
                <a:ea typeface="Libre Baskerville"/>
                <a:cs typeface="Libre Baskerville"/>
                <a:sym typeface="Libre Baskerville"/>
              </a:rPr>
              <a:t>Jumlah Tindak Pidana 2022</a:t>
            </a:r>
          </a:p>
          <a:p>
            <a:pPr algn="l" marL="520772" indent="-260386" lvl="1">
              <a:lnSpc>
                <a:spcPts val="3376"/>
              </a:lnSpc>
              <a:buFont typeface="Arial"/>
              <a:buChar char="•"/>
            </a:pPr>
            <a:r>
              <a:rPr lang="en-US" sz="2412">
                <a:solidFill>
                  <a:srgbClr val="7B4C26"/>
                </a:solidFill>
                <a:latin typeface="Libre Baskerville"/>
                <a:ea typeface="Libre Baskerville"/>
                <a:cs typeface="Libre Baskerville"/>
                <a:sym typeface="Libre Baskerville"/>
              </a:rPr>
              <a:t>Penyelesaian Tindak Pidana 2021 (%)</a:t>
            </a:r>
          </a:p>
          <a:p>
            <a:pPr algn="l" marL="520772" indent="-260386" lvl="1">
              <a:lnSpc>
                <a:spcPts val="3376"/>
              </a:lnSpc>
              <a:buFont typeface="Arial"/>
              <a:buChar char="•"/>
            </a:pPr>
            <a:r>
              <a:rPr lang="en-US" sz="2412">
                <a:solidFill>
                  <a:srgbClr val="7B4C26"/>
                </a:solidFill>
                <a:latin typeface="Libre Baskerville"/>
                <a:ea typeface="Libre Baskerville"/>
                <a:cs typeface="Libre Baskerville"/>
                <a:sym typeface="Libre Baskerville"/>
              </a:rPr>
              <a:t>Penyelesaian Tindak Pidana 2022 (%)</a:t>
            </a:r>
          </a:p>
        </p:txBody>
      </p:sp>
      <p:grpSp>
        <p:nvGrpSpPr>
          <p:cNvPr name="Group 19" id="19"/>
          <p:cNvGrpSpPr/>
          <p:nvPr/>
        </p:nvGrpSpPr>
        <p:grpSpPr>
          <a:xfrm rot="0">
            <a:off x="6211140" y="2920954"/>
            <a:ext cx="3825630" cy="741042"/>
            <a:chOff x="0" y="0"/>
            <a:chExt cx="1007573" cy="195171"/>
          </a:xfrm>
        </p:grpSpPr>
        <p:sp>
          <p:nvSpPr>
            <p:cNvPr name="Freeform 20" id="20"/>
            <p:cNvSpPr/>
            <p:nvPr/>
          </p:nvSpPr>
          <p:spPr>
            <a:xfrm flipH="false" flipV="false" rot="0">
              <a:off x="0" y="0"/>
              <a:ext cx="1007573" cy="195171"/>
            </a:xfrm>
            <a:custGeom>
              <a:avLst/>
              <a:gdLst/>
              <a:ahLst/>
              <a:cxnLst/>
              <a:rect r="r" b="b" t="t" l="l"/>
              <a:pathLst>
                <a:path h="195171" w="1007573">
                  <a:moveTo>
                    <a:pt x="95114" y="0"/>
                  </a:moveTo>
                  <a:lnTo>
                    <a:pt x="912460" y="0"/>
                  </a:lnTo>
                  <a:cubicBezTo>
                    <a:pt x="937685" y="0"/>
                    <a:pt x="961878" y="10021"/>
                    <a:pt x="979715" y="27858"/>
                  </a:cubicBezTo>
                  <a:cubicBezTo>
                    <a:pt x="997552" y="45695"/>
                    <a:pt x="1007573" y="69888"/>
                    <a:pt x="1007573" y="95114"/>
                  </a:cubicBezTo>
                  <a:lnTo>
                    <a:pt x="1007573" y="100058"/>
                  </a:lnTo>
                  <a:cubicBezTo>
                    <a:pt x="1007573" y="125283"/>
                    <a:pt x="997552" y="149476"/>
                    <a:pt x="979715" y="167313"/>
                  </a:cubicBezTo>
                  <a:cubicBezTo>
                    <a:pt x="961878" y="185151"/>
                    <a:pt x="937685" y="195171"/>
                    <a:pt x="912460" y="195171"/>
                  </a:cubicBezTo>
                  <a:lnTo>
                    <a:pt x="95114" y="195171"/>
                  </a:lnTo>
                  <a:cubicBezTo>
                    <a:pt x="69888" y="195171"/>
                    <a:pt x="45695" y="185151"/>
                    <a:pt x="27858" y="167313"/>
                  </a:cubicBezTo>
                  <a:cubicBezTo>
                    <a:pt x="10021" y="149476"/>
                    <a:pt x="0" y="125283"/>
                    <a:pt x="0" y="100058"/>
                  </a:cubicBezTo>
                  <a:lnTo>
                    <a:pt x="0" y="95114"/>
                  </a:lnTo>
                  <a:cubicBezTo>
                    <a:pt x="0" y="69888"/>
                    <a:pt x="10021" y="45695"/>
                    <a:pt x="27858" y="27858"/>
                  </a:cubicBezTo>
                  <a:cubicBezTo>
                    <a:pt x="45695" y="10021"/>
                    <a:pt x="69888" y="0"/>
                    <a:pt x="95114" y="0"/>
                  </a:cubicBezTo>
                  <a:close/>
                </a:path>
              </a:pathLst>
            </a:custGeom>
            <a:solidFill>
              <a:srgbClr val="D2C1B6"/>
            </a:solidFill>
          </p:spPr>
        </p:sp>
        <p:sp>
          <p:nvSpPr>
            <p:cNvPr name="TextBox 21" id="21"/>
            <p:cNvSpPr txBox="true"/>
            <p:nvPr/>
          </p:nvSpPr>
          <p:spPr>
            <a:xfrm>
              <a:off x="0" y="-38100"/>
              <a:ext cx="1007573" cy="233271"/>
            </a:xfrm>
            <a:prstGeom prst="rect">
              <a:avLst/>
            </a:prstGeom>
          </p:spPr>
          <p:txBody>
            <a:bodyPr anchor="ctr" rtlCol="false" tIns="50800" lIns="50800" bIns="50800" rIns="50800"/>
            <a:lstStyle/>
            <a:p>
              <a:pPr algn="ctr">
                <a:lnSpc>
                  <a:spcPts val="2659"/>
                </a:lnSpc>
                <a:spcBef>
                  <a:spcPct val="0"/>
                </a:spcBef>
              </a:pPr>
            </a:p>
          </p:txBody>
        </p:sp>
      </p:grpSp>
      <p:sp>
        <p:nvSpPr>
          <p:cNvPr name="TextBox 22" id="22"/>
          <p:cNvSpPr txBox="true"/>
          <p:nvPr/>
        </p:nvSpPr>
        <p:spPr>
          <a:xfrm rot="0">
            <a:off x="6283321" y="3005878"/>
            <a:ext cx="3681269" cy="514043"/>
          </a:xfrm>
          <a:prstGeom prst="rect">
            <a:avLst/>
          </a:prstGeom>
        </p:spPr>
        <p:txBody>
          <a:bodyPr anchor="t" rtlCol="false" tIns="0" lIns="0" bIns="0" rIns="0">
            <a:spAutoFit/>
          </a:bodyPr>
          <a:lstStyle/>
          <a:p>
            <a:pPr algn="ctr">
              <a:lnSpc>
                <a:spcPts val="4216"/>
              </a:lnSpc>
            </a:pPr>
            <a:r>
              <a:rPr lang="en-US" b="true" sz="3012">
                <a:solidFill>
                  <a:srgbClr val="7B4C26"/>
                </a:solidFill>
                <a:latin typeface="Libre Baskerville Bold"/>
                <a:ea typeface="Libre Baskerville Bold"/>
                <a:cs typeface="Libre Baskerville Bold"/>
                <a:sym typeface="Libre Baskerville Bold"/>
              </a:rPr>
              <a:t>Keterangan</a:t>
            </a:r>
          </a:p>
        </p:txBody>
      </p:sp>
      <p:sp>
        <p:nvSpPr>
          <p:cNvPr name="TextBox 23" id="23"/>
          <p:cNvSpPr txBox="true"/>
          <p:nvPr/>
        </p:nvSpPr>
        <p:spPr>
          <a:xfrm rot="0">
            <a:off x="6215904" y="4069556"/>
            <a:ext cx="3606552" cy="4263083"/>
          </a:xfrm>
          <a:prstGeom prst="rect">
            <a:avLst/>
          </a:prstGeom>
        </p:spPr>
        <p:txBody>
          <a:bodyPr anchor="t" rtlCol="false" tIns="0" lIns="0" bIns="0" rIns="0">
            <a:spAutoFit/>
          </a:bodyPr>
          <a:lstStyle/>
          <a:p>
            <a:pPr algn="l" marL="520772" indent="-260386" lvl="1">
              <a:lnSpc>
                <a:spcPts val="3376"/>
              </a:lnSpc>
              <a:buFont typeface="Arial"/>
              <a:buChar char="•"/>
            </a:pPr>
            <a:r>
              <a:rPr lang="en-US" sz="2412">
                <a:solidFill>
                  <a:srgbClr val="7B4C26"/>
                </a:solidFill>
                <a:latin typeface="Libre Baskerville"/>
                <a:ea typeface="Libre Baskerville"/>
                <a:cs typeface="Libre Baskerville"/>
                <a:sym typeface="Libre Baskerville"/>
              </a:rPr>
              <a:t>Nama Polda/Provinsi</a:t>
            </a:r>
          </a:p>
          <a:p>
            <a:pPr algn="l" marL="520772" indent="-260386" lvl="1">
              <a:lnSpc>
                <a:spcPts val="3376"/>
              </a:lnSpc>
              <a:buFont typeface="Arial"/>
              <a:buChar char="•"/>
            </a:pPr>
            <a:r>
              <a:rPr lang="en-US" sz="2412">
                <a:solidFill>
                  <a:srgbClr val="7B4C26"/>
                </a:solidFill>
                <a:latin typeface="Libre Baskerville"/>
                <a:ea typeface="Libre Baskerville"/>
                <a:cs typeface="Libre Baskerville"/>
                <a:sym typeface="Libre Baskerville"/>
              </a:rPr>
              <a:t>Total kasus tercatat tahun 2021</a:t>
            </a:r>
          </a:p>
          <a:p>
            <a:pPr algn="l" marL="520772" indent="-260386" lvl="1">
              <a:lnSpc>
                <a:spcPts val="3376"/>
              </a:lnSpc>
              <a:buFont typeface="Arial"/>
              <a:buChar char="•"/>
            </a:pPr>
            <a:r>
              <a:rPr lang="en-US" sz="2412">
                <a:solidFill>
                  <a:srgbClr val="7B4C26"/>
                </a:solidFill>
                <a:latin typeface="Libre Baskerville"/>
                <a:ea typeface="Libre Baskerville"/>
                <a:cs typeface="Libre Baskerville"/>
                <a:sym typeface="Libre Baskerville"/>
              </a:rPr>
              <a:t>Total kasus tercatat tahun 2022</a:t>
            </a:r>
          </a:p>
          <a:p>
            <a:pPr algn="l" marL="520772" indent="-260386" lvl="1">
              <a:lnSpc>
                <a:spcPts val="3376"/>
              </a:lnSpc>
              <a:buFont typeface="Arial"/>
              <a:buChar char="•"/>
            </a:pPr>
            <a:r>
              <a:rPr lang="en-US" sz="2412">
                <a:solidFill>
                  <a:srgbClr val="7B4C26"/>
                </a:solidFill>
                <a:latin typeface="Libre Baskerville"/>
                <a:ea typeface="Libre Baskerville"/>
                <a:cs typeface="Libre Baskerville"/>
                <a:sym typeface="Libre Baskerville"/>
              </a:rPr>
              <a:t>Presentase kasus terselesaikan 2021</a:t>
            </a:r>
          </a:p>
          <a:p>
            <a:pPr algn="l" marL="520772" indent="-260386" lvl="1">
              <a:lnSpc>
                <a:spcPts val="3376"/>
              </a:lnSpc>
              <a:buFont typeface="Arial"/>
              <a:buChar char="•"/>
            </a:pPr>
            <a:r>
              <a:rPr lang="en-US" sz="2412">
                <a:solidFill>
                  <a:srgbClr val="7B4C26"/>
                </a:solidFill>
                <a:latin typeface="Libre Baskerville"/>
                <a:ea typeface="Libre Baskerville"/>
                <a:cs typeface="Libre Baskerville"/>
                <a:sym typeface="Libre Baskerville"/>
              </a:rPr>
              <a:t>Presentase kasus terselesaikan 2022</a:t>
            </a:r>
          </a:p>
        </p:txBody>
      </p:sp>
      <p:grpSp>
        <p:nvGrpSpPr>
          <p:cNvPr name="Group 24" id="24"/>
          <p:cNvGrpSpPr/>
          <p:nvPr/>
        </p:nvGrpSpPr>
        <p:grpSpPr>
          <a:xfrm rot="0">
            <a:off x="11839447" y="2987629"/>
            <a:ext cx="4868533" cy="5164950"/>
            <a:chOff x="0" y="0"/>
            <a:chExt cx="1282248" cy="1360316"/>
          </a:xfrm>
        </p:grpSpPr>
        <p:sp>
          <p:nvSpPr>
            <p:cNvPr name="Freeform 25" id="25"/>
            <p:cNvSpPr/>
            <p:nvPr/>
          </p:nvSpPr>
          <p:spPr>
            <a:xfrm flipH="false" flipV="false" rot="0">
              <a:off x="0" y="0"/>
              <a:ext cx="1282248" cy="1360316"/>
            </a:xfrm>
            <a:custGeom>
              <a:avLst/>
              <a:gdLst/>
              <a:ahLst/>
              <a:cxnLst/>
              <a:rect r="r" b="b" t="t" l="l"/>
              <a:pathLst>
                <a:path h="1360316" w="1282248">
                  <a:moveTo>
                    <a:pt x="74739" y="0"/>
                  </a:moveTo>
                  <a:lnTo>
                    <a:pt x="1207508" y="0"/>
                  </a:lnTo>
                  <a:cubicBezTo>
                    <a:pt x="1248786" y="0"/>
                    <a:pt x="1282248" y="33462"/>
                    <a:pt x="1282248" y="74739"/>
                  </a:cubicBezTo>
                  <a:lnTo>
                    <a:pt x="1282248" y="1285577"/>
                  </a:lnTo>
                  <a:cubicBezTo>
                    <a:pt x="1282248" y="1326854"/>
                    <a:pt x="1248786" y="1360316"/>
                    <a:pt x="1207508" y="1360316"/>
                  </a:cubicBezTo>
                  <a:lnTo>
                    <a:pt x="74739" y="1360316"/>
                  </a:lnTo>
                  <a:cubicBezTo>
                    <a:pt x="33462" y="1360316"/>
                    <a:pt x="0" y="1326854"/>
                    <a:pt x="0" y="1285577"/>
                  </a:cubicBezTo>
                  <a:lnTo>
                    <a:pt x="0" y="74739"/>
                  </a:lnTo>
                  <a:cubicBezTo>
                    <a:pt x="0" y="33462"/>
                    <a:pt x="33462" y="0"/>
                    <a:pt x="74739" y="0"/>
                  </a:cubicBezTo>
                  <a:close/>
                </a:path>
              </a:pathLst>
            </a:custGeom>
            <a:solidFill>
              <a:srgbClr val="D2C1B6"/>
            </a:solidFill>
          </p:spPr>
        </p:sp>
        <p:sp>
          <p:nvSpPr>
            <p:cNvPr name="TextBox 26" id="26"/>
            <p:cNvSpPr txBox="true"/>
            <p:nvPr/>
          </p:nvSpPr>
          <p:spPr>
            <a:xfrm>
              <a:off x="0" y="-38100"/>
              <a:ext cx="1282248" cy="1398416"/>
            </a:xfrm>
            <a:prstGeom prst="rect">
              <a:avLst/>
            </a:prstGeom>
          </p:spPr>
          <p:txBody>
            <a:bodyPr anchor="ctr" rtlCol="false" tIns="50800" lIns="50800" bIns="50800" rIns="50800"/>
            <a:lstStyle/>
            <a:p>
              <a:pPr algn="ctr">
                <a:lnSpc>
                  <a:spcPts val="2659"/>
                </a:lnSpc>
                <a:spcBef>
                  <a:spcPct val="0"/>
                </a:spcBef>
              </a:pPr>
            </a:p>
          </p:txBody>
        </p:sp>
      </p:grpSp>
      <p:sp>
        <p:nvSpPr>
          <p:cNvPr name="TextBox 27" id="27"/>
          <p:cNvSpPr txBox="true"/>
          <p:nvPr/>
        </p:nvSpPr>
        <p:spPr>
          <a:xfrm rot="0">
            <a:off x="12303982" y="4138245"/>
            <a:ext cx="4737329" cy="2977208"/>
          </a:xfrm>
          <a:prstGeom prst="rect">
            <a:avLst/>
          </a:prstGeom>
        </p:spPr>
        <p:txBody>
          <a:bodyPr anchor="t" rtlCol="false" tIns="0" lIns="0" bIns="0" rIns="0">
            <a:spAutoFit/>
          </a:bodyPr>
          <a:lstStyle/>
          <a:p>
            <a:pPr algn="l" marL="520772" indent="-260386" lvl="1">
              <a:lnSpc>
                <a:spcPts val="3376"/>
              </a:lnSpc>
              <a:buFont typeface="Arial"/>
              <a:buChar char="•"/>
            </a:pPr>
            <a:r>
              <a:rPr lang="en-US" sz="2412">
                <a:solidFill>
                  <a:srgbClr val="7B4C26"/>
                </a:solidFill>
                <a:latin typeface="Libre Baskerville"/>
                <a:ea typeface="Libre Baskerville"/>
                <a:cs typeface="Libre Baskerville"/>
                <a:sym typeface="Libre Baskerville"/>
              </a:rPr>
              <a:t>Jumlah baris: 35 (34 wilayah Polda + 1 baris rekap nasional “Indonesia”)</a:t>
            </a:r>
          </a:p>
          <a:p>
            <a:pPr algn="l" marL="520772" indent="-260386" lvl="1">
              <a:lnSpc>
                <a:spcPts val="3376"/>
              </a:lnSpc>
              <a:buFont typeface="Arial"/>
              <a:buChar char="•"/>
            </a:pPr>
            <a:r>
              <a:rPr lang="en-US" sz="2412">
                <a:solidFill>
                  <a:srgbClr val="7B4C26"/>
                </a:solidFill>
                <a:latin typeface="Libre Baskerville"/>
                <a:ea typeface="Libre Baskerville"/>
                <a:cs typeface="Libre Baskerville"/>
                <a:sym typeface="Libre Baskerville"/>
              </a:rPr>
              <a:t>Jumlah kolom: 5</a:t>
            </a:r>
          </a:p>
          <a:p>
            <a:pPr algn="l" marL="520772" indent="-260386" lvl="1">
              <a:lnSpc>
                <a:spcPts val="3376"/>
              </a:lnSpc>
              <a:buFont typeface="Arial"/>
              <a:buChar char="•"/>
            </a:pPr>
            <a:r>
              <a:rPr lang="en-US" sz="2412">
                <a:solidFill>
                  <a:srgbClr val="7B4C26"/>
                </a:solidFill>
                <a:latin typeface="Libre Baskerville"/>
                <a:ea typeface="Libre Baskerville"/>
                <a:cs typeface="Libre Baskerville"/>
                <a:sym typeface="Libre Baskerville"/>
              </a:rPr>
              <a:t>Format: CSV, tidak ada missing value</a:t>
            </a:r>
          </a:p>
        </p:txBody>
      </p:sp>
      <p:grpSp>
        <p:nvGrpSpPr>
          <p:cNvPr name="Group 28" id="28"/>
          <p:cNvGrpSpPr/>
          <p:nvPr/>
        </p:nvGrpSpPr>
        <p:grpSpPr>
          <a:xfrm rot="0">
            <a:off x="16035642" y="9258300"/>
            <a:ext cx="982727" cy="636341"/>
            <a:chOff x="0" y="0"/>
            <a:chExt cx="258825" cy="167596"/>
          </a:xfrm>
        </p:grpSpPr>
        <p:sp>
          <p:nvSpPr>
            <p:cNvPr name="Freeform 29" id="29"/>
            <p:cNvSpPr/>
            <p:nvPr/>
          </p:nvSpPr>
          <p:spPr>
            <a:xfrm flipH="false" flipV="false" rot="0">
              <a:off x="0" y="0"/>
              <a:ext cx="258825" cy="167596"/>
            </a:xfrm>
            <a:custGeom>
              <a:avLst/>
              <a:gdLst/>
              <a:ahLst/>
              <a:cxnLst/>
              <a:rect r="r" b="b" t="t" l="l"/>
              <a:pathLst>
                <a:path h="167596" w="258825">
                  <a:moveTo>
                    <a:pt x="83798" y="0"/>
                  </a:moveTo>
                  <a:lnTo>
                    <a:pt x="175027" y="0"/>
                  </a:lnTo>
                  <a:cubicBezTo>
                    <a:pt x="221308" y="0"/>
                    <a:pt x="258825" y="37518"/>
                    <a:pt x="258825" y="83798"/>
                  </a:cubicBezTo>
                  <a:lnTo>
                    <a:pt x="258825" y="83798"/>
                  </a:lnTo>
                  <a:cubicBezTo>
                    <a:pt x="258825" y="130078"/>
                    <a:pt x="221308" y="167596"/>
                    <a:pt x="175027" y="167596"/>
                  </a:cubicBezTo>
                  <a:lnTo>
                    <a:pt x="83798" y="167596"/>
                  </a:lnTo>
                  <a:cubicBezTo>
                    <a:pt x="37518" y="167596"/>
                    <a:pt x="0" y="130078"/>
                    <a:pt x="0" y="83798"/>
                  </a:cubicBezTo>
                  <a:lnTo>
                    <a:pt x="0" y="83798"/>
                  </a:lnTo>
                  <a:cubicBezTo>
                    <a:pt x="0" y="37518"/>
                    <a:pt x="37518" y="0"/>
                    <a:pt x="83798" y="0"/>
                  </a:cubicBezTo>
                  <a:close/>
                </a:path>
              </a:pathLst>
            </a:custGeom>
            <a:solidFill>
              <a:srgbClr val="D2C1B6"/>
            </a:solidFill>
            <a:ln w="38100" cap="rnd">
              <a:solidFill>
                <a:srgbClr val="FFFFFF"/>
              </a:solidFill>
              <a:prstDash val="solid"/>
              <a:round/>
            </a:ln>
          </p:spPr>
        </p:sp>
        <p:sp>
          <p:nvSpPr>
            <p:cNvPr name="TextBox 30" id="30"/>
            <p:cNvSpPr txBox="true"/>
            <p:nvPr/>
          </p:nvSpPr>
          <p:spPr>
            <a:xfrm>
              <a:off x="0" y="-38100"/>
              <a:ext cx="258825" cy="205696"/>
            </a:xfrm>
            <a:prstGeom prst="rect">
              <a:avLst/>
            </a:prstGeom>
          </p:spPr>
          <p:txBody>
            <a:bodyPr anchor="ctr" rtlCol="false" tIns="50800" lIns="50800" bIns="50800" rIns="50800"/>
            <a:lstStyle/>
            <a:p>
              <a:pPr algn="ctr">
                <a:lnSpc>
                  <a:spcPts val="2659"/>
                </a:lnSpc>
                <a:spcBef>
                  <a:spcPct val="0"/>
                </a:spcBef>
              </a:pPr>
            </a:p>
          </p:txBody>
        </p:sp>
      </p:grpSp>
      <p:sp>
        <p:nvSpPr>
          <p:cNvPr name="TextBox 31" id="31"/>
          <p:cNvSpPr txBox="true"/>
          <p:nvPr/>
        </p:nvSpPr>
        <p:spPr>
          <a:xfrm rot="0">
            <a:off x="16181145" y="9248775"/>
            <a:ext cx="691721" cy="484444"/>
          </a:xfrm>
          <a:prstGeom prst="rect">
            <a:avLst/>
          </a:prstGeom>
        </p:spPr>
        <p:txBody>
          <a:bodyPr anchor="t" rtlCol="false" tIns="0" lIns="0" bIns="0" rIns="0">
            <a:spAutoFit/>
          </a:bodyPr>
          <a:lstStyle/>
          <a:p>
            <a:pPr algn="ctr">
              <a:lnSpc>
                <a:spcPts val="4028"/>
              </a:lnSpc>
            </a:pPr>
            <a:r>
              <a:rPr lang="en-US" sz="2877" b="true">
                <a:solidFill>
                  <a:srgbClr val="1B3C53"/>
                </a:solidFill>
                <a:latin typeface="Playfair Display Bold"/>
                <a:ea typeface="Playfair Display Bold"/>
                <a:cs typeface="Playfair Display Bold"/>
                <a:sym typeface="Playfair Display Bold"/>
              </a:rPr>
              <a:t>04</a:t>
            </a:r>
          </a:p>
        </p:txBody>
      </p:sp>
      <p:grpSp>
        <p:nvGrpSpPr>
          <p:cNvPr name="Group 32" id="32"/>
          <p:cNvGrpSpPr/>
          <p:nvPr/>
        </p:nvGrpSpPr>
        <p:grpSpPr>
          <a:xfrm rot="0">
            <a:off x="17067659" y="9415048"/>
            <a:ext cx="2388751" cy="318171"/>
            <a:chOff x="0" y="0"/>
            <a:chExt cx="629136" cy="83798"/>
          </a:xfrm>
        </p:grpSpPr>
        <p:sp>
          <p:nvSpPr>
            <p:cNvPr name="Freeform 33" id="33"/>
            <p:cNvSpPr/>
            <p:nvPr/>
          </p:nvSpPr>
          <p:spPr>
            <a:xfrm flipH="false" flipV="false" rot="0">
              <a:off x="0" y="0"/>
              <a:ext cx="629136" cy="83798"/>
            </a:xfrm>
            <a:custGeom>
              <a:avLst/>
              <a:gdLst/>
              <a:ahLst/>
              <a:cxnLst/>
              <a:rect r="r" b="b" t="t" l="l"/>
              <a:pathLst>
                <a:path h="83798" w="629136">
                  <a:moveTo>
                    <a:pt x="41899" y="0"/>
                  </a:moveTo>
                  <a:lnTo>
                    <a:pt x="587237" y="0"/>
                  </a:lnTo>
                  <a:cubicBezTo>
                    <a:pt x="598349" y="0"/>
                    <a:pt x="609007" y="4414"/>
                    <a:pt x="616864" y="12272"/>
                  </a:cubicBezTo>
                  <a:cubicBezTo>
                    <a:pt x="624722" y="20130"/>
                    <a:pt x="629136" y="30787"/>
                    <a:pt x="629136" y="41899"/>
                  </a:cubicBezTo>
                  <a:lnTo>
                    <a:pt x="629136" y="41899"/>
                  </a:lnTo>
                  <a:cubicBezTo>
                    <a:pt x="629136" y="53011"/>
                    <a:pt x="624722" y="63668"/>
                    <a:pt x="616864" y="71526"/>
                  </a:cubicBezTo>
                  <a:cubicBezTo>
                    <a:pt x="609007" y="79384"/>
                    <a:pt x="598349" y="83798"/>
                    <a:pt x="587237" y="83798"/>
                  </a:cubicBezTo>
                  <a:lnTo>
                    <a:pt x="41899" y="83798"/>
                  </a:lnTo>
                  <a:cubicBezTo>
                    <a:pt x="30787" y="83798"/>
                    <a:pt x="20130" y="79384"/>
                    <a:pt x="12272" y="71526"/>
                  </a:cubicBezTo>
                  <a:cubicBezTo>
                    <a:pt x="4414" y="63668"/>
                    <a:pt x="0" y="53011"/>
                    <a:pt x="0" y="41899"/>
                  </a:cubicBezTo>
                  <a:lnTo>
                    <a:pt x="0" y="41899"/>
                  </a:lnTo>
                  <a:cubicBezTo>
                    <a:pt x="0" y="30787"/>
                    <a:pt x="4414" y="20130"/>
                    <a:pt x="12272" y="12272"/>
                  </a:cubicBezTo>
                  <a:cubicBezTo>
                    <a:pt x="20130" y="4414"/>
                    <a:pt x="30787" y="0"/>
                    <a:pt x="41899" y="0"/>
                  </a:cubicBezTo>
                  <a:close/>
                </a:path>
              </a:pathLst>
            </a:custGeom>
            <a:solidFill>
              <a:srgbClr val="D2C1B6"/>
            </a:solidFill>
            <a:ln w="38100" cap="rnd">
              <a:solidFill>
                <a:srgbClr val="FFFFFF"/>
              </a:solidFill>
              <a:prstDash val="solid"/>
              <a:round/>
            </a:ln>
          </p:spPr>
        </p:sp>
        <p:sp>
          <p:nvSpPr>
            <p:cNvPr name="TextBox 34" id="34"/>
            <p:cNvSpPr txBox="true"/>
            <p:nvPr/>
          </p:nvSpPr>
          <p:spPr>
            <a:xfrm>
              <a:off x="0" y="-38100"/>
              <a:ext cx="629136" cy="121898"/>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98058" y="1028700"/>
            <a:ext cx="1965454" cy="835863"/>
            <a:chOff x="0" y="0"/>
            <a:chExt cx="517651" cy="220145"/>
          </a:xfrm>
        </p:grpSpPr>
        <p:sp>
          <p:nvSpPr>
            <p:cNvPr name="Freeform 3" id="3"/>
            <p:cNvSpPr/>
            <p:nvPr/>
          </p:nvSpPr>
          <p:spPr>
            <a:xfrm flipH="false" flipV="false" rot="0">
              <a:off x="0" y="0"/>
              <a:ext cx="517651" cy="220145"/>
            </a:xfrm>
            <a:custGeom>
              <a:avLst/>
              <a:gdLst/>
              <a:ahLst/>
              <a:cxnLst/>
              <a:rect r="r" b="b" t="t" l="l"/>
              <a:pathLst>
                <a:path h="220145" w="517651">
                  <a:moveTo>
                    <a:pt x="0" y="0"/>
                  </a:moveTo>
                  <a:lnTo>
                    <a:pt x="517651" y="0"/>
                  </a:lnTo>
                  <a:lnTo>
                    <a:pt x="517651" y="220145"/>
                  </a:lnTo>
                  <a:lnTo>
                    <a:pt x="0" y="220145"/>
                  </a:lnTo>
                  <a:close/>
                </a:path>
              </a:pathLst>
            </a:custGeom>
            <a:solidFill>
              <a:srgbClr val="456882"/>
            </a:solidFill>
          </p:spPr>
        </p:sp>
        <p:sp>
          <p:nvSpPr>
            <p:cNvPr name="TextBox 4" id="4"/>
            <p:cNvSpPr txBox="true"/>
            <p:nvPr/>
          </p:nvSpPr>
          <p:spPr>
            <a:xfrm>
              <a:off x="0" y="-38100"/>
              <a:ext cx="517651" cy="25824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6023207">
            <a:off x="12193187" y="5416409"/>
            <a:ext cx="9359356" cy="2308481"/>
            <a:chOff x="0" y="0"/>
            <a:chExt cx="2465016" cy="607995"/>
          </a:xfrm>
        </p:grpSpPr>
        <p:sp>
          <p:nvSpPr>
            <p:cNvPr name="Freeform 6" id="6"/>
            <p:cNvSpPr/>
            <p:nvPr/>
          </p:nvSpPr>
          <p:spPr>
            <a:xfrm flipH="false" flipV="false" rot="0">
              <a:off x="0" y="0"/>
              <a:ext cx="2465016" cy="607995"/>
            </a:xfrm>
            <a:custGeom>
              <a:avLst/>
              <a:gdLst/>
              <a:ahLst/>
              <a:cxnLst/>
              <a:rect r="r" b="b" t="t" l="l"/>
              <a:pathLst>
                <a:path h="607995" w="2465016">
                  <a:moveTo>
                    <a:pt x="0" y="0"/>
                  </a:moveTo>
                  <a:lnTo>
                    <a:pt x="2465016" y="0"/>
                  </a:lnTo>
                  <a:lnTo>
                    <a:pt x="2465016" y="607995"/>
                  </a:lnTo>
                  <a:lnTo>
                    <a:pt x="0" y="607995"/>
                  </a:lnTo>
                  <a:close/>
                </a:path>
              </a:pathLst>
            </a:custGeom>
            <a:solidFill>
              <a:srgbClr val="456882"/>
            </a:solidFill>
          </p:spPr>
        </p:sp>
        <p:sp>
          <p:nvSpPr>
            <p:cNvPr name="TextBox 7" id="7"/>
            <p:cNvSpPr txBox="true"/>
            <p:nvPr/>
          </p:nvSpPr>
          <p:spPr>
            <a:xfrm>
              <a:off x="0" y="-38100"/>
              <a:ext cx="2465016" cy="646095"/>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3587113">
            <a:off x="14030879" y="512781"/>
            <a:ext cx="5331404" cy="2197724"/>
            <a:chOff x="0" y="0"/>
            <a:chExt cx="1404156" cy="578824"/>
          </a:xfrm>
        </p:grpSpPr>
        <p:sp>
          <p:nvSpPr>
            <p:cNvPr name="Freeform 9" id="9"/>
            <p:cNvSpPr/>
            <p:nvPr/>
          </p:nvSpPr>
          <p:spPr>
            <a:xfrm flipH="false" flipV="false" rot="0">
              <a:off x="0" y="0"/>
              <a:ext cx="1404156" cy="578824"/>
            </a:xfrm>
            <a:custGeom>
              <a:avLst/>
              <a:gdLst/>
              <a:ahLst/>
              <a:cxnLst/>
              <a:rect r="r" b="b" t="t" l="l"/>
              <a:pathLst>
                <a:path h="578824" w="1404156">
                  <a:moveTo>
                    <a:pt x="0" y="0"/>
                  </a:moveTo>
                  <a:lnTo>
                    <a:pt x="1404156" y="0"/>
                  </a:lnTo>
                  <a:lnTo>
                    <a:pt x="1404156" y="578824"/>
                  </a:lnTo>
                  <a:lnTo>
                    <a:pt x="0" y="578824"/>
                  </a:lnTo>
                  <a:close/>
                </a:path>
              </a:pathLst>
            </a:custGeom>
            <a:solidFill>
              <a:srgbClr val="D2C1B6"/>
            </a:solidFill>
          </p:spPr>
        </p:sp>
        <p:sp>
          <p:nvSpPr>
            <p:cNvPr name="TextBox 10" id="10"/>
            <p:cNvSpPr txBox="true"/>
            <p:nvPr/>
          </p:nvSpPr>
          <p:spPr>
            <a:xfrm>
              <a:off x="0" y="-38100"/>
              <a:ext cx="1404156" cy="616924"/>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10800000">
            <a:off x="-298058" y="8663355"/>
            <a:ext cx="19149961" cy="2308481"/>
            <a:chOff x="0" y="0"/>
            <a:chExt cx="5043611" cy="607995"/>
          </a:xfrm>
        </p:grpSpPr>
        <p:sp>
          <p:nvSpPr>
            <p:cNvPr name="Freeform 12" id="12"/>
            <p:cNvSpPr/>
            <p:nvPr/>
          </p:nvSpPr>
          <p:spPr>
            <a:xfrm flipH="false" flipV="false" rot="0">
              <a:off x="0" y="0"/>
              <a:ext cx="5043611" cy="607995"/>
            </a:xfrm>
            <a:custGeom>
              <a:avLst/>
              <a:gdLst/>
              <a:ahLst/>
              <a:cxnLst/>
              <a:rect r="r" b="b" t="t" l="l"/>
              <a:pathLst>
                <a:path h="607995" w="5043611">
                  <a:moveTo>
                    <a:pt x="0" y="0"/>
                  </a:moveTo>
                  <a:lnTo>
                    <a:pt x="5043611" y="0"/>
                  </a:lnTo>
                  <a:lnTo>
                    <a:pt x="5043611" y="607995"/>
                  </a:lnTo>
                  <a:lnTo>
                    <a:pt x="0" y="607995"/>
                  </a:lnTo>
                  <a:close/>
                </a:path>
              </a:pathLst>
            </a:custGeom>
            <a:solidFill>
              <a:srgbClr val="1B3C53"/>
            </a:solidFill>
          </p:spPr>
        </p:sp>
        <p:sp>
          <p:nvSpPr>
            <p:cNvPr name="TextBox 13" id="13"/>
            <p:cNvSpPr txBox="true"/>
            <p:nvPr/>
          </p:nvSpPr>
          <p:spPr>
            <a:xfrm>
              <a:off x="0" y="-38100"/>
              <a:ext cx="5043611" cy="646095"/>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a:grpSpLocks noChangeAspect="true"/>
          </p:cNvGrpSpPr>
          <p:nvPr/>
        </p:nvGrpSpPr>
        <p:grpSpPr>
          <a:xfrm rot="0">
            <a:off x="14075825" y="885482"/>
            <a:ext cx="4776078" cy="5246370"/>
            <a:chOff x="0" y="0"/>
            <a:chExt cx="5803900" cy="6375400"/>
          </a:xfrm>
        </p:grpSpPr>
        <p:sp>
          <p:nvSpPr>
            <p:cNvPr name="Freeform 15" id="15"/>
            <p:cNvSpPr/>
            <p:nvPr/>
          </p:nvSpPr>
          <p:spPr>
            <a:xfrm flipH="false" flipV="false" rot="0">
              <a:off x="12700" y="12700"/>
              <a:ext cx="5778500" cy="6350000"/>
            </a:xfrm>
            <a:custGeom>
              <a:avLst/>
              <a:gdLst/>
              <a:ahLst/>
              <a:cxnLst/>
              <a:rect r="r" b="b" t="t" l="l"/>
              <a:pathLst>
                <a:path h="6350000" w="5778500">
                  <a:moveTo>
                    <a:pt x="2889250" y="0"/>
                  </a:moveTo>
                  <a:cubicBezTo>
                    <a:pt x="1258570" y="0"/>
                    <a:pt x="0" y="1144270"/>
                    <a:pt x="0" y="2917190"/>
                  </a:cubicBezTo>
                  <a:cubicBezTo>
                    <a:pt x="0" y="4175760"/>
                    <a:pt x="0" y="6350000"/>
                    <a:pt x="0" y="6350000"/>
                  </a:cubicBezTo>
                  <a:lnTo>
                    <a:pt x="2889250" y="6350000"/>
                  </a:lnTo>
                  <a:lnTo>
                    <a:pt x="5778500" y="6350000"/>
                  </a:lnTo>
                  <a:cubicBezTo>
                    <a:pt x="5778500" y="6350000"/>
                    <a:pt x="5778500" y="4175760"/>
                    <a:pt x="5778500" y="2917190"/>
                  </a:cubicBezTo>
                  <a:cubicBezTo>
                    <a:pt x="5778500" y="1144270"/>
                    <a:pt x="4519930" y="0"/>
                    <a:pt x="2889250" y="0"/>
                  </a:cubicBezTo>
                  <a:close/>
                </a:path>
              </a:pathLst>
            </a:custGeom>
            <a:blipFill>
              <a:blip r:embed="rId2"/>
              <a:stretch>
                <a:fillRect l="-32342" t="0" r="-32342" b="0"/>
              </a:stretch>
            </a:blipFill>
          </p:spPr>
        </p:sp>
        <p:sp>
          <p:nvSpPr>
            <p:cNvPr name="Freeform 16" id="16"/>
            <p:cNvSpPr/>
            <p:nvPr/>
          </p:nvSpPr>
          <p:spPr>
            <a:xfrm flipH="false" flipV="false" rot="0">
              <a:off x="0" y="0"/>
              <a:ext cx="5803900" cy="6375400"/>
            </a:xfrm>
            <a:custGeom>
              <a:avLst/>
              <a:gdLst/>
              <a:ahLst/>
              <a:cxnLst/>
              <a:rect r="r" b="b" t="t" l="l"/>
              <a:pathLst>
                <a:path h="6375400" w="5803900">
                  <a:moveTo>
                    <a:pt x="5803900" y="6375400"/>
                  </a:moveTo>
                  <a:lnTo>
                    <a:pt x="0" y="6375400"/>
                  </a:lnTo>
                  <a:lnTo>
                    <a:pt x="0" y="2929890"/>
                  </a:lnTo>
                  <a:cubicBezTo>
                    <a:pt x="0" y="2495550"/>
                    <a:pt x="74930" y="2089150"/>
                    <a:pt x="223520" y="1720850"/>
                  </a:cubicBezTo>
                  <a:cubicBezTo>
                    <a:pt x="365760" y="1367790"/>
                    <a:pt x="571500" y="1056640"/>
                    <a:pt x="836930" y="797560"/>
                  </a:cubicBezTo>
                  <a:cubicBezTo>
                    <a:pt x="1361440" y="283210"/>
                    <a:pt x="2095500" y="0"/>
                    <a:pt x="2901950" y="0"/>
                  </a:cubicBezTo>
                  <a:cubicBezTo>
                    <a:pt x="3708400" y="0"/>
                    <a:pt x="4441190" y="283210"/>
                    <a:pt x="4966970" y="797560"/>
                  </a:cubicBezTo>
                  <a:cubicBezTo>
                    <a:pt x="5232400" y="1056640"/>
                    <a:pt x="5438140" y="1367790"/>
                    <a:pt x="5580380" y="1722120"/>
                  </a:cubicBezTo>
                  <a:cubicBezTo>
                    <a:pt x="5728970" y="2090420"/>
                    <a:pt x="5803900" y="2496820"/>
                    <a:pt x="5803900" y="2931160"/>
                  </a:cubicBezTo>
                  <a:lnTo>
                    <a:pt x="5803900" y="6375400"/>
                  </a:lnTo>
                  <a:close/>
                  <a:moveTo>
                    <a:pt x="25400" y="6350000"/>
                  </a:moveTo>
                  <a:lnTo>
                    <a:pt x="5778500" y="6350000"/>
                  </a:lnTo>
                  <a:lnTo>
                    <a:pt x="5778500" y="2929890"/>
                  </a:lnTo>
                  <a:cubicBezTo>
                    <a:pt x="5778500" y="2499360"/>
                    <a:pt x="5703570" y="2095500"/>
                    <a:pt x="5557520" y="1731010"/>
                  </a:cubicBezTo>
                  <a:cubicBezTo>
                    <a:pt x="5416550" y="1380490"/>
                    <a:pt x="5212080" y="1073150"/>
                    <a:pt x="4949190" y="815340"/>
                  </a:cubicBezTo>
                  <a:cubicBezTo>
                    <a:pt x="4428490" y="306070"/>
                    <a:pt x="3700780" y="25400"/>
                    <a:pt x="2901950" y="25400"/>
                  </a:cubicBezTo>
                  <a:cubicBezTo>
                    <a:pt x="2103120" y="25400"/>
                    <a:pt x="1375410" y="306070"/>
                    <a:pt x="854710" y="815340"/>
                  </a:cubicBezTo>
                  <a:cubicBezTo>
                    <a:pt x="591820" y="1071880"/>
                    <a:pt x="387350" y="1380490"/>
                    <a:pt x="246380" y="1731010"/>
                  </a:cubicBezTo>
                  <a:cubicBezTo>
                    <a:pt x="100330" y="2095500"/>
                    <a:pt x="25400" y="2499360"/>
                    <a:pt x="25400" y="2929890"/>
                  </a:cubicBezTo>
                  <a:lnTo>
                    <a:pt x="25400" y="6350000"/>
                  </a:lnTo>
                  <a:close/>
                </a:path>
              </a:pathLst>
            </a:custGeom>
            <a:solidFill>
              <a:srgbClr val="B87C4C"/>
            </a:solidFill>
          </p:spPr>
        </p:sp>
      </p:grpSp>
      <p:sp>
        <p:nvSpPr>
          <p:cNvPr name="TextBox 17" id="17"/>
          <p:cNvSpPr txBox="true"/>
          <p:nvPr/>
        </p:nvSpPr>
        <p:spPr>
          <a:xfrm rot="0">
            <a:off x="1895518" y="563930"/>
            <a:ext cx="12328918" cy="1483881"/>
          </a:xfrm>
          <a:prstGeom prst="rect">
            <a:avLst/>
          </a:prstGeom>
        </p:spPr>
        <p:txBody>
          <a:bodyPr anchor="t" rtlCol="false" tIns="0" lIns="0" bIns="0" rIns="0">
            <a:spAutoFit/>
          </a:bodyPr>
          <a:lstStyle/>
          <a:p>
            <a:pPr algn="l">
              <a:lnSpc>
                <a:spcPts val="12186"/>
              </a:lnSpc>
            </a:pPr>
            <a:r>
              <a:rPr lang="en-US" sz="8704" b="true">
                <a:solidFill>
                  <a:srgbClr val="1B3C53"/>
                </a:solidFill>
                <a:latin typeface="Playfair Display Bold"/>
                <a:ea typeface="Playfair Display Bold"/>
                <a:cs typeface="Playfair Display Bold"/>
                <a:sym typeface="Playfair Display Bold"/>
              </a:rPr>
              <a:t>VARIABEL PENTING</a:t>
            </a:r>
          </a:p>
        </p:txBody>
      </p:sp>
      <p:sp>
        <p:nvSpPr>
          <p:cNvPr name="Freeform 18" id="18"/>
          <p:cNvSpPr/>
          <p:nvPr/>
        </p:nvSpPr>
        <p:spPr>
          <a:xfrm flipH="false" flipV="false" rot="0">
            <a:off x="13289441" y="5454734"/>
            <a:ext cx="2593176" cy="2088686"/>
          </a:xfrm>
          <a:custGeom>
            <a:avLst/>
            <a:gdLst/>
            <a:ahLst/>
            <a:cxnLst/>
            <a:rect r="r" b="b" t="t" l="l"/>
            <a:pathLst>
              <a:path h="2088686" w="2593176">
                <a:moveTo>
                  <a:pt x="0" y="0"/>
                </a:moveTo>
                <a:lnTo>
                  <a:pt x="2593176" y="0"/>
                </a:lnTo>
                <a:lnTo>
                  <a:pt x="2593176" y="2088686"/>
                </a:lnTo>
                <a:lnTo>
                  <a:pt x="0" y="208868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9" id="19"/>
          <p:cNvGrpSpPr/>
          <p:nvPr/>
        </p:nvGrpSpPr>
        <p:grpSpPr>
          <a:xfrm rot="0">
            <a:off x="1895518" y="2977821"/>
            <a:ext cx="10256533" cy="1024427"/>
            <a:chOff x="0" y="0"/>
            <a:chExt cx="3031124" cy="302750"/>
          </a:xfrm>
        </p:grpSpPr>
        <p:sp>
          <p:nvSpPr>
            <p:cNvPr name="Freeform 20" id="20"/>
            <p:cNvSpPr/>
            <p:nvPr/>
          </p:nvSpPr>
          <p:spPr>
            <a:xfrm flipH="false" flipV="false" rot="0">
              <a:off x="0" y="0"/>
              <a:ext cx="3031124" cy="302750"/>
            </a:xfrm>
            <a:custGeom>
              <a:avLst/>
              <a:gdLst/>
              <a:ahLst/>
              <a:cxnLst/>
              <a:rect r="r" b="b" t="t" l="l"/>
              <a:pathLst>
                <a:path h="302750" w="3031124">
                  <a:moveTo>
                    <a:pt x="35477" y="0"/>
                  </a:moveTo>
                  <a:lnTo>
                    <a:pt x="2995648" y="0"/>
                  </a:lnTo>
                  <a:cubicBezTo>
                    <a:pt x="3015241" y="0"/>
                    <a:pt x="3031124" y="15884"/>
                    <a:pt x="3031124" y="35477"/>
                  </a:cubicBezTo>
                  <a:lnTo>
                    <a:pt x="3031124" y="267273"/>
                  </a:lnTo>
                  <a:cubicBezTo>
                    <a:pt x="3031124" y="276682"/>
                    <a:pt x="3027387" y="285706"/>
                    <a:pt x="3020733" y="292359"/>
                  </a:cubicBezTo>
                  <a:cubicBezTo>
                    <a:pt x="3014080" y="299012"/>
                    <a:pt x="3005057" y="302750"/>
                    <a:pt x="2995648" y="302750"/>
                  </a:cubicBezTo>
                  <a:lnTo>
                    <a:pt x="35477" y="302750"/>
                  </a:lnTo>
                  <a:cubicBezTo>
                    <a:pt x="15884" y="302750"/>
                    <a:pt x="0" y="286866"/>
                    <a:pt x="0" y="267273"/>
                  </a:cubicBezTo>
                  <a:lnTo>
                    <a:pt x="0" y="35477"/>
                  </a:lnTo>
                  <a:cubicBezTo>
                    <a:pt x="0" y="26068"/>
                    <a:pt x="3738" y="17044"/>
                    <a:pt x="10391" y="10391"/>
                  </a:cubicBezTo>
                  <a:cubicBezTo>
                    <a:pt x="17044" y="3738"/>
                    <a:pt x="26068" y="0"/>
                    <a:pt x="35477" y="0"/>
                  </a:cubicBezTo>
                  <a:close/>
                </a:path>
              </a:pathLst>
            </a:custGeom>
            <a:solidFill>
              <a:srgbClr val="FFFFFF">
                <a:alpha val="72941"/>
              </a:srgbClr>
            </a:solidFill>
          </p:spPr>
        </p:sp>
        <p:sp>
          <p:nvSpPr>
            <p:cNvPr name="TextBox 21" id="21"/>
            <p:cNvSpPr txBox="true"/>
            <p:nvPr/>
          </p:nvSpPr>
          <p:spPr>
            <a:xfrm>
              <a:off x="0" y="-38100"/>
              <a:ext cx="3031124" cy="340850"/>
            </a:xfrm>
            <a:prstGeom prst="rect">
              <a:avLst/>
            </a:prstGeom>
          </p:spPr>
          <p:txBody>
            <a:bodyPr anchor="ctr" rtlCol="false" tIns="50800" lIns="50800" bIns="50800" rIns="50800"/>
            <a:lstStyle/>
            <a:p>
              <a:pPr algn="ctr">
                <a:lnSpc>
                  <a:spcPts val="2659"/>
                </a:lnSpc>
                <a:spcBef>
                  <a:spcPct val="0"/>
                </a:spcBef>
              </a:pPr>
            </a:p>
          </p:txBody>
        </p:sp>
      </p:grpSp>
      <p:grpSp>
        <p:nvGrpSpPr>
          <p:cNvPr name="Group 22" id="22"/>
          <p:cNvGrpSpPr/>
          <p:nvPr/>
        </p:nvGrpSpPr>
        <p:grpSpPr>
          <a:xfrm rot="0">
            <a:off x="2051476" y="3118805"/>
            <a:ext cx="1551118" cy="742459"/>
            <a:chOff x="0" y="0"/>
            <a:chExt cx="458404" cy="219420"/>
          </a:xfrm>
        </p:grpSpPr>
        <p:sp>
          <p:nvSpPr>
            <p:cNvPr name="Freeform 23" id="23"/>
            <p:cNvSpPr/>
            <p:nvPr/>
          </p:nvSpPr>
          <p:spPr>
            <a:xfrm flipH="false" flipV="false" rot="0">
              <a:off x="0" y="0"/>
              <a:ext cx="458404" cy="219420"/>
            </a:xfrm>
            <a:custGeom>
              <a:avLst/>
              <a:gdLst/>
              <a:ahLst/>
              <a:cxnLst/>
              <a:rect r="r" b="b" t="t" l="l"/>
              <a:pathLst>
                <a:path h="219420" w="458404">
                  <a:moveTo>
                    <a:pt x="109710" y="0"/>
                  </a:moveTo>
                  <a:lnTo>
                    <a:pt x="348694" y="0"/>
                  </a:lnTo>
                  <a:cubicBezTo>
                    <a:pt x="409285" y="0"/>
                    <a:pt x="458404" y="49119"/>
                    <a:pt x="458404" y="109710"/>
                  </a:cubicBezTo>
                  <a:lnTo>
                    <a:pt x="458404" y="109710"/>
                  </a:lnTo>
                  <a:cubicBezTo>
                    <a:pt x="458404" y="170301"/>
                    <a:pt x="409285" y="219420"/>
                    <a:pt x="348694" y="219420"/>
                  </a:cubicBezTo>
                  <a:lnTo>
                    <a:pt x="109710" y="219420"/>
                  </a:lnTo>
                  <a:cubicBezTo>
                    <a:pt x="49119" y="219420"/>
                    <a:pt x="0" y="170301"/>
                    <a:pt x="0" y="109710"/>
                  </a:cubicBezTo>
                  <a:lnTo>
                    <a:pt x="0" y="109710"/>
                  </a:lnTo>
                  <a:cubicBezTo>
                    <a:pt x="0" y="49119"/>
                    <a:pt x="49119" y="0"/>
                    <a:pt x="109710" y="0"/>
                  </a:cubicBezTo>
                  <a:close/>
                </a:path>
              </a:pathLst>
            </a:custGeom>
            <a:solidFill>
              <a:srgbClr val="D2C1B6"/>
            </a:solidFill>
          </p:spPr>
        </p:sp>
        <p:sp>
          <p:nvSpPr>
            <p:cNvPr name="TextBox 24" id="24"/>
            <p:cNvSpPr txBox="true"/>
            <p:nvPr/>
          </p:nvSpPr>
          <p:spPr>
            <a:xfrm>
              <a:off x="0" y="-38100"/>
              <a:ext cx="458404" cy="257520"/>
            </a:xfrm>
            <a:prstGeom prst="rect">
              <a:avLst/>
            </a:prstGeom>
          </p:spPr>
          <p:txBody>
            <a:bodyPr anchor="ctr" rtlCol="false" tIns="50800" lIns="50800" bIns="50800" rIns="50800"/>
            <a:lstStyle/>
            <a:p>
              <a:pPr algn="ctr">
                <a:lnSpc>
                  <a:spcPts val="2659"/>
                </a:lnSpc>
                <a:spcBef>
                  <a:spcPct val="0"/>
                </a:spcBef>
              </a:pPr>
            </a:p>
          </p:txBody>
        </p:sp>
      </p:grpSp>
      <p:grpSp>
        <p:nvGrpSpPr>
          <p:cNvPr name="Group 25" id="25"/>
          <p:cNvGrpSpPr/>
          <p:nvPr/>
        </p:nvGrpSpPr>
        <p:grpSpPr>
          <a:xfrm rot="0">
            <a:off x="1895518" y="4636383"/>
            <a:ext cx="10256533" cy="1024427"/>
            <a:chOff x="0" y="0"/>
            <a:chExt cx="3031124" cy="302750"/>
          </a:xfrm>
        </p:grpSpPr>
        <p:sp>
          <p:nvSpPr>
            <p:cNvPr name="Freeform 26" id="26"/>
            <p:cNvSpPr/>
            <p:nvPr/>
          </p:nvSpPr>
          <p:spPr>
            <a:xfrm flipH="false" flipV="false" rot="0">
              <a:off x="0" y="0"/>
              <a:ext cx="3031124" cy="302750"/>
            </a:xfrm>
            <a:custGeom>
              <a:avLst/>
              <a:gdLst/>
              <a:ahLst/>
              <a:cxnLst/>
              <a:rect r="r" b="b" t="t" l="l"/>
              <a:pathLst>
                <a:path h="302750" w="3031124">
                  <a:moveTo>
                    <a:pt x="35477" y="0"/>
                  </a:moveTo>
                  <a:lnTo>
                    <a:pt x="2995648" y="0"/>
                  </a:lnTo>
                  <a:cubicBezTo>
                    <a:pt x="3015241" y="0"/>
                    <a:pt x="3031124" y="15884"/>
                    <a:pt x="3031124" y="35477"/>
                  </a:cubicBezTo>
                  <a:lnTo>
                    <a:pt x="3031124" y="267273"/>
                  </a:lnTo>
                  <a:cubicBezTo>
                    <a:pt x="3031124" y="276682"/>
                    <a:pt x="3027387" y="285706"/>
                    <a:pt x="3020733" y="292359"/>
                  </a:cubicBezTo>
                  <a:cubicBezTo>
                    <a:pt x="3014080" y="299012"/>
                    <a:pt x="3005057" y="302750"/>
                    <a:pt x="2995648" y="302750"/>
                  </a:cubicBezTo>
                  <a:lnTo>
                    <a:pt x="35477" y="302750"/>
                  </a:lnTo>
                  <a:cubicBezTo>
                    <a:pt x="15884" y="302750"/>
                    <a:pt x="0" y="286866"/>
                    <a:pt x="0" y="267273"/>
                  </a:cubicBezTo>
                  <a:lnTo>
                    <a:pt x="0" y="35477"/>
                  </a:lnTo>
                  <a:cubicBezTo>
                    <a:pt x="0" y="26068"/>
                    <a:pt x="3738" y="17044"/>
                    <a:pt x="10391" y="10391"/>
                  </a:cubicBezTo>
                  <a:cubicBezTo>
                    <a:pt x="17044" y="3738"/>
                    <a:pt x="26068" y="0"/>
                    <a:pt x="35477" y="0"/>
                  </a:cubicBezTo>
                  <a:close/>
                </a:path>
              </a:pathLst>
            </a:custGeom>
            <a:solidFill>
              <a:srgbClr val="FFFFFF">
                <a:alpha val="72941"/>
              </a:srgbClr>
            </a:solidFill>
          </p:spPr>
        </p:sp>
        <p:sp>
          <p:nvSpPr>
            <p:cNvPr name="TextBox 27" id="27"/>
            <p:cNvSpPr txBox="true"/>
            <p:nvPr/>
          </p:nvSpPr>
          <p:spPr>
            <a:xfrm>
              <a:off x="0" y="-38100"/>
              <a:ext cx="3031124" cy="340850"/>
            </a:xfrm>
            <a:prstGeom prst="rect">
              <a:avLst/>
            </a:prstGeom>
          </p:spPr>
          <p:txBody>
            <a:bodyPr anchor="ctr" rtlCol="false" tIns="50800" lIns="50800" bIns="50800" rIns="50800"/>
            <a:lstStyle/>
            <a:p>
              <a:pPr algn="ctr">
                <a:lnSpc>
                  <a:spcPts val="2659"/>
                </a:lnSpc>
                <a:spcBef>
                  <a:spcPct val="0"/>
                </a:spcBef>
              </a:pPr>
            </a:p>
          </p:txBody>
        </p:sp>
      </p:grpSp>
      <p:grpSp>
        <p:nvGrpSpPr>
          <p:cNvPr name="Group 28" id="28"/>
          <p:cNvGrpSpPr/>
          <p:nvPr/>
        </p:nvGrpSpPr>
        <p:grpSpPr>
          <a:xfrm rot="0">
            <a:off x="2051476" y="4777367"/>
            <a:ext cx="1551118" cy="742459"/>
            <a:chOff x="0" y="0"/>
            <a:chExt cx="458404" cy="219420"/>
          </a:xfrm>
        </p:grpSpPr>
        <p:sp>
          <p:nvSpPr>
            <p:cNvPr name="Freeform 29" id="29"/>
            <p:cNvSpPr/>
            <p:nvPr/>
          </p:nvSpPr>
          <p:spPr>
            <a:xfrm flipH="false" flipV="false" rot="0">
              <a:off x="0" y="0"/>
              <a:ext cx="458404" cy="219420"/>
            </a:xfrm>
            <a:custGeom>
              <a:avLst/>
              <a:gdLst/>
              <a:ahLst/>
              <a:cxnLst/>
              <a:rect r="r" b="b" t="t" l="l"/>
              <a:pathLst>
                <a:path h="219420" w="458404">
                  <a:moveTo>
                    <a:pt x="109710" y="0"/>
                  </a:moveTo>
                  <a:lnTo>
                    <a:pt x="348694" y="0"/>
                  </a:lnTo>
                  <a:cubicBezTo>
                    <a:pt x="409285" y="0"/>
                    <a:pt x="458404" y="49119"/>
                    <a:pt x="458404" y="109710"/>
                  </a:cubicBezTo>
                  <a:lnTo>
                    <a:pt x="458404" y="109710"/>
                  </a:lnTo>
                  <a:cubicBezTo>
                    <a:pt x="458404" y="170301"/>
                    <a:pt x="409285" y="219420"/>
                    <a:pt x="348694" y="219420"/>
                  </a:cubicBezTo>
                  <a:lnTo>
                    <a:pt x="109710" y="219420"/>
                  </a:lnTo>
                  <a:cubicBezTo>
                    <a:pt x="49119" y="219420"/>
                    <a:pt x="0" y="170301"/>
                    <a:pt x="0" y="109710"/>
                  </a:cubicBezTo>
                  <a:lnTo>
                    <a:pt x="0" y="109710"/>
                  </a:lnTo>
                  <a:cubicBezTo>
                    <a:pt x="0" y="49119"/>
                    <a:pt x="49119" y="0"/>
                    <a:pt x="109710" y="0"/>
                  </a:cubicBezTo>
                  <a:close/>
                </a:path>
              </a:pathLst>
            </a:custGeom>
            <a:solidFill>
              <a:srgbClr val="D2C1B6"/>
            </a:solidFill>
          </p:spPr>
        </p:sp>
        <p:sp>
          <p:nvSpPr>
            <p:cNvPr name="TextBox 30" id="30"/>
            <p:cNvSpPr txBox="true"/>
            <p:nvPr/>
          </p:nvSpPr>
          <p:spPr>
            <a:xfrm>
              <a:off x="0" y="-38100"/>
              <a:ext cx="458404" cy="257520"/>
            </a:xfrm>
            <a:prstGeom prst="rect">
              <a:avLst/>
            </a:prstGeom>
          </p:spPr>
          <p:txBody>
            <a:bodyPr anchor="ctr" rtlCol="false" tIns="50800" lIns="50800" bIns="50800" rIns="50800"/>
            <a:lstStyle/>
            <a:p>
              <a:pPr algn="ctr">
                <a:lnSpc>
                  <a:spcPts val="2659"/>
                </a:lnSpc>
                <a:spcBef>
                  <a:spcPct val="0"/>
                </a:spcBef>
              </a:pPr>
            </a:p>
          </p:txBody>
        </p:sp>
      </p:grpSp>
      <p:grpSp>
        <p:nvGrpSpPr>
          <p:cNvPr name="Group 31" id="31"/>
          <p:cNvGrpSpPr/>
          <p:nvPr/>
        </p:nvGrpSpPr>
        <p:grpSpPr>
          <a:xfrm rot="0">
            <a:off x="1895518" y="6399833"/>
            <a:ext cx="10256533" cy="1024427"/>
            <a:chOff x="0" y="0"/>
            <a:chExt cx="3031124" cy="302750"/>
          </a:xfrm>
        </p:grpSpPr>
        <p:sp>
          <p:nvSpPr>
            <p:cNvPr name="Freeform 32" id="32"/>
            <p:cNvSpPr/>
            <p:nvPr/>
          </p:nvSpPr>
          <p:spPr>
            <a:xfrm flipH="false" flipV="false" rot="0">
              <a:off x="0" y="0"/>
              <a:ext cx="3031124" cy="302750"/>
            </a:xfrm>
            <a:custGeom>
              <a:avLst/>
              <a:gdLst/>
              <a:ahLst/>
              <a:cxnLst/>
              <a:rect r="r" b="b" t="t" l="l"/>
              <a:pathLst>
                <a:path h="302750" w="3031124">
                  <a:moveTo>
                    <a:pt x="35477" y="0"/>
                  </a:moveTo>
                  <a:lnTo>
                    <a:pt x="2995648" y="0"/>
                  </a:lnTo>
                  <a:cubicBezTo>
                    <a:pt x="3015241" y="0"/>
                    <a:pt x="3031124" y="15884"/>
                    <a:pt x="3031124" y="35477"/>
                  </a:cubicBezTo>
                  <a:lnTo>
                    <a:pt x="3031124" y="267273"/>
                  </a:lnTo>
                  <a:cubicBezTo>
                    <a:pt x="3031124" y="276682"/>
                    <a:pt x="3027387" y="285706"/>
                    <a:pt x="3020733" y="292359"/>
                  </a:cubicBezTo>
                  <a:cubicBezTo>
                    <a:pt x="3014080" y="299012"/>
                    <a:pt x="3005057" y="302750"/>
                    <a:pt x="2995648" y="302750"/>
                  </a:cubicBezTo>
                  <a:lnTo>
                    <a:pt x="35477" y="302750"/>
                  </a:lnTo>
                  <a:cubicBezTo>
                    <a:pt x="15884" y="302750"/>
                    <a:pt x="0" y="286866"/>
                    <a:pt x="0" y="267273"/>
                  </a:cubicBezTo>
                  <a:lnTo>
                    <a:pt x="0" y="35477"/>
                  </a:lnTo>
                  <a:cubicBezTo>
                    <a:pt x="0" y="26068"/>
                    <a:pt x="3738" y="17044"/>
                    <a:pt x="10391" y="10391"/>
                  </a:cubicBezTo>
                  <a:cubicBezTo>
                    <a:pt x="17044" y="3738"/>
                    <a:pt x="26068" y="0"/>
                    <a:pt x="35477" y="0"/>
                  </a:cubicBezTo>
                  <a:close/>
                </a:path>
              </a:pathLst>
            </a:custGeom>
            <a:solidFill>
              <a:srgbClr val="FFFFFF">
                <a:alpha val="72941"/>
              </a:srgbClr>
            </a:solidFill>
          </p:spPr>
        </p:sp>
        <p:sp>
          <p:nvSpPr>
            <p:cNvPr name="TextBox 33" id="33"/>
            <p:cNvSpPr txBox="true"/>
            <p:nvPr/>
          </p:nvSpPr>
          <p:spPr>
            <a:xfrm>
              <a:off x="0" y="-38100"/>
              <a:ext cx="3031124" cy="340850"/>
            </a:xfrm>
            <a:prstGeom prst="rect">
              <a:avLst/>
            </a:prstGeom>
          </p:spPr>
          <p:txBody>
            <a:bodyPr anchor="ctr" rtlCol="false" tIns="50800" lIns="50800" bIns="50800" rIns="50800"/>
            <a:lstStyle/>
            <a:p>
              <a:pPr algn="ctr">
                <a:lnSpc>
                  <a:spcPts val="2659"/>
                </a:lnSpc>
                <a:spcBef>
                  <a:spcPct val="0"/>
                </a:spcBef>
              </a:pPr>
            </a:p>
          </p:txBody>
        </p:sp>
      </p:grpSp>
      <p:grpSp>
        <p:nvGrpSpPr>
          <p:cNvPr name="Group 34" id="34"/>
          <p:cNvGrpSpPr/>
          <p:nvPr/>
        </p:nvGrpSpPr>
        <p:grpSpPr>
          <a:xfrm rot="0">
            <a:off x="2051476" y="6540816"/>
            <a:ext cx="1551118" cy="742459"/>
            <a:chOff x="0" y="0"/>
            <a:chExt cx="458404" cy="219420"/>
          </a:xfrm>
        </p:grpSpPr>
        <p:sp>
          <p:nvSpPr>
            <p:cNvPr name="Freeform 35" id="35"/>
            <p:cNvSpPr/>
            <p:nvPr/>
          </p:nvSpPr>
          <p:spPr>
            <a:xfrm flipH="false" flipV="false" rot="0">
              <a:off x="0" y="0"/>
              <a:ext cx="458404" cy="219420"/>
            </a:xfrm>
            <a:custGeom>
              <a:avLst/>
              <a:gdLst/>
              <a:ahLst/>
              <a:cxnLst/>
              <a:rect r="r" b="b" t="t" l="l"/>
              <a:pathLst>
                <a:path h="219420" w="458404">
                  <a:moveTo>
                    <a:pt x="109710" y="0"/>
                  </a:moveTo>
                  <a:lnTo>
                    <a:pt x="348694" y="0"/>
                  </a:lnTo>
                  <a:cubicBezTo>
                    <a:pt x="409285" y="0"/>
                    <a:pt x="458404" y="49119"/>
                    <a:pt x="458404" y="109710"/>
                  </a:cubicBezTo>
                  <a:lnTo>
                    <a:pt x="458404" y="109710"/>
                  </a:lnTo>
                  <a:cubicBezTo>
                    <a:pt x="458404" y="170301"/>
                    <a:pt x="409285" y="219420"/>
                    <a:pt x="348694" y="219420"/>
                  </a:cubicBezTo>
                  <a:lnTo>
                    <a:pt x="109710" y="219420"/>
                  </a:lnTo>
                  <a:cubicBezTo>
                    <a:pt x="49119" y="219420"/>
                    <a:pt x="0" y="170301"/>
                    <a:pt x="0" y="109710"/>
                  </a:cubicBezTo>
                  <a:lnTo>
                    <a:pt x="0" y="109710"/>
                  </a:lnTo>
                  <a:cubicBezTo>
                    <a:pt x="0" y="49119"/>
                    <a:pt x="49119" y="0"/>
                    <a:pt x="109710" y="0"/>
                  </a:cubicBezTo>
                  <a:close/>
                </a:path>
              </a:pathLst>
            </a:custGeom>
            <a:solidFill>
              <a:srgbClr val="D2C1B6"/>
            </a:solidFill>
          </p:spPr>
        </p:sp>
        <p:sp>
          <p:nvSpPr>
            <p:cNvPr name="TextBox 36" id="36"/>
            <p:cNvSpPr txBox="true"/>
            <p:nvPr/>
          </p:nvSpPr>
          <p:spPr>
            <a:xfrm>
              <a:off x="0" y="-38100"/>
              <a:ext cx="458404" cy="257520"/>
            </a:xfrm>
            <a:prstGeom prst="rect">
              <a:avLst/>
            </a:prstGeom>
          </p:spPr>
          <p:txBody>
            <a:bodyPr anchor="ctr" rtlCol="false" tIns="50800" lIns="50800" bIns="50800" rIns="50800"/>
            <a:lstStyle/>
            <a:p>
              <a:pPr algn="ctr">
                <a:lnSpc>
                  <a:spcPts val="2659"/>
                </a:lnSpc>
                <a:spcBef>
                  <a:spcPct val="0"/>
                </a:spcBef>
              </a:pPr>
            </a:p>
          </p:txBody>
        </p:sp>
      </p:grpSp>
      <p:sp>
        <p:nvSpPr>
          <p:cNvPr name="TextBox 37" id="37"/>
          <p:cNvSpPr txBox="true"/>
          <p:nvPr/>
        </p:nvSpPr>
        <p:spPr>
          <a:xfrm rot="0">
            <a:off x="3944983" y="2991497"/>
            <a:ext cx="7535887" cy="1415286"/>
          </a:xfrm>
          <a:prstGeom prst="rect">
            <a:avLst/>
          </a:prstGeom>
        </p:spPr>
        <p:txBody>
          <a:bodyPr anchor="t" rtlCol="false" tIns="0" lIns="0" bIns="0" rIns="0">
            <a:spAutoFit/>
          </a:bodyPr>
          <a:lstStyle/>
          <a:p>
            <a:pPr algn="l">
              <a:lnSpc>
                <a:spcPts val="3745"/>
              </a:lnSpc>
            </a:pPr>
            <a:r>
              <a:rPr lang="en-US" sz="2675">
                <a:solidFill>
                  <a:srgbClr val="7B4C26"/>
                </a:solidFill>
                <a:latin typeface="Libre Baskerville"/>
                <a:ea typeface="Libre Baskerville"/>
                <a:cs typeface="Libre Baskerville"/>
                <a:sym typeface="Libre Baskerville"/>
              </a:rPr>
              <a:t>K</a:t>
            </a:r>
            <a:r>
              <a:rPr lang="en-US" sz="2675">
                <a:solidFill>
                  <a:srgbClr val="7B4C26"/>
                </a:solidFill>
                <a:latin typeface="Libre Baskerville"/>
                <a:ea typeface="Libre Baskerville"/>
                <a:cs typeface="Libre Baskerville"/>
                <a:sym typeface="Libre Baskerville"/>
              </a:rPr>
              <a:t>epolisian Daerah — menjadi variabel kunci untuk pengelompokan dan perbandingan antarwilayah.</a:t>
            </a:r>
          </a:p>
        </p:txBody>
      </p:sp>
      <p:sp>
        <p:nvSpPr>
          <p:cNvPr name="TextBox 38" id="38"/>
          <p:cNvSpPr txBox="true"/>
          <p:nvPr/>
        </p:nvSpPr>
        <p:spPr>
          <a:xfrm rot="0">
            <a:off x="3944983" y="4729742"/>
            <a:ext cx="7535887" cy="1415286"/>
          </a:xfrm>
          <a:prstGeom prst="rect">
            <a:avLst/>
          </a:prstGeom>
        </p:spPr>
        <p:txBody>
          <a:bodyPr anchor="t" rtlCol="false" tIns="0" lIns="0" bIns="0" rIns="0">
            <a:spAutoFit/>
          </a:bodyPr>
          <a:lstStyle/>
          <a:p>
            <a:pPr algn="l">
              <a:lnSpc>
                <a:spcPts val="3745"/>
              </a:lnSpc>
            </a:pPr>
            <a:r>
              <a:rPr lang="en-US" sz="2675">
                <a:solidFill>
                  <a:srgbClr val="7B4C26"/>
                </a:solidFill>
                <a:latin typeface="Libre Baskerville"/>
                <a:ea typeface="Libre Baskerville"/>
                <a:cs typeface="Libre Baskerville"/>
                <a:sym typeface="Libre Baskerville"/>
              </a:rPr>
              <a:t>Jumlah Tindak Pidana (2021 &amp; 2022)  mengindikasikan volume kriminalitas di setiap wilayah.</a:t>
            </a:r>
          </a:p>
        </p:txBody>
      </p:sp>
      <p:sp>
        <p:nvSpPr>
          <p:cNvPr name="TextBox 39" id="39"/>
          <p:cNvSpPr txBox="true"/>
          <p:nvPr/>
        </p:nvSpPr>
        <p:spPr>
          <a:xfrm rot="0">
            <a:off x="3944983" y="6413508"/>
            <a:ext cx="7535887" cy="1415286"/>
          </a:xfrm>
          <a:prstGeom prst="rect">
            <a:avLst/>
          </a:prstGeom>
        </p:spPr>
        <p:txBody>
          <a:bodyPr anchor="t" rtlCol="false" tIns="0" lIns="0" bIns="0" rIns="0">
            <a:spAutoFit/>
          </a:bodyPr>
          <a:lstStyle/>
          <a:p>
            <a:pPr algn="l">
              <a:lnSpc>
                <a:spcPts val="3745"/>
              </a:lnSpc>
            </a:pPr>
            <a:r>
              <a:rPr lang="en-US" sz="2675">
                <a:solidFill>
                  <a:srgbClr val="7B4C26"/>
                </a:solidFill>
                <a:latin typeface="Libre Baskerville"/>
                <a:ea typeface="Libre Baskerville"/>
                <a:cs typeface="Libre Baskerville"/>
                <a:sym typeface="Libre Baskerville"/>
              </a:rPr>
              <a:t>Penyel</a:t>
            </a:r>
            <a:r>
              <a:rPr lang="en-US" sz="2675">
                <a:solidFill>
                  <a:srgbClr val="7B4C26"/>
                </a:solidFill>
                <a:latin typeface="Libre Baskerville"/>
                <a:ea typeface="Libre Baskerville"/>
                <a:cs typeface="Libre Baskerville"/>
                <a:sym typeface="Libre Baskerville"/>
              </a:rPr>
              <a:t>esaian tindak pidana (2021 &amp; 2022) mengindikasikan efektivitas penanganan kasus oleh aparat.</a:t>
            </a:r>
          </a:p>
        </p:txBody>
      </p:sp>
      <p:sp>
        <p:nvSpPr>
          <p:cNvPr name="TextBox 40" id="40"/>
          <p:cNvSpPr txBox="true"/>
          <p:nvPr/>
        </p:nvSpPr>
        <p:spPr>
          <a:xfrm rot="0">
            <a:off x="2530869" y="3183334"/>
            <a:ext cx="592332" cy="529841"/>
          </a:xfrm>
          <a:prstGeom prst="rect">
            <a:avLst/>
          </a:prstGeom>
        </p:spPr>
        <p:txBody>
          <a:bodyPr anchor="t" rtlCol="false" tIns="0" lIns="0" bIns="0" rIns="0">
            <a:spAutoFit/>
          </a:bodyPr>
          <a:lstStyle/>
          <a:p>
            <a:pPr algn="l">
              <a:lnSpc>
                <a:spcPts val="4396"/>
              </a:lnSpc>
            </a:pPr>
            <a:r>
              <a:rPr lang="en-US" sz="3140" b="true">
                <a:solidFill>
                  <a:srgbClr val="7B4C26"/>
                </a:solidFill>
                <a:latin typeface="Libre Baskerville Bold"/>
                <a:ea typeface="Libre Baskerville Bold"/>
                <a:cs typeface="Libre Baskerville Bold"/>
                <a:sym typeface="Libre Baskerville Bold"/>
              </a:rPr>
              <a:t>01</a:t>
            </a:r>
          </a:p>
        </p:txBody>
      </p:sp>
      <p:sp>
        <p:nvSpPr>
          <p:cNvPr name="TextBox 41" id="41"/>
          <p:cNvSpPr txBox="true"/>
          <p:nvPr/>
        </p:nvSpPr>
        <p:spPr>
          <a:xfrm rot="0">
            <a:off x="2530869" y="4852326"/>
            <a:ext cx="592332" cy="529841"/>
          </a:xfrm>
          <a:prstGeom prst="rect">
            <a:avLst/>
          </a:prstGeom>
        </p:spPr>
        <p:txBody>
          <a:bodyPr anchor="t" rtlCol="false" tIns="0" lIns="0" bIns="0" rIns="0">
            <a:spAutoFit/>
          </a:bodyPr>
          <a:lstStyle/>
          <a:p>
            <a:pPr algn="l">
              <a:lnSpc>
                <a:spcPts val="4396"/>
              </a:lnSpc>
            </a:pPr>
            <a:r>
              <a:rPr lang="en-US" sz="3140" b="true">
                <a:solidFill>
                  <a:srgbClr val="7B4C26"/>
                </a:solidFill>
                <a:latin typeface="Libre Baskerville Bold"/>
                <a:ea typeface="Libre Baskerville Bold"/>
                <a:cs typeface="Libre Baskerville Bold"/>
                <a:sym typeface="Libre Baskerville Bold"/>
              </a:rPr>
              <a:t>02</a:t>
            </a:r>
          </a:p>
        </p:txBody>
      </p:sp>
      <p:sp>
        <p:nvSpPr>
          <p:cNvPr name="TextBox 42" id="42"/>
          <p:cNvSpPr txBox="true"/>
          <p:nvPr/>
        </p:nvSpPr>
        <p:spPr>
          <a:xfrm rot="0">
            <a:off x="2530869" y="6615776"/>
            <a:ext cx="592332" cy="529841"/>
          </a:xfrm>
          <a:prstGeom prst="rect">
            <a:avLst/>
          </a:prstGeom>
        </p:spPr>
        <p:txBody>
          <a:bodyPr anchor="t" rtlCol="false" tIns="0" lIns="0" bIns="0" rIns="0">
            <a:spAutoFit/>
          </a:bodyPr>
          <a:lstStyle/>
          <a:p>
            <a:pPr algn="l">
              <a:lnSpc>
                <a:spcPts val="4396"/>
              </a:lnSpc>
            </a:pPr>
            <a:r>
              <a:rPr lang="en-US" sz="3140" b="true">
                <a:solidFill>
                  <a:srgbClr val="7B4C26"/>
                </a:solidFill>
                <a:latin typeface="Libre Baskerville Bold"/>
                <a:ea typeface="Libre Baskerville Bold"/>
                <a:cs typeface="Libre Baskerville Bold"/>
                <a:sym typeface="Libre Baskerville Bold"/>
              </a:rPr>
              <a:t>03</a:t>
            </a:r>
          </a:p>
        </p:txBody>
      </p:sp>
      <p:grpSp>
        <p:nvGrpSpPr>
          <p:cNvPr name="Group 43" id="43"/>
          <p:cNvGrpSpPr/>
          <p:nvPr/>
        </p:nvGrpSpPr>
        <p:grpSpPr>
          <a:xfrm rot="0">
            <a:off x="16035642" y="9258300"/>
            <a:ext cx="982727" cy="636341"/>
            <a:chOff x="0" y="0"/>
            <a:chExt cx="258825" cy="167596"/>
          </a:xfrm>
        </p:grpSpPr>
        <p:sp>
          <p:nvSpPr>
            <p:cNvPr name="Freeform 44" id="44"/>
            <p:cNvSpPr/>
            <p:nvPr/>
          </p:nvSpPr>
          <p:spPr>
            <a:xfrm flipH="false" flipV="false" rot="0">
              <a:off x="0" y="0"/>
              <a:ext cx="258825" cy="167596"/>
            </a:xfrm>
            <a:custGeom>
              <a:avLst/>
              <a:gdLst/>
              <a:ahLst/>
              <a:cxnLst/>
              <a:rect r="r" b="b" t="t" l="l"/>
              <a:pathLst>
                <a:path h="167596" w="258825">
                  <a:moveTo>
                    <a:pt x="83798" y="0"/>
                  </a:moveTo>
                  <a:lnTo>
                    <a:pt x="175027" y="0"/>
                  </a:lnTo>
                  <a:cubicBezTo>
                    <a:pt x="221308" y="0"/>
                    <a:pt x="258825" y="37518"/>
                    <a:pt x="258825" y="83798"/>
                  </a:cubicBezTo>
                  <a:lnTo>
                    <a:pt x="258825" y="83798"/>
                  </a:lnTo>
                  <a:cubicBezTo>
                    <a:pt x="258825" y="130078"/>
                    <a:pt x="221308" y="167596"/>
                    <a:pt x="175027" y="167596"/>
                  </a:cubicBezTo>
                  <a:lnTo>
                    <a:pt x="83798" y="167596"/>
                  </a:lnTo>
                  <a:cubicBezTo>
                    <a:pt x="37518" y="167596"/>
                    <a:pt x="0" y="130078"/>
                    <a:pt x="0" y="83798"/>
                  </a:cubicBezTo>
                  <a:lnTo>
                    <a:pt x="0" y="83798"/>
                  </a:lnTo>
                  <a:cubicBezTo>
                    <a:pt x="0" y="37518"/>
                    <a:pt x="37518" y="0"/>
                    <a:pt x="83798" y="0"/>
                  </a:cubicBezTo>
                  <a:close/>
                </a:path>
              </a:pathLst>
            </a:custGeom>
            <a:solidFill>
              <a:srgbClr val="D2C1B6"/>
            </a:solidFill>
            <a:ln w="38100" cap="rnd">
              <a:solidFill>
                <a:srgbClr val="FFFFFF"/>
              </a:solidFill>
              <a:prstDash val="solid"/>
              <a:round/>
            </a:ln>
          </p:spPr>
        </p:sp>
        <p:sp>
          <p:nvSpPr>
            <p:cNvPr name="TextBox 45" id="45"/>
            <p:cNvSpPr txBox="true"/>
            <p:nvPr/>
          </p:nvSpPr>
          <p:spPr>
            <a:xfrm>
              <a:off x="0" y="-38100"/>
              <a:ext cx="258825" cy="205696"/>
            </a:xfrm>
            <a:prstGeom prst="rect">
              <a:avLst/>
            </a:prstGeom>
          </p:spPr>
          <p:txBody>
            <a:bodyPr anchor="ctr" rtlCol="false" tIns="50800" lIns="50800" bIns="50800" rIns="50800"/>
            <a:lstStyle/>
            <a:p>
              <a:pPr algn="ctr">
                <a:lnSpc>
                  <a:spcPts val="2659"/>
                </a:lnSpc>
                <a:spcBef>
                  <a:spcPct val="0"/>
                </a:spcBef>
              </a:pPr>
            </a:p>
          </p:txBody>
        </p:sp>
      </p:grpSp>
      <p:sp>
        <p:nvSpPr>
          <p:cNvPr name="TextBox 46" id="46"/>
          <p:cNvSpPr txBox="true"/>
          <p:nvPr/>
        </p:nvSpPr>
        <p:spPr>
          <a:xfrm rot="0">
            <a:off x="16181145" y="9248775"/>
            <a:ext cx="691721" cy="484444"/>
          </a:xfrm>
          <a:prstGeom prst="rect">
            <a:avLst/>
          </a:prstGeom>
        </p:spPr>
        <p:txBody>
          <a:bodyPr anchor="t" rtlCol="false" tIns="0" lIns="0" bIns="0" rIns="0">
            <a:spAutoFit/>
          </a:bodyPr>
          <a:lstStyle/>
          <a:p>
            <a:pPr algn="ctr">
              <a:lnSpc>
                <a:spcPts val="4028"/>
              </a:lnSpc>
            </a:pPr>
            <a:r>
              <a:rPr lang="en-US" sz="2877" b="true">
                <a:solidFill>
                  <a:srgbClr val="1B3C53"/>
                </a:solidFill>
                <a:latin typeface="Playfair Display Bold"/>
                <a:ea typeface="Playfair Display Bold"/>
                <a:cs typeface="Playfair Display Bold"/>
                <a:sym typeface="Playfair Display Bold"/>
              </a:rPr>
              <a:t>05</a:t>
            </a:r>
          </a:p>
        </p:txBody>
      </p:sp>
      <p:grpSp>
        <p:nvGrpSpPr>
          <p:cNvPr name="Group 47" id="47"/>
          <p:cNvGrpSpPr/>
          <p:nvPr/>
        </p:nvGrpSpPr>
        <p:grpSpPr>
          <a:xfrm rot="0">
            <a:off x="17067659" y="9415048"/>
            <a:ext cx="2388751" cy="318171"/>
            <a:chOff x="0" y="0"/>
            <a:chExt cx="629136" cy="83798"/>
          </a:xfrm>
        </p:grpSpPr>
        <p:sp>
          <p:nvSpPr>
            <p:cNvPr name="Freeform 48" id="48"/>
            <p:cNvSpPr/>
            <p:nvPr/>
          </p:nvSpPr>
          <p:spPr>
            <a:xfrm flipH="false" flipV="false" rot="0">
              <a:off x="0" y="0"/>
              <a:ext cx="629136" cy="83798"/>
            </a:xfrm>
            <a:custGeom>
              <a:avLst/>
              <a:gdLst/>
              <a:ahLst/>
              <a:cxnLst/>
              <a:rect r="r" b="b" t="t" l="l"/>
              <a:pathLst>
                <a:path h="83798" w="629136">
                  <a:moveTo>
                    <a:pt x="41899" y="0"/>
                  </a:moveTo>
                  <a:lnTo>
                    <a:pt x="587237" y="0"/>
                  </a:lnTo>
                  <a:cubicBezTo>
                    <a:pt x="598349" y="0"/>
                    <a:pt x="609007" y="4414"/>
                    <a:pt x="616864" y="12272"/>
                  </a:cubicBezTo>
                  <a:cubicBezTo>
                    <a:pt x="624722" y="20130"/>
                    <a:pt x="629136" y="30787"/>
                    <a:pt x="629136" y="41899"/>
                  </a:cubicBezTo>
                  <a:lnTo>
                    <a:pt x="629136" y="41899"/>
                  </a:lnTo>
                  <a:cubicBezTo>
                    <a:pt x="629136" y="53011"/>
                    <a:pt x="624722" y="63668"/>
                    <a:pt x="616864" y="71526"/>
                  </a:cubicBezTo>
                  <a:cubicBezTo>
                    <a:pt x="609007" y="79384"/>
                    <a:pt x="598349" y="83798"/>
                    <a:pt x="587237" y="83798"/>
                  </a:cubicBezTo>
                  <a:lnTo>
                    <a:pt x="41899" y="83798"/>
                  </a:lnTo>
                  <a:cubicBezTo>
                    <a:pt x="30787" y="83798"/>
                    <a:pt x="20130" y="79384"/>
                    <a:pt x="12272" y="71526"/>
                  </a:cubicBezTo>
                  <a:cubicBezTo>
                    <a:pt x="4414" y="63668"/>
                    <a:pt x="0" y="53011"/>
                    <a:pt x="0" y="41899"/>
                  </a:cubicBezTo>
                  <a:lnTo>
                    <a:pt x="0" y="41899"/>
                  </a:lnTo>
                  <a:cubicBezTo>
                    <a:pt x="0" y="30787"/>
                    <a:pt x="4414" y="20130"/>
                    <a:pt x="12272" y="12272"/>
                  </a:cubicBezTo>
                  <a:cubicBezTo>
                    <a:pt x="20130" y="4414"/>
                    <a:pt x="30787" y="0"/>
                    <a:pt x="41899" y="0"/>
                  </a:cubicBezTo>
                  <a:close/>
                </a:path>
              </a:pathLst>
            </a:custGeom>
            <a:solidFill>
              <a:srgbClr val="D2C1B6"/>
            </a:solidFill>
            <a:ln w="38100" cap="rnd">
              <a:solidFill>
                <a:srgbClr val="FFFFFF"/>
              </a:solidFill>
              <a:prstDash val="solid"/>
              <a:round/>
            </a:ln>
          </p:spPr>
        </p:sp>
        <p:sp>
          <p:nvSpPr>
            <p:cNvPr name="TextBox 49" id="49"/>
            <p:cNvSpPr txBox="true"/>
            <p:nvPr/>
          </p:nvSpPr>
          <p:spPr>
            <a:xfrm>
              <a:off x="0" y="-38100"/>
              <a:ext cx="629136" cy="121898"/>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98058" y="1028700"/>
            <a:ext cx="1965454" cy="835863"/>
            <a:chOff x="0" y="0"/>
            <a:chExt cx="517651" cy="220145"/>
          </a:xfrm>
        </p:grpSpPr>
        <p:sp>
          <p:nvSpPr>
            <p:cNvPr name="Freeform 3" id="3"/>
            <p:cNvSpPr/>
            <p:nvPr/>
          </p:nvSpPr>
          <p:spPr>
            <a:xfrm flipH="false" flipV="false" rot="0">
              <a:off x="0" y="0"/>
              <a:ext cx="517651" cy="220145"/>
            </a:xfrm>
            <a:custGeom>
              <a:avLst/>
              <a:gdLst/>
              <a:ahLst/>
              <a:cxnLst/>
              <a:rect r="r" b="b" t="t" l="l"/>
              <a:pathLst>
                <a:path h="220145" w="517651">
                  <a:moveTo>
                    <a:pt x="0" y="0"/>
                  </a:moveTo>
                  <a:lnTo>
                    <a:pt x="517651" y="0"/>
                  </a:lnTo>
                  <a:lnTo>
                    <a:pt x="517651" y="220145"/>
                  </a:lnTo>
                  <a:lnTo>
                    <a:pt x="0" y="220145"/>
                  </a:lnTo>
                  <a:close/>
                </a:path>
              </a:pathLst>
            </a:custGeom>
            <a:solidFill>
              <a:srgbClr val="456882"/>
            </a:solidFill>
          </p:spPr>
        </p:sp>
        <p:sp>
          <p:nvSpPr>
            <p:cNvPr name="TextBox 4" id="4"/>
            <p:cNvSpPr txBox="true"/>
            <p:nvPr/>
          </p:nvSpPr>
          <p:spPr>
            <a:xfrm>
              <a:off x="0" y="-38100"/>
              <a:ext cx="517651" cy="258245"/>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true" flipV="false" rot="0">
            <a:off x="6223842" y="2867756"/>
            <a:ext cx="5549063" cy="5937714"/>
          </a:xfrm>
          <a:custGeom>
            <a:avLst/>
            <a:gdLst/>
            <a:ahLst/>
            <a:cxnLst/>
            <a:rect r="r" b="b" t="t" l="l"/>
            <a:pathLst>
              <a:path h="5937714" w="5549063">
                <a:moveTo>
                  <a:pt x="5549064" y="0"/>
                </a:moveTo>
                <a:lnTo>
                  <a:pt x="0" y="0"/>
                </a:lnTo>
                <a:lnTo>
                  <a:pt x="0" y="5937714"/>
                </a:lnTo>
                <a:lnTo>
                  <a:pt x="5549064" y="5937714"/>
                </a:lnTo>
                <a:lnTo>
                  <a:pt x="5549064"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10800000">
            <a:off x="-298058" y="9957995"/>
            <a:ext cx="19149961" cy="1013842"/>
            <a:chOff x="0" y="0"/>
            <a:chExt cx="5043611" cy="267020"/>
          </a:xfrm>
        </p:grpSpPr>
        <p:sp>
          <p:nvSpPr>
            <p:cNvPr name="Freeform 7" id="7"/>
            <p:cNvSpPr/>
            <p:nvPr/>
          </p:nvSpPr>
          <p:spPr>
            <a:xfrm flipH="false" flipV="false" rot="0">
              <a:off x="0" y="0"/>
              <a:ext cx="5043611" cy="267020"/>
            </a:xfrm>
            <a:custGeom>
              <a:avLst/>
              <a:gdLst/>
              <a:ahLst/>
              <a:cxnLst/>
              <a:rect r="r" b="b" t="t" l="l"/>
              <a:pathLst>
                <a:path h="267020" w="5043611">
                  <a:moveTo>
                    <a:pt x="0" y="0"/>
                  </a:moveTo>
                  <a:lnTo>
                    <a:pt x="5043611" y="0"/>
                  </a:lnTo>
                  <a:lnTo>
                    <a:pt x="5043611" y="267020"/>
                  </a:lnTo>
                  <a:lnTo>
                    <a:pt x="0" y="267020"/>
                  </a:lnTo>
                  <a:close/>
                </a:path>
              </a:pathLst>
            </a:custGeom>
            <a:solidFill>
              <a:srgbClr val="456882"/>
            </a:solidFill>
          </p:spPr>
        </p:sp>
        <p:sp>
          <p:nvSpPr>
            <p:cNvPr name="TextBox 8" id="8"/>
            <p:cNvSpPr txBox="true"/>
            <p:nvPr/>
          </p:nvSpPr>
          <p:spPr>
            <a:xfrm>
              <a:off x="0" y="-38100"/>
              <a:ext cx="5043611" cy="30512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10800000">
            <a:off x="-576606" y="-602312"/>
            <a:ext cx="19149961" cy="1013842"/>
            <a:chOff x="0" y="0"/>
            <a:chExt cx="5043611" cy="267020"/>
          </a:xfrm>
        </p:grpSpPr>
        <p:sp>
          <p:nvSpPr>
            <p:cNvPr name="Freeform 10" id="10"/>
            <p:cNvSpPr/>
            <p:nvPr/>
          </p:nvSpPr>
          <p:spPr>
            <a:xfrm flipH="false" flipV="false" rot="0">
              <a:off x="0" y="0"/>
              <a:ext cx="5043611" cy="267020"/>
            </a:xfrm>
            <a:custGeom>
              <a:avLst/>
              <a:gdLst/>
              <a:ahLst/>
              <a:cxnLst/>
              <a:rect r="r" b="b" t="t" l="l"/>
              <a:pathLst>
                <a:path h="267020" w="5043611">
                  <a:moveTo>
                    <a:pt x="0" y="0"/>
                  </a:moveTo>
                  <a:lnTo>
                    <a:pt x="5043611" y="0"/>
                  </a:lnTo>
                  <a:lnTo>
                    <a:pt x="5043611" y="267020"/>
                  </a:lnTo>
                  <a:lnTo>
                    <a:pt x="0" y="267020"/>
                  </a:lnTo>
                  <a:close/>
                </a:path>
              </a:pathLst>
            </a:custGeom>
            <a:solidFill>
              <a:srgbClr val="D2C1B6"/>
            </a:solidFill>
          </p:spPr>
        </p:sp>
        <p:sp>
          <p:nvSpPr>
            <p:cNvPr name="TextBox 11" id="11"/>
            <p:cNvSpPr txBox="true"/>
            <p:nvPr/>
          </p:nvSpPr>
          <p:spPr>
            <a:xfrm>
              <a:off x="0" y="-38100"/>
              <a:ext cx="5043611" cy="305120"/>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0">
            <a:off x="14667490" y="-670567"/>
            <a:ext cx="2760657" cy="4114800"/>
          </a:xfrm>
          <a:custGeom>
            <a:avLst/>
            <a:gdLst/>
            <a:ahLst/>
            <a:cxnLst/>
            <a:rect r="r" b="b" t="t" l="l"/>
            <a:pathLst>
              <a:path h="4114800" w="2760657">
                <a:moveTo>
                  <a:pt x="0" y="0"/>
                </a:moveTo>
                <a:lnTo>
                  <a:pt x="2760657" y="0"/>
                </a:lnTo>
                <a:lnTo>
                  <a:pt x="2760657"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576606" y="8336262"/>
            <a:ext cx="4306351" cy="3468570"/>
          </a:xfrm>
          <a:custGeom>
            <a:avLst/>
            <a:gdLst/>
            <a:ahLst/>
            <a:cxnLst/>
            <a:rect r="r" b="b" t="t" l="l"/>
            <a:pathLst>
              <a:path h="3468570" w="4306351">
                <a:moveTo>
                  <a:pt x="0" y="0"/>
                </a:moveTo>
                <a:lnTo>
                  <a:pt x="4306350" y="0"/>
                </a:lnTo>
                <a:lnTo>
                  <a:pt x="4306350" y="3468569"/>
                </a:lnTo>
                <a:lnTo>
                  <a:pt x="0" y="3468569"/>
                </a:lnTo>
                <a:lnTo>
                  <a:pt x="0" y="0"/>
                </a:lnTo>
                <a:close/>
              </a:path>
            </a:pathLst>
          </a:custGeom>
          <a:blipFill>
            <a:blip r:embed="rId6">
              <a:alphaModFix amt="43000"/>
              <a:extLst>
                <a:ext uri="{96DAC541-7B7A-43D3-8B79-37D633B846F1}">
                  <asvg:svgBlip xmlns:asvg="http://schemas.microsoft.com/office/drawing/2016/SVG/main" r:embed="rId7"/>
                </a:ext>
              </a:extLst>
            </a:blip>
            <a:stretch>
              <a:fillRect l="0" t="0" r="0" b="0"/>
            </a:stretch>
          </a:blipFill>
        </p:spPr>
      </p:sp>
      <p:sp>
        <p:nvSpPr>
          <p:cNvPr name="TextBox 14" id="14"/>
          <p:cNvSpPr txBox="true"/>
          <p:nvPr/>
        </p:nvSpPr>
        <p:spPr>
          <a:xfrm rot="0">
            <a:off x="1895518" y="563930"/>
            <a:ext cx="12543373" cy="1483881"/>
          </a:xfrm>
          <a:prstGeom prst="rect">
            <a:avLst/>
          </a:prstGeom>
        </p:spPr>
        <p:txBody>
          <a:bodyPr anchor="t" rtlCol="false" tIns="0" lIns="0" bIns="0" rIns="0">
            <a:spAutoFit/>
          </a:bodyPr>
          <a:lstStyle/>
          <a:p>
            <a:pPr algn="l">
              <a:lnSpc>
                <a:spcPts val="12186"/>
              </a:lnSpc>
            </a:pPr>
            <a:r>
              <a:rPr lang="en-US" sz="8704" b="true">
                <a:solidFill>
                  <a:srgbClr val="1B3C53"/>
                </a:solidFill>
                <a:latin typeface="Playfair Display Bold"/>
                <a:ea typeface="Playfair Display Bold"/>
                <a:cs typeface="Playfair Display Bold"/>
                <a:sym typeface="Playfair Display Bold"/>
              </a:rPr>
              <a:t>POSTENSI ANALISIS</a:t>
            </a:r>
          </a:p>
        </p:txBody>
      </p:sp>
      <p:sp>
        <p:nvSpPr>
          <p:cNvPr name="TextBox 15" id="15"/>
          <p:cNvSpPr txBox="true"/>
          <p:nvPr/>
        </p:nvSpPr>
        <p:spPr>
          <a:xfrm rot="0">
            <a:off x="6223842" y="3267806"/>
            <a:ext cx="2076699" cy="834083"/>
          </a:xfrm>
          <a:prstGeom prst="rect">
            <a:avLst/>
          </a:prstGeom>
        </p:spPr>
        <p:txBody>
          <a:bodyPr anchor="t" rtlCol="false" tIns="0" lIns="0" bIns="0" rIns="0">
            <a:spAutoFit/>
          </a:bodyPr>
          <a:lstStyle/>
          <a:p>
            <a:pPr algn="ctr">
              <a:lnSpc>
                <a:spcPts val="3376"/>
              </a:lnSpc>
            </a:pPr>
            <a:r>
              <a:rPr lang="en-US" b="true" sz="2412">
                <a:solidFill>
                  <a:srgbClr val="FFFFFF"/>
                </a:solidFill>
                <a:latin typeface="Libre Baskerville Bold"/>
                <a:ea typeface="Libre Baskerville Bold"/>
                <a:cs typeface="Libre Baskerville Bold"/>
                <a:sym typeface="Libre Baskerville Bold"/>
              </a:rPr>
              <a:t>POTENSI</a:t>
            </a:r>
          </a:p>
          <a:p>
            <a:pPr algn="ctr">
              <a:lnSpc>
                <a:spcPts val="3376"/>
              </a:lnSpc>
            </a:pPr>
            <a:r>
              <a:rPr lang="en-US" b="true" sz="2412">
                <a:solidFill>
                  <a:srgbClr val="FFFFFF"/>
                </a:solidFill>
                <a:latin typeface="Libre Baskerville Bold"/>
                <a:ea typeface="Libre Baskerville Bold"/>
                <a:cs typeface="Libre Baskerville Bold"/>
                <a:sym typeface="Libre Baskerville Bold"/>
              </a:rPr>
              <a:t>SATU</a:t>
            </a:r>
          </a:p>
        </p:txBody>
      </p:sp>
      <p:sp>
        <p:nvSpPr>
          <p:cNvPr name="TextBox 16" id="16"/>
          <p:cNvSpPr txBox="true"/>
          <p:nvPr/>
        </p:nvSpPr>
        <p:spPr>
          <a:xfrm rot="0">
            <a:off x="9696207" y="4707409"/>
            <a:ext cx="2076699" cy="834083"/>
          </a:xfrm>
          <a:prstGeom prst="rect">
            <a:avLst/>
          </a:prstGeom>
        </p:spPr>
        <p:txBody>
          <a:bodyPr anchor="t" rtlCol="false" tIns="0" lIns="0" bIns="0" rIns="0">
            <a:spAutoFit/>
          </a:bodyPr>
          <a:lstStyle/>
          <a:p>
            <a:pPr algn="ctr">
              <a:lnSpc>
                <a:spcPts val="3376"/>
              </a:lnSpc>
            </a:pPr>
            <a:r>
              <a:rPr lang="en-US" b="true" sz="2412">
                <a:solidFill>
                  <a:srgbClr val="1B3C53"/>
                </a:solidFill>
                <a:latin typeface="Libre Baskerville Bold"/>
                <a:ea typeface="Libre Baskerville Bold"/>
                <a:cs typeface="Libre Baskerville Bold"/>
                <a:sym typeface="Libre Baskerville Bold"/>
              </a:rPr>
              <a:t>POTENSI</a:t>
            </a:r>
          </a:p>
          <a:p>
            <a:pPr algn="ctr">
              <a:lnSpc>
                <a:spcPts val="3376"/>
              </a:lnSpc>
            </a:pPr>
            <a:r>
              <a:rPr lang="en-US" b="true" sz="2412">
                <a:solidFill>
                  <a:srgbClr val="1B3C53"/>
                </a:solidFill>
                <a:latin typeface="Libre Baskerville Bold"/>
                <a:ea typeface="Libre Baskerville Bold"/>
                <a:cs typeface="Libre Baskerville Bold"/>
                <a:sym typeface="Libre Baskerville Bold"/>
              </a:rPr>
              <a:t>DUA</a:t>
            </a:r>
          </a:p>
        </p:txBody>
      </p:sp>
      <p:sp>
        <p:nvSpPr>
          <p:cNvPr name="TextBox 17" id="17"/>
          <p:cNvSpPr txBox="true"/>
          <p:nvPr/>
        </p:nvSpPr>
        <p:spPr>
          <a:xfrm rot="0">
            <a:off x="6223842" y="6073429"/>
            <a:ext cx="2076699" cy="834083"/>
          </a:xfrm>
          <a:prstGeom prst="rect">
            <a:avLst/>
          </a:prstGeom>
        </p:spPr>
        <p:txBody>
          <a:bodyPr anchor="t" rtlCol="false" tIns="0" lIns="0" bIns="0" rIns="0">
            <a:spAutoFit/>
          </a:bodyPr>
          <a:lstStyle/>
          <a:p>
            <a:pPr algn="ctr">
              <a:lnSpc>
                <a:spcPts val="3376"/>
              </a:lnSpc>
            </a:pPr>
            <a:r>
              <a:rPr lang="en-US" b="true" sz="2412">
                <a:solidFill>
                  <a:srgbClr val="1B3C53"/>
                </a:solidFill>
                <a:latin typeface="Libre Baskerville Bold"/>
                <a:ea typeface="Libre Baskerville Bold"/>
                <a:cs typeface="Libre Baskerville Bold"/>
                <a:sym typeface="Libre Baskerville Bold"/>
              </a:rPr>
              <a:t>POTENSI</a:t>
            </a:r>
          </a:p>
          <a:p>
            <a:pPr algn="ctr">
              <a:lnSpc>
                <a:spcPts val="3376"/>
              </a:lnSpc>
            </a:pPr>
            <a:r>
              <a:rPr lang="en-US" b="true" sz="2412">
                <a:solidFill>
                  <a:srgbClr val="1B3C53"/>
                </a:solidFill>
                <a:latin typeface="Libre Baskerville Bold"/>
                <a:ea typeface="Libre Baskerville Bold"/>
                <a:cs typeface="Libre Baskerville Bold"/>
                <a:sym typeface="Libre Baskerville Bold"/>
              </a:rPr>
              <a:t>TIGA</a:t>
            </a:r>
          </a:p>
        </p:txBody>
      </p:sp>
      <p:sp>
        <p:nvSpPr>
          <p:cNvPr name="TextBox 18" id="18"/>
          <p:cNvSpPr txBox="true"/>
          <p:nvPr/>
        </p:nvSpPr>
        <p:spPr>
          <a:xfrm rot="0">
            <a:off x="9696207" y="7446206"/>
            <a:ext cx="2076699" cy="834083"/>
          </a:xfrm>
          <a:prstGeom prst="rect">
            <a:avLst/>
          </a:prstGeom>
        </p:spPr>
        <p:txBody>
          <a:bodyPr anchor="t" rtlCol="false" tIns="0" lIns="0" bIns="0" rIns="0">
            <a:spAutoFit/>
          </a:bodyPr>
          <a:lstStyle/>
          <a:p>
            <a:pPr algn="ctr">
              <a:lnSpc>
                <a:spcPts val="3376"/>
              </a:lnSpc>
            </a:pPr>
            <a:r>
              <a:rPr lang="en-US" b="true" sz="2412">
                <a:solidFill>
                  <a:srgbClr val="FFFFFF"/>
                </a:solidFill>
                <a:latin typeface="Libre Baskerville Bold"/>
                <a:ea typeface="Libre Baskerville Bold"/>
                <a:cs typeface="Libre Baskerville Bold"/>
                <a:sym typeface="Libre Baskerville Bold"/>
              </a:rPr>
              <a:t>POTENSI</a:t>
            </a:r>
          </a:p>
          <a:p>
            <a:pPr algn="ctr">
              <a:lnSpc>
                <a:spcPts val="3376"/>
              </a:lnSpc>
            </a:pPr>
            <a:r>
              <a:rPr lang="en-US" b="true" sz="2412">
                <a:solidFill>
                  <a:srgbClr val="FFFFFF"/>
                </a:solidFill>
                <a:latin typeface="Libre Baskerville Bold"/>
                <a:ea typeface="Libre Baskerville Bold"/>
                <a:cs typeface="Libre Baskerville Bold"/>
                <a:sym typeface="Libre Baskerville Bold"/>
              </a:rPr>
              <a:t>EMPAT</a:t>
            </a:r>
          </a:p>
        </p:txBody>
      </p:sp>
      <p:sp>
        <p:nvSpPr>
          <p:cNvPr name="TextBox 19" id="19"/>
          <p:cNvSpPr txBox="true"/>
          <p:nvPr/>
        </p:nvSpPr>
        <p:spPr>
          <a:xfrm rot="0">
            <a:off x="12370927" y="4308379"/>
            <a:ext cx="5085903" cy="1262708"/>
          </a:xfrm>
          <a:prstGeom prst="rect">
            <a:avLst/>
          </a:prstGeom>
        </p:spPr>
        <p:txBody>
          <a:bodyPr anchor="t" rtlCol="false" tIns="0" lIns="0" bIns="0" rIns="0">
            <a:spAutoFit/>
          </a:bodyPr>
          <a:lstStyle/>
          <a:p>
            <a:pPr algn="l">
              <a:lnSpc>
                <a:spcPts val="3376"/>
              </a:lnSpc>
            </a:pPr>
            <a:r>
              <a:rPr lang="en-US" sz="2412">
                <a:solidFill>
                  <a:srgbClr val="7B4C26"/>
                </a:solidFill>
                <a:latin typeface="Libre Baskerville"/>
                <a:ea typeface="Libre Baskerville"/>
                <a:cs typeface="Libre Baskerville"/>
                <a:sym typeface="Libre Baskerville"/>
              </a:rPr>
              <a:t>M</a:t>
            </a:r>
            <a:r>
              <a:rPr lang="en-US" sz="2412">
                <a:solidFill>
                  <a:srgbClr val="7B4C26"/>
                </a:solidFill>
                <a:latin typeface="Libre Baskerville"/>
                <a:ea typeface="Libre Baskerville"/>
                <a:cs typeface="Libre Baskerville"/>
                <a:sym typeface="Libre Baskerville"/>
              </a:rPr>
              <a:t>enyusun ranking wilayah berdasarkan jumlah kasus atau tingkat penyelesaian.</a:t>
            </a:r>
          </a:p>
        </p:txBody>
      </p:sp>
      <p:sp>
        <p:nvSpPr>
          <p:cNvPr name="TextBox 20" id="20"/>
          <p:cNvSpPr txBox="true"/>
          <p:nvPr/>
        </p:nvSpPr>
        <p:spPr>
          <a:xfrm rot="0">
            <a:off x="12330462" y="7114137"/>
            <a:ext cx="5085903" cy="2119958"/>
          </a:xfrm>
          <a:prstGeom prst="rect">
            <a:avLst/>
          </a:prstGeom>
        </p:spPr>
        <p:txBody>
          <a:bodyPr anchor="t" rtlCol="false" tIns="0" lIns="0" bIns="0" rIns="0">
            <a:spAutoFit/>
          </a:bodyPr>
          <a:lstStyle/>
          <a:p>
            <a:pPr algn="l">
              <a:lnSpc>
                <a:spcPts val="3376"/>
              </a:lnSpc>
            </a:pPr>
            <a:r>
              <a:rPr lang="en-US" sz="2412">
                <a:solidFill>
                  <a:srgbClr val="7B4C26"/>
                </a:solidFill>
                <a:latin typeface="Libre Baskerville"/>
                <a:ea typeface="Libre Baskerville"/>
                <a:cs typeface="Libre Baskerville"/>
                <a:sym typeface="Libre Baskerville"/>
              </a:rPr>
              <a:t>M</a:t>
            </a:r>
            <a:r>
              <a:rPr lang="en-US" sz="2412">
                <a:solidFill>
                  <a:srgbClr val="7B4C26"/>
                </a:solidFill>
                <a:latin typeface="Libre Baskerville"/>
                <a:ea typeface="Libre Baskerville"/>
                <a:cs typeface="Libre Baskerville"/>
                <a:sym typeface="Libre Baskerville"/>
              </a:rPr>
              <a:t>enganalisis korelasi antara jumlah kasus dengan tingkat penyelesaian, misalnya untuk melihat indikasi keterbatasan kapasitas aparat.</a:t>
            </a:r>
          </a:p>
        </p:txBody>
      </p:sp>
      <p:sp>
        <p:nvSpPr>
          <p:cNvPr name="TextBox 21" id="21"/>
          <p:cNvSpPr txBox="true"/>
          <p:nvPr/>
        </p:nvSpPr>
        <p:spPr>
          <a:xfrm rot="0">
            <a:off x="831170" y="2829656"/>
            <a:ext cx="5085903" cy="1262708"/>
          </a:xfrm>
          <a:prstGeom prst="rect">
            <a:avLst/>
          </a:prstGeom>
        </p:spPr>
        <p:txBody>
          <a:bodyPr anchor="t" rtlCol="false" tIns="0" lIns="0" bIns="0" rIns="0">
            <a:spAutoFit/>
          </a:bodyPr>
          <a:lstStyle/>
          <a:p>
            <a:pPr algn="r">
              <a:lnSpc>
                <a:spcPts val="3376"/>
              </a:lnSpc>
            </a:pPr>
            <a:r>
              <a:rPr lang="en-US" sz="2412">
                <a:solidFill>
                  <a:srgbClr val="7B4C26"/>
                </a:solidFill>
                <a:latin typeface="Libre Baskerville"/>
                <a:ea typeface="Libre Baskerville"/>
                <a:cs typeface="Libre Baskerville"/>
                <a:sym typeface="Libre Baskerville"/>
              </a:rPr>
              <a:t>M</a:t>
            </a:r>
            <a:r>
              <a:rPr lang="en-US" sz="2412">
                <a:solidFill>
                  <a:srgbClr val="7B4C26"/>
                </a:solidFill>
                <a:latin typeface="Libre Baskerville"/>
                <a:ea typeface="Libre Baskerville"/>
                <a:cs typeface="Libre Baskerville"/>
                <a:sym typeface="Libre Baskerville"/>
              </a:rPr>
              <a:t>embandingkan tren jumlah kasus dan tingkat penyelesaian dari 2021 ke 2022.</a:t>
            </a:r>
          </a:p>
        </p:txBody>
      </p:sp>
      <p:sp>
        <p:nvSpPr>
          <p:cNvPr name="TextBox 22" id="22"/>
          <p:cNvSpPr txBox="true"/>
          <p:nvPr/>
        </p:nvSpPr>
        <p:spPr>
          <a:xfrm rot="0">
            <a:off x="831170" y="5644804"/>
            <a:ext cx="5085903" cy="2977208"/>
          </a:xfrm>
          <a:prstGeom prst="rect">
            <a:avLst/>
          </a:prstGeom>
        </p:spPr>
        <p:txBody>
          <a:bodyPr anchor="t" rtlCol="false" tIns="0" lIns="0" bIns="0" rIns="0">
            <a:spAutoFit/>
          </a:bodyPr>
          <a:lstStyle/>
          <a:p>
            <a:pPr algn="r">
              <a:lnSpc>
                <a:spcPts val="3376"/>
              </a:lnSpc>
            </a:pPr>
            <a:r>
              <a:rPr lang="en-US" sz="2412">
                <a:solidFill>
                  <a:srgbClr val="7B4C26"/>
                </a:solidFill>
                <a:latin typeface="Libre Baskerville"/>
                <a:ea typeface="Libre Baskerville"/>
                <a:cs typeface="Libre Baskerville"/>
                <a:sym typeface="Libre Baskerville"/>
              </a:rPr>
              <a:t>Mengel</a:t>
            </a:r>
            <a:r>
              <a:rPr lang="en-US" sz="2412">
                <a:solidFill>
                  <a:srgbClr val="7B4C26"/>
                </a:solidFill>
                <a:latin typeface="Libre Baskerville"/>
                <a:ea typeface="Libre Baskerville"/>
                <a:cs typeface="Libre Baskerville"/>
                <a:sym typeface="Libre Baskerville"/>
              </a:rPr>
              <a:t>ompokkan wilayah ke dalam kategori tertentu (misalnya kasus tinggi–penanganan baik vs kasus rendah–penanganan lemah) sebagai bahan rekomendasi kebijakan.</a:t>
            </a:r>
          </a:p>
        </p:txBody>
      </p:sp>
      <p:grpSp>
        <p:nvGrpSpPr>
          <p:cNvPr name="Group 23" id="23"/>
          <p:cNvGrpSpPr/>
          <p:nvPr/>
        </p:nvGrpSpPr>
        <p:grpSpPr>
          <a:xfrm rot="0">
            <a:off x="16035642" y="9258300"/>
            <a:ext cx="982727" cy="636341"/>
            <a:chOff x="0" y="0"/>
            <a:chExt cx="258825" cy="167596"/>
          </a:xfrm>
        </p:grpSpPr>
        <p:sp>
          <p:nvSpPr>
            <p:cNvPr name="Freeform 24" id="24"/>
            <p:cNvSpPr/>
            <p:nvPr/>
          </p:nvSpPr>
          <p:spPr>
            <a:xfrm flipH="false" flipV="false" rot="0">
              <a:off x="0" y="0"/>
              <a:ext cx="258825" cy="167596"/>
            </a:xfrm>
            <a:custGeom>
              <a:avLst/>
              <a:gdLst/>
              <a:ahLst/>
              <a:cxnLst/>
              <a:rect r="r" b="b" t="t" l="l"/>
              <a:pathLst>
                <a:path h="167596" w="258825">
                  <a:moveTo>
                    <a:pt x="83798" y="0"/>
                  </a:moveTo>
                  <a:lnTo>
                    <a:pt x="175027" y="0"/>
                  </a:lnTo>
                  <a:cubicBezTo>
                    <a:pt x="221308" y="0"/>
                    <a:pt x="258825" y="37518"/>
                    <a:pt x="258825" y="83798"/>
                  </a:cubicBezTo>
                  <a:lnTo>
                    <a:pt x="258825" y="83798"/>
                  </a:lnTo>
                  <a:cubicBezTo>
                    <a:pt x="258825" y="130078"/>
                    <a:pt x="221308" y="167596"/>
                    <a:pt x="175027" y="167596"/>
                  </a:cubicBezTo>
                  <a:lnTo>
                    <a:pt x="83798" y="167596"/>
                  </a:lnTo>
                  <a:cubicBezTo>
                    <a:pt x="37518" y="167596"/>
                    <a:pt x="0" y="130078"/>
                    <a:pt x="0" y="83798"/>
                  </a:cubicBezTo>
                  <a:lnTo>
                    <a:pt x="0" y="83798"/>
                  </a:lnTo>
                  <a:cubicBezTo>
                    <a:pt x="0" y="37518"/>
                    <a:pt x="37518" y="0"/>
                    <a:pt x="83798" y="0"/>
                  </a:cubicBezTo>
                  <a:close/>
                </a:path>
              </a:pathLst>
            </a:custGeom>
            <a:solidFill>
              <a:srgbClr val="D2C1B6"/>
            </a:solidFill>
            <a:ln w="38100" cap="rnd">
              <a:solidFill>
                <a:srgbClr val="FFFFFF"/>
              </a:solidFill>
              <a:prstDash val="solid"/>
              <a:round/>
            </a:ln>
          </p:spPr>
        </p:sp>
        <p:sp>
          <p:nvSpPr>
            <p:cNvPr name="TextBox 25" id="25"/>
            <p:cNvSpPr txBox="true"/>
            <p:nvPr/>
          </p:nvSpPr>
          <p:spPr>
            <a:xfrm>
              <a:off x="0" y="-38100"/>
              <a:ext cx="258825" cy="205696"/>
            </a:xfrm>
            <a:prstGeom prst="rect">
              <a:avLst/>
            </a:prstGeom>
          </p:spPr>
          <p:txBody>
            <a:bodyPr anchor="ctr" rtlCol="false" tIns="50800" lIns="50800" bIns="50800" rIns="50800"/>
            <a:lstStyle/>
            <a:p>
              <a:pPr algn="ctr">
                <a:lnSpc>
                  <a:spcPts val="2659"/>
                </a:lnSpc>
                <a:spcBef>
                  <a:spcPct val="0"/>
                </a:spcBef>
              </a:pPr>
            </a:p>
          </p:txBody>
        </p:sp>
      </p:grpSp>
      <p:sp>
        <p:nvSpPr>
          <p:cNvPr name="TextBox 26" id="26"/>
          <p:cNvSpPr txBox="true"/>
          <p:nvPr/>
        </p:nvSpPr>
        <p:spPr>
          <a:xfrm rot="0">
            <a:off x="16181145" y="9248775"/>
            <a:ext cx="691721" cy="484444"/>
          </a:xfrm>
          <a:prstGeom prst="rect">
            <a:avLst/>
          </a:prstGeom>
        </p:spPr>
        <p:txBody>
          <a:bodyPr anchor="t" rtlCol="false" tIns="0" lIns="0" bIns="0" rIns="0">
            <a:spAutoFit/>
          </a:bodyPr>
          <a:lstStyle/>
          <a:p>
            <a:pPr algn="ctr">
              <a:lnSpc>
                <a:spcPts val="4028"/>
              </a:lnSpc>
            </a:pPr>
            <a:r>
              <a:rPr lang="en-US" sz="2877" b="true">
                <a:solidFill>
                  <a:srgbClr val="1B3C53"/>
                </a:solidFill>
                <a:latin typeface="Playfair Display Bold"/>
                <a:ea typeface="Playfair Display Bold"/>
                <a:cs typeface="Playfair Display Bold"/>
                <a:sym typeface="Playfair Display Bold"/>
              </a:rPr>
              <a:t>06</a:t>
            </a:r>
          </a:p>
        </p:txBody>
      </p:sp>
      <p:grpSp>
        <p:nvGrpSpPr>
          <p:cNvPr name="Group 27" id="27"/>
          <p:cNvGrpSpPr/>
          <p:nvPr/>
        </p:nvGrpSpPr>
        <p:grpSpPr>
          <a:xfrm rot="0">
            <a:off x="17067659" y="9415048"/>
            <a:ext cx="2388751" cy="318171"/>
            <a:chOff x="0" y="0"/>
            <a:chExt cx="629136" cy="83798"/>
          </a:xfrm>
        </p:grpSpPr>
        <p:sp>
          <p:nvSpPr>
            <p:cNvPr name="Freeform 28" id="28"/>
            <p:cNvSpPr/>
            <p:nvPr/>
          </p:nvSpPr>
          <p:spPr>
            <a:xfrm flipH="false" flipV="false" rot="0">
              <a:off x="0" y="0"/>
              <a:ext cx="629136" cy="83798"/>
            </a:xfrm>
            <a:custGeom>
              <a:avLst/>
              <a:gdLst/>
              <a:ahLst/>
              <a:cxnLst/>
              <a:rect r="r" b="b" t="t" l="l"/>
              <a:pathLst>
                <a:path h="83798" w="629136">
                  <a:moveTo>
                    <a:pt x="41899" y="0"/>
                  </a:moveTo>
                  <a:lnTo>
                    <a:pt x="587237" y="0"/>
                  </a:lnTo>
                  <a:cubicBezTo>
                    <a:pt x="598349" y="0"/>
                    <a:pt x="609007" y="4414"/>
                    <a:pt x="616864" y="12272"/>
                  </a:cubicBezTo>
                  <a:cubicBezTo>
                    <a:pt x="624722" y="20130"/>
                    <a:pt x="629136" y="30787"/>
                    <a:pt x="629136" y="41899"/>
                  </a:cubicBezTo>
                  <a:lnTo>
                    <a:pt x="629136" y="41899"/>
                  </a:lnTo>
                  <a:cubicBezTo>
                    <a:pt x="629136" y="53011"/>
                    <a:pt x="624722" y="63668"/>
                    <a:pt x="616864" y="71526"/>
                  </a:cubicBezTo>
                  <a:cubicBezTo>
                    <a:pt x="609007" y="79384"/>
                    <a:pt x="598349" y="83798"/>
                    <a:pt x="587237" y="83798"/>
                  </a:cubicBezTo>
                  <a:lnTo>
                    <a:pt x="41899" y="83798"/>
                  </a:lnTo>
                  <a:cubicBezTo>
                    <a:pt x="30787" y="83798"/>
                    <a:pt x="20130" y="79384"/>
                    <a:pt x="12272" y="71526"/>
                  </a:cubicBezTo>
                  <a:cubicBezTo>
                    <a:pt x="4414" y="63668"/>
                    <a:pt x="0" y="53011"/>
                    <a:pt x="0" y="41899"/>
                  </a:cubicBezTo>
                  <a:lnTo>
                    <a:pt x="0" y="41899"/>
                  </a:lnTo>
                  <a:cubicBezTo>
                    <a:pt x="0" y="30787"/>
                    <a:pt x="4414" y="20130"/>
                    <a:pt x="12272" y="12272"/>
                  </a:cubicBezTo>
                  <a:cubicBezTo>
                    <a:pt x="20130" y="4414"/>
                    <a:pt x="30787" y="0"/>
                    <a:pt x="41899" y="0"/>
                  </a:cubicBezTo>
                  <a:close/>
                </a:path>
              </a:pathLst>
            </a:custGeom>
            <a:solidFill>
              <a:srgbClr val="D2C1B6"/>
            </a:solidFill>
            <a:ln w="38100" cap="rnd">
              <a:solidFill>
                <a:srgbClr val="FFFFFF"/>
              </a:solidFill>
              <a:prstDash val="solid"/>
              <a:round/>
            </a:ln>
          </p:spPr>
        </p:sp>
        <p:sp>
          <p:nvSpPr>
            <p:cNvPr name="TextBox 29" id="29"/>
            <p:cNvSpPr txBox="true"/>
            <p:nvPr/>
          </p:nvSpPr>
          <p:spPr>
            <a:xfrm>
              <a:off x="0" y="-38100"/>
              <a:ext cx="629136" cy="121898"/>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34753" y="-403557"/>
            <a:ext cx="20829275" cy="986808"/>
            <a:chOff x="0" y="0"/>
            <a:chExt cx="5485900" cy="259900"/>
          </a:xfrm>
        </p:grpSpPr>
        <p:sp>
          <p:nvSpPr>
            <p:cNvPr name="Freeform 3" id="3"/>
            <p:cNvSpPr/>
            <p:nvPr/>
          </p:nvSpPr>
          <p:spPr>
            <a:xfrm flipH="false" flipV="false" rot="0">
              <a:off x="0" y="0"/>
              <a:ext cx="5485900" cy="259900"/>
            </a:xfrm>
            <a:custGeom>
              <a:avLst/>
              <a:gdLst/>
              <a:ahLst/>
              <a:cxnLst/>
              <a:rect r="r" b="b" t="t" l="l"/>
              <a:pathLst>
                <a:path h="259900" w="5485900">
                  <a:moveTo>
                    <a:pt x="0" y="0"/>
                  </a:moveTo>
                  <a:lnTo>
                    <a:pt x="5485900" y="0"/>
                  </a:lnTo>
                  <a:lnTo>
                    <a:pt x="5485900" y="259900"/>
                  </a:lnTo>
                  <a:lnTo>
                    <a:pt x="0" y="259900"/>
                  </a:lnTo>
                  <a:close/>
                </a:path>
              </a:pathLst>
            </a:custGeom>
            <a:solidFill>
              <a:srgbClr val="D2C1B6"/>
            </a:solidFill>
          </p:spPr>
        </p:sp>
        <p:sp>
          <p:nvSpPr>
            <p:cNvPr name="TextBox 4" id="4"/>
            <p:cNvSpPr txBox="true"/>
            <p:nvPr/>
          </p:nvSpPr>
          <p:spPr>
            <a:xfrm>
              <a:off x="0" y="-38100"/>
              <a:ext cx="5485900" cy="2980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4217908" y="2759881"/>
            <a:ext cx="14989820" cy="2068717"/>
            <a:chOff x="0" y="0"/>
            <a:chExt cx="3947936" cy="544847"/>
          </a:xfrm>
        </p:grpSpPr>
        <p:sp>
          <p:nvSpPr>
            <p:cNvPr name="Freeform 6" id="6"/>
            <p:cNvSpPr/>
            <p:nvPr/>
          </p:nvSpPr>
          <p:spPr>
            <a:xfrm flipH="false" flipV="false" rot="0">
              <a:off x="0" y="0"/>
              <a:ext cx="3947936" cy="544847"/>
            </a:xfrm>
            <a:custGeom>
              <a:avLst/>
              <a:gdLst/>
              <a:ahLst/>
              <a:cxnLst/>
              <a:rect r="r" b="b" t="t" l="l"/>
              <a:pathLst>
                <a:path h="544847" w="3947936">
                  <a:moveTo>
                    <a:pt x="0" y="0"/>
                  </a:moveTo>
                  <a:lnTo>
                    <a:pt x="3947936" y="0"/>
                  </a:lnTo>
                  <a:lnTo>
                    <a:pt x="3947936" y="544847"/>
                  </a:lnTo>
                  <a:lnTo>
                    <a:pt x="0" y="544847"/>
                  </a:lnTo>
                  <a:close/>
                </a:path>
              </a:pathLst>
            </a:custGeom>
            <a:solidFill>
              <a:srgbClr val="456882"/>
            </a:solidFill>
          </p:spPr>
        </p:sp>
        <p:sp>
          <p:nvSpPr>
            <p:cNvPr name="TextBox 7" id="7"/>
            <p:cNvSpPr txBox="true"/>
            <p:nvPr/>
          </p:nvSpPr>
          <p:spPr>
            <a:xfrm>
              <a:off x="0" y="-38100"/>
              <a:ext cx="3947936" cy="582947"/>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4217908" y="7301612"/>
            <a:ext cx="15062001" cy="1889224"/>
            <a:chOff x="0" y="0"/>
            <a:chExt cx="3966947" cy="497573"/>
          </a:xfrm>
        </p:grpSpPr>
        <p:sp>
          <p:nvSpPr>
            <p:cNvPr name="Freeform 9" id="9"/>
            <p:cNvSpPr/>
            <p:nvPr/>
          </p:nvSpPr>
          <p:spPr>
            <a:xfrm flipH="false" flipV="false" rot="0">
              <a:off x="0" y="0"/>
              <a:ext cx="3966947" cy="497573"/>
            </a:xfrm>
            <a:custGeom>
              <a:avLst/>
              <a:gdLst/>
              <a:ahLst/>
              <a:cxnLst/>
              <a:rect r="r" b="b" t="t" l="l"/>
              <a:pathLst>
                <a:path h="497573" w="3966947">
                  <a:moveTo>
                    <a:pt x="0" y="0"/>
                  </a:moveTo>
                  <a:lnTo>
                    <a:pt x="3966947" y="0"/>
                  </a:lnTo>
                  <a:lnTo>
                    <a:pt x="3966947" y="497573"/>
                  </a:lnTo>
                  <a:lnTo>
                    <a:pt x="0" y="497573"/>
                  </a:lnTo>
                  <a:close/>
                </a:path>
              </a:pathLst>
            </a:custGeom>
            <a:solidFill>
              <a:srgbClr val="456882"/>
            </a:solidFill>
          </p:spPr>
        </p:sp>
        <p:sp>
          <p:nvSpPr>
            <p:cNvPr name="TextBox 10" id="10"/>
            <p:cNvSpPr txBox="true"/>
            <p:nvPr/>
          </p:nvSpPr>
          <p:spPr>
            <a:xfrm>
              <a:off x="0" y="-38100"/>
              <a:ext cx="3966947" cy="535673"/>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935515" y="3180668"/>
            <a:ext cx="1931905" cy="1257494"/>
          </a:xfrm>
          <a:custGeom>
            <a:avLst/>
            <a:gdLst/>
            <a:ahLst/>
            <a:cxnLst/>
            <a:rect r="r" b="b" t="t" l="l"/>
            <a:pathLst>
              <a:path h="1257494" w="1931905">
                <a:moveTo>
                  <a:pt x="0" y="0"/>
                </a:moveTo>
                <a:lnTo>
                  <a:pt x="1931905" y="0"/>
                </a:lnTo>
                <a:lnTo>
                  <a:pt x="1931905" y="1257495"/>
                </a:lnTo>
                <a:lnTo>
                  <a:pt x="0" y="12574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2177443" y="7445570"/>
            <a:ext cx="1068510" cy="1601310"/>
          </a:xfrm>
          <a:custGeom>
            <a:avLst/>
            <a:gdLst/>
            <a:ahLst/>
            <a:cxnLst/>
            <a:rect r="r" b="b" t="t" l="l"/>
            <a:pathLst>
              <a:path h="1601310" w="1068510">
                <a:moveTo>
                  <a:pt x="0" y="0"/>
                </a:moveTo>
                <a:lnTo>
                  <a:pt x="1068510" y="0"/>
                </a:lnTo>
                <a:lnTo>
                  <a:pt x="1068510" y="1601309"/>
                </a:lnTo>
                <a:lnTo>
                  <a:pt x="0" y="16013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1987673" y="5221758"/>
            <a:ext cx="1448050" cy="1448050"/>
          </a:xfrm>
          <a:custGeom>
            <a:avLst/>
            <a:gdLst/>
            <a:ahLst/>
            <a:cxnLst/>
            <a:rect r="r" b="b" t="t" l="l"/>
            <a:pathLst>
              <a:path h="1448050" w="1448050">
                <a:moveTo>
                  <a:pt x="0" y="0"/>
                </a:moveTo>
                <a:lnTo>
                  <a:pt x="1448050" y="0"/>
                </a:lnTo>
                <a:lnTo>
                  <a:pt x="1448050" y="1448050"/>
                </a:lnTo>
                <a:lnTo>
                  <a:pt x="0" y="144805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true" flipV="true" rot="-5400000">
            <a:off x="83987" y="-487544"/>
            <a:ext cx="2398284" cy="2566257"/>
          </a:xfrm>
          <a:custGeom>
            <a:avLst/>
            <a:gdLst/>
            <a:ahLst/>
            <a:cxnLst/>
            <a:rect r="r" b="b" t="t" l="l"/>
            <a:pathLst>
              <a:path h="2566257" w="2398284">
                <a:moveTo>
                  <a:pt x="2398283" y="2566257"/>
                </a:moveTo>
                <a:lnTo>
                  <a:pt x="0" y="2566257"/>
                </a:lnTo>
                <a:lnTo>
                  <a:pt x="0" y="0"/>
                </a:lnTo>
                <a:lnTo>
                  <a:pt x="2398283" y="0"/>
                </a:lnTo>
                <a:lnTo>
                  <a:pt x="2398283" y="2566257"/>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5" id="15"/>
          <p:cNvSpPr txBox="true"/>
          <p:nvPr/>
        </p:nvSpPr>
        <p:spPr>
          <a:xfrm rot="0">
            <a:off x="4793606" y="2887549"/>
            <a:ext cx="13014893" cy="1691333"/>
          </a:xfrm>
          <a:prstGeom prst="rect">
            <a:avLst/>
          </a:prstGeom>
        </p:spPr>
        <p:txBody>
          <a:bodyPr anchor="t" rtlCol="false" tIns="0" lIns="0" bIns="0" rIns="0">
            <a:spAutoFit/>
          </a:bodyPr>
          <a:lstStyle/>
          <a:p>
            <a:pPr algn="just">
              <a:lnSpc>
                <a:spcPts val="3376"/>
              </a:lnSpc>
            </a:pPr>
            <a:r>
              <a:rPr lang="en-US" sz="2412">
                <a:solidFill>
                  <a:srgbClr val="FFFFFF"/>
                </a:solidFill>
                <a:latin typeface="Libre Baskerville"/>
                <a:ea typeface="Libre Baskerville"/>
                <a:cs typeface="Libre Baskerville"/>
                <a:sym typeface="Libre Baskerville"/>
              </a:rPr>
              <a:t>Dit</a:t>
            </a:r>
            <a:r>
              <a:rPr lang="en-US" sz="2412">
                <a:solidFill>
                  <a:srgbClr val="FFFFFF"/>
                </a:solidFill>
                <a:latin typeface="Libre Baskerville"/>
                <a:ea typeface="Libre Baskerville"/>
                <a:cs typeface="Libre Baskerville"/>
                <a:sym typeface="Libre Baskerville"/>
              </a:rPr>
              <a:t>emukan nilai anomali: persentase penyelesaian di Jawa Timur tahun 2022 mencapai 103,37%, yang secara logis tidak mungkin untuk sebuah persentase. Kemungkinan penyebabnya adalah kasus tunggakan tahun sebelumnya yang ikut terhitung, atau kesalahan input dari sumber data.</a:t>
            </a:r>
          </a:p>
        </p:txBody>
      </p:sp>
      <p:sp>
        <p:nvSpPr>
          <p:cNvPr name="TextBox 16" id="16"/>
          <p:cNvSpPr txBox="true"/>
          <p:nvPr/>
        </p:nvSpPr>
        <p:spPr>
          <a:xfrm rot="0">
            <a:off x="4648662" y="7601371"/>
            <a:ext cx="13014893" cy="1262708"/>
          </a:xfrm>
          <a:prstGeom prst="rect">
            <a:avLst/>
          </a:prstGeom>
        </p:spPr>
        <p:txBody>
          <a:bodyPr anchor="t" rtlCol="false" tIns="0" lIns="0" bIns="0" rIns="0">
            <a:spAutoFit/>
          </a:bodyPr>
          <a:lstStyle/>
          <a:p>
            <a:pPr algn="just">
              <a:lnSpc>
                <a:spcPts val="3376"/>
              </a:lnSpc>
            </a:pPr>
            <a:r>
              <a:rPr lang="en-US" sz="2412">
                <a:solidFill>
                  <a:srgbClr val="FFFFFF"/>
                </a:solidFill>
                <a:latin typeface="Libre Baskerville"/>
                <a:ea typeface="Libre Baskerville"/>
                <a:cs typeface="Libre Baskerville"/>
                <a:sym typeface="Libre Baskerville"/>
              </a:rPr>
              <a:t>T</a:t>
            </a:r>
            <a:r>
              <a:rPr lang="en-US" sz="2412">
                <a:solidFill>
                  <a:srgbClr val="FFFFFF"/>
                </a:solidFill>
                <a:latin typeface="Libre Baskerville"/>
                <a:ea typeface="Libre Baskerville"/>
                <a:cs typeface="Libre Baskerville"/>
                <a:sym typeface="Libre Baskerville"/>
              </a:rPr>
              <a:t>idak tersedia data pendukung seperti jumlah personel, anggaran, atau kondisi sosial-ekonomi wilayah yang sebenarnya relevan untuk analisis penyebab lebih mendalam.</a:t>
            </a:r>
          </a:p>
        </p:txBody>
      </p:sp>
      <p:sp>
        <p:nvSpPr>
          <p:cNvPr name="TextBox 17" id="17"/>
          <p:cNvSpPr txBox="true"/>
          <p:nvPr/>
        </p:nvSpPr>
        <p:spPr>
          <a:xfrm rot="0">
            <a:off x="4244407" y="5509692"/>
            <a:ext cx="13014893" cy="834083"/>
          </a:xfrm>
          <a:prstGeom prst="rect">
            <a:avLst/>
          </a:prstGeom>
        </p:spPr>
        <p:txBody>
          <a:bodyPr anchor="t" rtlCol="false" tIns="0" lIns="0" bIns="0" rIns="0">
            <a:spAutoFit/>
          </a:bodyPr>
          <a:lstStyle/>
          <a:p>
            <a:pPr algn="just">
              <a:lnSpc>
                <a:spcPts val="3376"/>
              </a:lnSpc>
            </a:pPr>
            <a:r>
              <a:rPr lang="en-US" sz="2412">
                <a:solidFill>
                  <a:srgbClr val="1B3C53"/>
                </a:solidFill>
                <a:latin typeface="Libre Baskerville"/>
                <a:ea typeface="Libre Baskerville"/>
                <a:cs typeface="Libre Baskerville"/>
                <a:sym typeface="Libre Baskerville"/>
              </a:rPr>
              <a:t>T</a:t>
            </a:r>
            <a:r>
              <a:rPr lang="en-US" sz="2412">
                <a:solidFill>
                  <a:srgbClr val="1B3C53"/>
                </a:solidFill>
                <a:latin typeface="Libre Baskerville"/>
                <a:ea typeface="Libre Baskerville"/>
                <a:cs typeface="Libre Baskerville"/>
                <a:sym typeface="Libre Baskerville"/>
              </a:rPr>
              <a:t>idak ada metadata sumber resmi dalam file, sehingga keabsahan data perlu diverifikasi lebih lanjut.</a:t>
            </a:r>
          </a:p>
        </p:txBody>
      </p:sp>
      <p:grpSp>
        <p:nvGrpSpPr>
          <p:cNvPr name="Group 18" id="18"/>
          <p:cNvGrpSpPr/>
          <p:nvPr/>
        </p:nvGrpSpPr>
        <p:grpSpPr>
          <a:xfrm rot="0">
            <a:off x="16035642" y="9258300"/>
            <a:ext cx="982727" cy="636341"/>
            <a:chOff x="0" y="0"/>
            <a:chExt cx="258825" cy="167596"/>
          </a:xfrm>
        </p:grpSpPr>
        <p:sp>
          <p:nvSpPr>
            <p:cNvPr name="Freeform 19" id="19"/>
            <p:cNvSpPr/>
            <p:nvPr/>
          </p:nvSpPr>
          <p:spPr>
            <a:xfrm flipH="false" flipV="false" rot="0">
              <a:off x="0" y="0"/>
              <a:ext cx="258825" cy="167596"/>
            </a:xfrm>
            <a:custGeom>
              <a:avLst/>
              <a:gdLst/>
              <a:ahLst/>
              <a:cxnLst/>
              <a:rect r="r" b="b" t="t" l="l"/>
              <a:pathLst>
                <a:path h="167596" w="258825">
                  <a:moveTo>
                    <a:pt x="83798" y="0"/>
                  </a:moveTo>
                  <a:lnTo>
                    <a:pt x="175027" y="0"/>
                  </a:lnTo>
                  <a:cubicBezTo>
                    <a:pt x="221308" y="0"/>
                    <a:pt x="258825" y="37518"/>
                    <a:pt x="258825" y="83798"/>
                  </a:cubicBezTo>
                  <a:lnTo>
                    <a:pt x="258825" y="83798"/>
                  </a:lnTo>
                  <a:cubicBezTo>
                    <a:pt x="258825" y="130078"/>
                    <a:pt x="221308" y="167596"/>
                    <a:pt x="175027" y="167596"/>
                  </a:cubicBezTo>
                  <a:lnTo>
                    <a:pt x="83798" y="167596"/>
                  </a:lnTo>
                  <a:cubicBezTo>
                    <a:pt x="37518" y="167596"/>
                    <a:pt x="0" y="130078"/>
                    <a:pt x="0" y="83798"/>
                  </a:cubicBezTo>
                  <a:lnTo>
                    <a:pt x="0" y="83798"/>
                  </a:lnTo>
                  <a:cubicBezTo>
                    <a:pt x="0" y="37518"/>
                    <a:pt x="37518" y="0"/>
                    <a:pt x="83798" y="0"/>
                  </a:cubicBezTo>
                  <a:close/>
                </a:path>
              </a:pathLst>
            </a:custGeom>
            <a:solidFill>
              <a:srgbClr val="D2C1B6"/>
            </a:solidFill>
            <a:ln w="38100" cap="rnd">
              <a:solidFill>
                <a:srgbClr val="FFFFFF"/>
              </a:solidFill>
              <a:prstDash val="solid"/>
              <a:round/>
            </a:ln>
          </p:spPr>
        </p:sp>
        <p:sp>
          <p:nvSpPr>
            <p:cNvPr name="TextBox 20" id="20"/>
            <p:cNvSpPr txBox="true"/>
            <p:nvPr/>
          </p:nvSpPr>
          <p:spPr>
            <a:xfrm>
              <a:off x="0" y="-38100"/>
              <a:ext cx="258825" cy="205696"/>
            </a:xfrm>
            <a:prstGeom prst="rect">
              <a:avLst/>
            </a:prstGeom>
          </p:spPr>
          <p:txBody>
            <a:bodyPr anchor="ctr" rtlCol="false" tIns="50800" lIns="50800" bIns="50800" rIns="50800"/>
            <a:lstStyle/>
            <a:p>
              <a:pPr algn="ctr">
                <a:lnSpc>
                  <a:spcPts val="2659"/>
                </a:lnSpc>
                <a:spcBef>
                  <a:spcPct val="0"/>
                </a:spcBef>
              </a:pPr>
            </a:p>
          </p:txBody>
        </p:sp>
      </p:grpSp>
      <p:sp>
        <p:nvSpPr>
          <p:cNvPr name="TextBox 21" id="21"/>
          <p:cNvSpPr txBox="true"/>
          <p:nvPr/>
        </p:nvSpPr>
        <p:spPr>
          <a:xfrm rot="0">
            <a:off x="16181145" y="9248775"/>
            <a:ext cx="691721" cy="484444"/>
          </a:xfrm>
          <a:prstGeom prst="rect">
            <a:avLst/>
          </a:prstGeom>
        </p:spPr>
        <p:txBody>
          <a:bodyPr anchor="t" rtlCol="false" tIns="0" lIns="0" bIns="0" rIns="0">
            <a:spAutoFit/>
          </a:bodyPr>
          <a:lstStyle/>
          <a:p>
            <a:pPr algn="ctr">
              <a:lnSpc>
                <a:spcPts val="4028"/>
              </a:lnSpc>
            </a:pPr>
            <a:r>
              <a:rPr lang="en-US" sz="2877" b="true">
                <a:solidFill>
                  <a:srgbClr val="1B3C53"/>
                </a:solidFill>
                <a:latin typeface="Playfair Display Bold"/>
                <a:ea typeface="Playfair Display Bold"/>
                <a:cs typeface="Playfair Display Bold"/>
                <a:sym typeface="Playfair Display Bold"/>
              </a:rPr>
              <a:t>07</a:t>
            </a:r>
          </a:p>
        </p:txBody>
      </p:sp>
      <p:grpSp>
        <p:nvGrpSpPr>
          <p:cNvPr name="Group 22" id="22"/>
          <p:cNvGrpSpPr/>
          <p:nvPr/>
        </p:nvGrpSpPr>
        <p:grpSpPr>
          <a:xfrm rot="0">
            <a:off x="17067659" y="9415048"/>
            <a:ext cx="2388751" cy="318171"/>
            <a:chOff x="0" y="0"/>
            <a:chExt cx="629136" cy="83798"/>
          </a:xfrm>
        </p:grpSpPr>
        <p:sp>
          <p:nvSpPr>
            <p:cNvPr name="Freeform 23" id="23"/>
            <p:cNvSpPr/>
            <p:nvPr/>
          </p:nvSpPr>
          <p:spPr>
            <a:xfrm flipH="false" flipV="false" rot="0">
              <a:off x="0" y="0"/>
              <a:ext cx="629136" cy="83798"/>
            </a:xfrm>
            <a:custGeom>
              <a:avLst/>
              <a:gdLst/>
              <a:ahLst/>
              <a:cxnLst/>
              <a:rect r="r" b="b" t="t" l="l"/>
              <a:pathLst>
                <a:path h="83798" w="629136">
                  <a:moveTo>
                    <a:pt x="41899" y="0"/>
                  </a:moveTo>
                  <a:lnTo>
                    <a:pt x="587237" y="0"/>
                  </a:lnTo>
                  <a:cubicBezTo>
                    <a:pt x="598349" y="0"/>
                    <a:pt x="609007" y="4414"/>
                    <a:pt x="616864" y="12272"/>
                  </a:cubicBezTo>
                  <a:cubicBezTo>
                    <a:pt x="624722" y="20130"/>
                    <a:pt x="629136" y="30787"/>
                    <a:pt x="629136" y="41899"/>
                  </a:cubicBezTo>
                  <a:lnTo>
                    <a:pt x="629136" y="41899"/>
                  </a:lnTo>
                  <a:cubicBezTo>
                    <a:pt x="629136" y="53011"/>
                    <a:pt x="624722" y="63668"/>
                    <a:pt x="616864" y="71526"/>
                  </a:cubicBezTo>
                  <a:cubicBezTo>
                    <a:pt x="609007" y="79384"/>
                    <a:pt x="598349" y="83798"/>
                    <a:pt x="587237" y="83798"/>
                  </a:cubicBezTo>
                  <a:lnTo>
                    <a:pt x="41899" y="83798"/>
                  </a:lnTo>
                  <a:cubicBezTo>
                    <a:pt x="30787" y="83798"/>
                    <a:pt x="20130" y="79384"/>
                    <a:pt x="12272" y="71526"/>
                  </a:cubicBezTo>
                  <a:cubicBezTo>
                    <a:pt x="4414" y="63668"/>
                    <a:pt x="0" y="53011"/>
                    <a:pt x="0" y="41899"/>
                  </a:cubicBezTo>
                  <a:lnTo>
                    <a:pt x="0" y="41899"/>
                  </a:lnTo>
                  <a:cubicBezTo>
                    <a:pt x="0" y="30787"/>
                    <a:pt x="4414" y="20130"/>
                    <a:pt x="12272" y="12272"/>
                  </a:cubicBezTo>
                  <a:cubicBezTo>
                    <a:pt x="20130" y="4414"/>
                    <a:pt x="30787" y="0"/>
                    <a:pt x="41899" y="0"/>
                  </a:cubicBezTo>
                  <a:close/>
                </a:path>
              </a:pathLst>
            </a:custGeom>
            <a:solidFill>
              <a:srgbClr val="D2C1B6"/>
            </a:solidFill>
            <a:ln w="38100" cap="rnd">
              <a:solidFill>
                <a:srgbClr val="FFFFFF"/>
              </a:solidFill>
              <a:prstDash val="solid"/>
              <a:round/>
            </a:ln>
          </p:spPr>
        </p:sp>
        <p:sp>
          <p:nvSpPr>
            <p:cNvPr name="TextBox 24" id="24"/>
            <p:cNvSpPr txBox="true"/>
            <p:nvPr/>
          </p:nvSpPr>
          <p:spPr>
            <a:xfrm>
              <a:off x="0" y="-38100"/>
              <a:ext cx="629136" cy="121898"/>
            </a:xfrm>
            <a:prstGeom prst="rect">
              <a:avLst/>
            </a:prstGeom>
          </p:spPr>
          <p:txBody>
            <a:bodyPr anchor="ctr" rtlCol="false" tIns="50800" lIns="50800" bIns="50800" rIns="50800"/>
            <a:lstStyle/>
            <a:p>
              <a:pPr algn="ctr">
                <a:lnSpc>
                  <a:spcPts val="2659"/>
                </a:lnSpc>
                <a:spcBef>
                  <a:spcPct val="0"/>
                </a:spcBef>
              </a:pPr>
            </a:p>
          </p:txBody>
        </p:sp>
      </p:grpSp>
      <p:sp>
        <p:nvSpPr>
          <p:cNvPr name="TextBox 25" id="25"/>
          <p:cNvSpPr txBox="true"/>
          <p:nvPr/>
        </p:nvSpPr>
        <p:spPr>
          <a:xfrm rot="0">
            <a:off x="2908198" y="437800"/>
            <a:ext cx="12543373" cy="1483881"/>
          </a:xfrm>
          <a:prstGeom prst="rect">
            <a:avLst/>
          </a:prstGeom>
        </p:spPr>
        <p:txBody>
          <a:bodyPr anchor="t" rtlCol="false" tIns="0" lIns="0" bIns="0" rIns="0">
            <a:spAutoFit/>
          </a:bodyPr>
          <a:lstStyle/>
          <a:p>
            <a:pPr algn="l">
              <a:lnSpc>
                <a:spcPts val="12186"/>
              </a:lnSpc>
            </a:pPr>
            <a:r>
              <a:rPr lang="en-US" sz="8704" b="true">
                <a:solidFill>
                  <a:srgbClr val="1B3C53"/>
                </a:solidFill>
                <a:latin typeface="Playfair Display Bold"/>
                <a:ea typeface="Playfair Display Bold"/>
                <a:cs typeface="Playfair Display Bold"/>
                <a:sym typeface="Playfair Display Bold"/>
              </a:rPr>
              <a:t>KENDALA DATASET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98058" y="1028700"/>
            <a:ext cx="1965454" cy="835863"/>
            <a:chOff x="0" y="0"/>
            <a:chExt cx="517651" cy="220145"/>
          </a:xfrm>
        </p:grpSpPr>
        <p:sp>
          <p:nvSpPr>
            <p:cNvPr name="Freeform 3" id="3"/>
            <p:cNvSpPr/>
            <p:nvPr/>
          </p:nvSpPr>
          <p:spPr>
            <a:xfrm flipH="false" flipV="false" rot="0">
              <a:off x="0" y="0"/>
              <a:ext cx="517651" cy="220145"/>
            </a:xfrm>
            <a:custGeom>
              <a:avLst/>
              <a:gdLst/>
              <a:ahLst/>
              <a:cxnLst/>
              <a:rect r="r" b="b" t="t" l="l"/>
              <a:pathLst>
                <a:path h="220145" w="517651">
                  <a:moveTo>
                    <a:pt x="0" y="0"/>
                  </a:moveTo>
                  <a:lnTo>
                    <a:pt x="517651" y="0"/>
                  </a:lnTo>
                  <a:lnTo>
                    <a:pt x="517651" y="220145"/>
                  </a:lnTo>
                  <a:lnTo>
                    <a:pt x="0" y="220145"/>
                  </a:lnTo>
                  <a:close/>
                </a:path>
              </a:pathLst>
            </a:custGeom>
            <a:solidFill>
              <a:srgbClr val="456882"/>
            </a:solidFill>
          </p:spPr>
        </p:sp>
        <p:sp>
          <p:nvSpPr>
            <p:cNvPr name="TextBox 4" id="4"/>
            <p:cNvSpPr txBox="true"/>
            <p:nvPr/>
          </p:nvSpPr>
          <p:spPr>
            <a:xfrm>
              <a:off x="0" y="-38100"/>
              <a:ext cx="517651" cy="25824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10800000">
            <a:off x="-298058" y="8703759"/>
            <a:ext cx="19149961" cy="2268078"/>
            <a:chOff x="0" y="0"/>
            <a:chExt cx="5043611" cy="597354"/>
          </a:xfrm>
        </p:grpSpPr>
        <p:sp>
          <p:nvSpPr>
            <p:cNvPr name="Freeform 6" id="6"/>
            <p:cNvSpPr/>
            <p:nvPr/>
          </p:nvSpPr>
          <p:spPr>
            <a:xfrm flipH="false" flipV="false" rot="0">
              <a:off x="0" y="0"/>
              <a:ext cx="5043611" cy="597354"/>
            </a:xfrm>
            <a:custGeom>
              <a:avLst/>
              <a:gdLst/>
              <a:ahLst/>
              <a:cxnLst/>
              <a:rect r="r" b="b" t="t" l="l"/>
              <a:pathLst>
                <a:path h="597354" w="5043611">
                  <a:moveTo>
                    <a:pt x="0" y="0"/>
                  </a:moveTo>
                  <a:lnTo>
                    <a:pt x="5043611" y="0"/>
                  </a:lnTo>
                  <a:lnTo>
                    <a:pt x="5043611" y="597354"/>
                  </a:lnTo>
                  <a:lnTo>
                    <a:pt x="0" y="597354"/>
                  </a:lnTo>
                  <a:close/>
                </a:path>
              </a:pathLst>
            </a:custGeom>
            <a:solidFill>
              <a:srgbClr val="456882"/>
            </a:solidFill>
          </p:spPr>
        </p:sp>
        <p:sp>
          <p:nvSpPr>
            <p:cNvPr name="TextBox 7" id="7"/>
            <p:cNvSpPr txBox="true"/>
            <p:nvPr/>
          </p:nvSpPr>
          <p:spPr>
            <a:xfrm>
              <a:off x="0" y="-38100"/>
              <a:ext cx="5043611" cy="635454"/>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10800000">
            <a:off x="-576606" y="-602312"/>
            <a:ext cx="19149961" cy="1013842"/>
            <a:chOff x="0" y="0"/>
            <a:chExt cx="5043611" cy="267020"/>
          </a:xfrm>
        </p:grpSpPr>
        <p:sp>
          <p:nvSpPr>
            <p:cNvPr name="Freeform 9" id="9"/>
            <p:cNvSpPr/>
            <p:nvPr/>
          </p:nvSpPr>
          <p:spPr>
            <a:xfrm flipH="false" flipV="false" rot="0">
              <a:off x="0" y="0"/>
              <a:ext cx="5043611" cy="267020"/>
            </a:xfrm>
            <a:custGeom>
              <a:avLst/>
              <a:gdLst/>
              <a:ahLst/>
              <a:cxnLst/>
              <a:rect r="r" b="b" t="t" l="l"/>
              <a:pathLst>
                <a:path h="267020" w="5043611">
                  <a:moveTo>
                    <a:pt x="0" y="0"/>
                  </a:moveTo>
                  <a:lnTo>
                    <a:pt x="5043611" y="0"/>
                  </a:lnTo>
                  <a:lnTo>
                    <a:pt x="5043611" y="267020"/>
                  </a:lnTo>
                  <a:lnTo>
                    <a:pt x="0" y="267020"/>
                  </a:lnTo>
                  <a:close/>
                </a:path>
              </a:pathLst>
            </a:custGeom>
            <a:solidFill>
              <a:srgbClr val="D2C1B6"/>
            </a:solidFill>
          </p:spPr>
        </p:sp>
        <p:sp>
          <p:nvSpPr>
            <p:cNvPr name="TextBox 10" id="10"/>
            <p:cNvSpPr txBox="true"/>
            <p:nvPr/>
          </p:nvSpPr>
          <p:spPr>
            <a:xfrm>
              <a:off x="0" y="-38100"/>
              <a:ext cx="5043611" cy="30512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4002866" y="-3253595"/>
            <a:ext cx="3972138" cy="5920531"/>
          </a:xfrm>
          <a:custGeom>
            <a:avLst/>
            <a:gdLst/>
            <a:ahLst/>
            <a:cxnLst/>
            <a:rect r="r" b="b" t="t" l="l"/>
            <a:pathLst>
              <a:path h="5920531" w="3972138">
                <a:moveTo>
                  <a:pt x="0" y="0"/>
                </a:moveTo>
                <a:lnTo>
                  <a:pt x="3972138" y="0"/>
                </a:lnTo>
                <a:lnTo>
                  <a:pt x="3972138" y="5920531"/>
                </a:lnTo>
                <a:lnTo>
                  <a:pt x="0" y="59205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298058" y="8703759"/>
            <a:ext cx="2949403" cy="2375610"/>
          </a:xfrm>
          <a:custGeom>
            <a:avLst/>
            <a:gdLst/>
            <a:ahLst/>
            <a:cxnLst/>
            <a:rect r="r" b="b" t="t" l="l"/>
            <a:pathLst>
              <a:path h="2375610" w="2949403">
                <a:moveTo>
                  <a:pt x="0" y="0"/>
                </a:moveTo>
                <a:lnTo>
                  <a:pt x="2949403" y="0"/>
                </a:lnTo>
                <a:lnTo>
                  <a:pt x="2949403" y="2375610"/>
                </a:lnTo>
                <a:lnTo>
                  <a:pt x="0" y="2375610"/>
                </a:lnTo>
                <a:lnTo>
                  <a:pt x="0" y="0"/>
                </a:lnTo>
                <a:close/>
              </a:path>
            </a:pathLst>
          </a:custGeom>
          <a:blipFill>
            <a:blip r:embed="rId4">
              <a:alphaModFix amt="43000"/>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1881620" y="661300"/>
            <a:ext cx="13431347" cy="2396368"/>
          </a:xfrm>
          <a:prstGeom prst="rect">
            <a:avLst/>
          </a:prstGeom>
        </p:spPr>
        <p:txBody>
          <a:bodyPr anchor="t" rtlCol="false" tIns="0" lIns="0" bIns="0" rIns="0">
            <a:spAutoFit/>
          </a:bodyPr>
          <a:lstStyle/>
          <a:p>
            <a:pPr algn="l">
              <a:lnSpc>
                <a:spcPts val="9666"/>
              </a:lnSpc>
            </a:pPr>
            <a:r>
              <a:rPr lang="en-US" sz="6904" b="true">
                <a:solidFill>
                  <a:srgbClr val="1B3C53"/>
                </a:solidFill>
                <a:latin typeface="Playfair Display Bold"/>
                <a:ea typeface="Playfair Display Bold"/>
                <a:cs typeface="Playfair Display Bold"/>
                <a:sym typeface="Playfair Display Bold"/>
              </a:rPr>
              <a:t>REKOMENDASI PENGGUNAAN DATASET</a:t>
            </a:r>
          </a:p>
        </p:txBody>
      </p:sp>
      <p:sp>
        <p:nvSpPr>
          <p:cNvPr name="TextBox 14" id="14"/>
          <p:cNvSpPr txBox="true"/>
          <p:nvPr/>
        </p:nvSpPr>
        <p:spPr>
          <a:xfrm rot="0">
            <a:off x="1663883" y="3523981"/>
            <a:ext cx="14094356" cy="1691333"/>
          </a:xfrm>
          <a:prstGeom prst="rect">
            <a:avLst/>
          </a:prstGeom>
        </p:spPr>
        <p:txBody>
          <a:bodyPr anchor="t" rtlCol="false" tIns="0" lIns="0" bIns="0" rIns="0">
            <a:spAutoFit/>
          </a:bodyPr>
          <a:lstStyle/>
          <a:p>
            <a:pPr algn="l" marL="520772" indent="-260386" lvl="1">
              <a:lnSpc>
                <a:spcPts val="3376"/>
              </a:lnSpc>
              <a:buFont typeface="Arial"/>
              <a:buChar char="•"/>
            </a:pPr>
            <a:r>
              <a:rPr lang="en-US" sz="2412">
                <a:solidFill>
                  <a:srgbClr val="1B3C53"/>
                </a:solidFill>
                <a:latin typeface="Libre Baskerville"/>
                <a:ea typeface="Libre Baskerville"/>
                <a:cs typeface="Libre Baskerville"/>
                <a:sym typeface="Libre Baskerville"/>
              </a:rPr>
              <a:t>Ka</a:t>
            </a:r>
            <a:r>
              <a:rPr lang="en-US" sz="2412">
                <a:solidFill>
                  <a:srgbClr val="1B3C53"/>
                </a:solidFill>
                <a:latin typeface="Libre Baskerville"/>
                <a:ea typeface="Libre Baskerville"/>
                <a:cs typeface="Libre Baskerville"/>
                <a:sym typeface="Libre Baskerville"/>
              </a:rPr>
              <a:t>rena dataset ini diperoleh dari Kaggle (bukan langsung dari situs resmi BPS/Polri), sebaiknya dilakukan cross-check dengan publikasi resmi sebelum data digunakan untuk laporan atau keputusan formal, mengingat data hasil unggahan pihak ketiga berpotensi mengalami kesalahan input ulang atau tidak mencerminkan rilis terbaru.</a:t>
            </a:r>
          </a:p>
        </p:txBody>
      </p:sp>
      <p:sp>
        <p:nvSpPr>
          <p:cNvPr name="TextBox 15" id="15"/>
          <p:cNvSpPr txBox="true"/>
          <p:nvPr/>
        </p:nvSpPr>
        <p:spPr>
          <a:xfrm rot="0">
            <a:off x="1663883" y="5653464"/>
            <a:ext cx="13649084" cy="834083"/>
          </a:xfrm>
          <a:prstGeom prst="rect">
            <a:avLst/>
          </a:prstGeom>
        </p:spPr>
        <p:txBody>
          <a:bodyPr anchor="t" rtlCol="false" tIns="0" lIns="0" bIns="0" rIns="0">
            <a:spAutoFit/>
          </a:bodyPr>
          <a:lstStyle/>
          <a:p>
            <a:pPr algn="l" marL="520772" indent="-260386" lvl="1">
              <a:lnSpc>
                <a:spcPts val="3376"/>
              </a:lnSpc>
              <a:buFont typeface="Arial"/>
              <a:buChar char="•"/>
            </a:pPr>
            <a:r>
              <a:rPr lang="en-US" sz="2412">
                <a:solidFill>
                  <a:srgbClr val="1B3C53"/>
                </a:solidFill>
                <a:latin typeface="Libre Baskerville"/>
                <a:ea typeface="Libre Baskerville"/>
                <a:cs typeface="Libre Baskerville"/>
                <a:sym typeface="Libre Baskerville"/>
              </a:rPr>
              <a:t>Kla</a:t>
            </a:r>
            <a:r>
              <a:rPr lang="en-US" sz="2412">
                <a:solidFill>
                  <a:srgbClr val="1B3C53"/>
                </a:solidFill>
                <a:latin typeface="Libre Baskerville"/>
                <a:ea typeface="Libre Baskerville"/>
                <a:cs typeface="Libre Baskerville"/>
                <a:sym typeface="Libre Baskerville"/>
              </a:rPr>
              <a:t>rifikasi nilai anomali (seperti persentase 103,37% di Jawa Timur) sebelum dimasukkan ke dalam kesimpulan analisis.</a:t>
            </a:r>
          </a:p>
        </p:txBody>
      </p:sp>
      <p:sp>
        <p:nvSpPr>
          <p:cNvPr name="TextBox 16" id="16"/>
          <p:cNvSpPr txBox="true"/>
          <p:nvPr/>
        </p:nvSpPr>
        <p:spPr>
          <a:xfrm rot="0">
            <a:off x="1663883" y="7093944"/>
            <a:ext cx="13649084" cy="834083"/>
          </a:xfrm>
          <a:prstGeom prst="rect">
            <a:avLst/>
          </a:prstGeom>
        </p:spPr>
        <p:txBody>
          <a:bodyPr anchor="t" rtlCol="false" tIns="0" lIns="0" bIns="0" rIns="0">
            <a:spAutoFit/>
          </a:bodyPr>
          <a:lstStyle/>
          <a:p>
            <a:pPr algn="l" marL="520772" indent="-260386" lvl="1">
              <a:lnSpc>
                <a:spcPts val="3376"/>
              </a:lnSpc>
              <a:buFont typeface="Arial"/>
              <a:buChar char="•"/>
            </a:pPr>
            <a:r>
              <a:rPr lang="en-US" sz="2412">
                <a:solidFill>
                  <a:srgbClr val="1B3C53"/>
                </a:solidFill>
                <a:latin typeface="Libre Baskerville"/>
                <a:ea typeface="Libre Baskerville"/>
                <a:cs typeface="Libre Baskerville"/>
                <a:sym typeface="Libre Baskerville"/>
              </a:rPr>
              <a:t>Pisahkan</a:t>
            </a:r>
            <a:r>
              <a:rPr lang="en-US" sz="2412">
                <a:solidFill>
                  <a:srgbClr val="1B3C53"/>
                </a:solidFill>
                <a:latin typeface="Libre Baskerville"/>
                <a:ea typeface="Libre Baskerville"/>
                <a:cs typeface="Libre Baskerville"/>
                <a:sym typeface="Libre Baskerville"/>
              </a:rPr>
              <a:t> baris "INDONESIA" dari data provinsi sebelum melakukan analisis lebih lanjut, agar tidak terjadi double-counting.</a:t>
            </a:r>
          </a:p>
        </p:txBody>
      </p:sp>
      <p:grpSp>
        <p:nvGrpSpPr>
          <p:cNvPr name="Group 17" id="17"/>
          <p:cNvGrpSpPr/>
          <p:nvPr/>
        </p:nvGrpSpPr>
        <p:grpSpPr>
          <a:xfrm rot="0">
            <a:off x="16035642" y="9258300"/>
            <a:ext cx="982727" cy="636341"/>
            <a:chOff x="0" y="0"/>
            <a:chExt cx="258825" cy="167596"/>
          </a:xfrm>
        </p:grpSpPr>
        <p:sp>
          <p:nvSpPr>
            <p:cNvPr name="Freeform 18" id="18"/>
            <p:cNvSpPr/>
            <p:nvPr/>
          </p:nvSpPr>
          <p:spPr>
            <a:xfrm flipH="false" flipV="false" rot="0">
              <a:off x="0" y="0"/>
              <a:ext cx="258825" cy="167596"/>
            </a:xfrm>
            <a:custGeom>
              <a:avLst/>
              <a:gdLst/>
              <a:ahLst/>
              <a:cxnLst/>
              <a:rect r="r" b="b" t="t" l="l"/>
              <a:pathLst>
                <a:path h="167596" w="258825">
                  <a:moveTo>
                    <a:pt x="83798" y="0"/>
                  </a:moveTo>
                  <a:lnTo>
                    <a:pt x="175027" y="0"/>
                  </a:lnTo>
                  <a:cubicBezTo>
                    <a:pt x="221308" y="0"/>
                    <a:pt x="258825" y="37518"/>
                    <a:pt x="258825" y="83798"/>
                  </a:cubicBezTo>
                  <a:lnTo>
                    <a:pt x="258825" y="83798"/>
                  </a:lnTo>
                  <a:cubicBezTo>
                    <a:pt x="258825" y="130078"/>
                    <a:pt x="221308" y="167596"/>
                    <a:pt x="175027" y="167596"/>
                  </a:cubicBezTo>
                  <a:lnTo>
                    <a:pt x="83798" y="167596"/>
                  </a:lnTo>
                  <a:cubicBezTo>
                    <a:pt x="37518" y="167596"/>
                    <a:pt x="0" y="130078"/>
                    <a:pt x="0" y="83798"/>
                  </a:cubicBezTo>
                  <a:lnTo>
                    <a:pt x="0" y="83798"/>
                  </a:lnTo>
                  <a:cubicBezTo>
                    <a:pt x="0" y="37518"/>
                    <a:pt x="37518" y="0"/>
                    <a:pt x="83798" y="0"/>
                  </a:cubicBezTo>
                  <a:close/>
                </a:path>
              </a:pathLst>
            </a:custGeom>
            <a:solidFill>
              <a:srgbClr val="D2C1B6"/>
            </a:solidFill>
            <a:ln w="38100" cap="rnd">
              <a:solidFill>
                <a:srgbClr val="FFFFFF"/>
              </a:solidFill>
              <a:prstDash val="solid"/>
              <a:round/>
            </a:ln>
          </p:spPr>
        </p:sp>
        <p:sp>
          <p:nvSpPr>
            <p:cNvPr name="TextBox 19" id="19"/>
            <p:cNvSpPr txBox="true"/>
            <p:nvPr/>
          </p:nvSpPr>
          <p:spPr>
            <a:xfrm>
              <a:off x="0" y="-38100"/>
              <a:ext cx="258825" cy="205696"/>
            </a:xfrm>
            <a:prstGeom prst="rect">
              <a:avLst/>
            </a:prstGeom>
          </p:spPr>
          <p:txBody>
            <a:bodyPr anchor="ctr" rtlCol="false" tIns="50800" lIns="50800" bIns="50800" rIns="50800"/>
            <a:lstStyle/>
            <a:p>
              <a:pPr algn="ctr">
                <a:lnSpc>
                  <a:spcPts val="2659"/>
                </a:lnSpc>
                <a:spcBef>
                  <a:spcPct val="0"/>
                </a:spcBef>
              </a:pPr>
            </a:p>
          </p:txBody>
        </p:sp>
      </p:grpSp>
      <p:sp>
        <p:nvSpPr>
          <p:cNvPr name="TextBox 20" id="20"/>
          <p:cNvSpPr txBox="true"/>
          <p:nvPr/>
        </p:nvSpPr>
        <p:spPr>
          <a:xfrm rot="0">
            <a:off x="16181145" y="9248775"/>
            <a:ext cx="691721" cy="484444"/>
          </a:xfrm>
          <a:prstGeom prst="rect">
            <a:avLst/>
          </a:prstGeom>
        </p:spPr>
        <p:txBody>
          <a:bodyPr anchor="t" rtlCol="false" tIns="0" lIns="0" bIns="0" rIns="0">
            <a:spAutoFit/>
          </a:bodyPr>
          <a:lstStyle/>
          <a:p>
            <a:pPr algn="ctr">
              <a:lnSpc>
                <a:spcPts val="4028"/>
              </a:lnSpc>
            </a:pPr>
            <a:r>
              <a:rPr lang="en-US" sz="2877" b="true">
                <a:solidFill>
                  <a:srgbClr val="1B3C53"/>
                </a:solidFill>
                <a:latin typeface="Playfair Display Bold"/>
                <a:ea typeface="Playfair Display Bold"/>
                <a:cs typeface="Playfair Display Bold"/>
                <a:sym typeface="Playfair Display Bold"/>
              </a:rPr>
              <a:t>08</a:t>
            </a:r>
          </a:p>
        </p:txBody>
      </p:sp>
      <p:grpSp>
        <p:nvGrpSpPr>
          <p:cNvPr name="Group 21" id="21"/>
          <p:cNvGrpSpPr/>
          <p:nvPr/>
        </p:nvGrpSpPr>
        <p:grpSpPr>
          <a:xfrm rot="0">
            <a:off x="17067659" y="9415048"/>
            <a:ext cx="2388751" cy="318171"/>
            <a:chOff x="0" y="0"/>
            <a:chExt cx="629136" cy="83798"/>
          </a:xfrm>
        </p:grpSpPr>
        <p:sp>
          <p:nvSpPr>
            <p:cNvPr name="Freeform 22" id="22"/>
            <p:cNvSpPr/>
            <p:nvPr/>
          </p:nvSpPr>
          <p:spPr>
            <a:xfrm flipH="false" flipV="false" rot="0">
              <a:off x="0" y="0"/>
              <a:ext cx="629136" cy="83798"/>
            </a:xfrm>
            <a:custGeom>
              <a:avLst/>
              <a:gdLst/>
              <a:ahLst/>
              <a:cxnLst/>
              <a:rect r="r" b="b" t="t" l="l"/>
              <a:pathLst>
                <a:path h="83798" w="629136">
                  <a:moveTo>
                    <a:pt x="41899" y="0"/>
                  </a:moveTo>
                  <a:lnTo>
                    <a:pt x="587237" y="0"/>
                  </a:lnTo>
                  <a:cubicBezTo>
                    <a:pt x="598349" y="0"/>
                    <a:pt x="609007" y="4414"/>
                    <a:pt x="616864" y="12272"/>
                  </a:cubicBezTo>
                  <a:cubicBezTo>
                    <a:pt x="624722" y="20130"/>
                    <a:pt x="629136" y="30787"/>
                    <a:pt x="629136" y="41899"/>
                  </a:cubicBezTo>
                  <a:lnTo>
                    <a:pt x="629136" y="41899"/>
                  </a:lnTo>
                  <a:cubicBezTo>
                    <a:pt x="629136" y="53011"/>
                    <a:pt x="624722" y="63668"/>
                    <a:pt x="616864" y="71526"/>
                  </a:cubicBezTo>
                  <a:cubicBezTo>
                    <a:pt x="609007" y="79384"/>
                    <a:pt x="598349" y="83798"/>
                    <a:pt x="587237" y="83798"/>
                  </a:cubicBezTo>
                  <a:lnTo>
                    <a:pt x="41899" y="83798"/>
                  </a:lnTo>
                  <a:cubicBezTo>
                    <a:pt x="30787" y="83798"/>
                    <a:pt x="20130" y="79384"/>
                    <a:pt x="12272" y="71526"/>
                  </a:cubicBezTo>
                  <a:cubicBezTo>
                    <a:pt x="4414" y="63668"/>
                    <a:pt x="0" y="53011"/>
                    <a:pt x="0" y="41899"/>
                  </a:cubicBezTo>
                  <a:lnTo>
                    <a:pt x="0" y="41899"/>
                  </a:lnTo>
                  <a:cubicBezTo>
                    <a:pt x="0" y="30787"/>
                    <a:pt x="4414" y="20130"/>
                    <a:pt x="12272" y="12272"/>
                  </a:cubicBezTo>
                  <a:cubicBezTo>
                    <a:pt x="20130" y="4414"/>
                    <a:pt x="30787" y="0"/>
                    <a:pt x="41899" y="0"/>
                  </a:cubicBezTo>
                  <a:close/>
                </a:path>
              </a:pathLst>
            </a:custGeom>
            <a:solidFill>
              <a:srgbClr val="D2C1B6"/>
            </a:solidFill>
            <a:ln w="38100" cap="rnd">
              <a:solidFill>
                <a:srgbClr val="FFFFFF"/>
              </a:solidFill>
              <a:prstDash val="solid"/>
              <a:round/>
            </a:ln>
          </p:spPr>
        </p:sp>
        <p:sp>
          <p:nvSpPr>
            <p:cNvPr name="TextBox 23" id="23"/>
            <p:cNvSpPr txBox="true"/>
            <p:nvPr/>
          </p:nvSpPr>
          <p:spPr>
            <a:xfrm>
              <a:off x="0" y="-38100"/>
              <a:ext cx="629136" cy="121898"/>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34753" y="-403557"/>
            <a:ext cx="20829275" cy="5800518"/>
            <a:chOff x="0" y="0"/>
            <a:chExt cx="5485900" cy="1527708"/>
          </a:xfrm>
        </p:grpSpPr>
        <p:sp>
          <p:nvSpPr>
            <p:cNvPr name="Freeform 3" id="3"/>
            <p:cNvSpPr/>
            <p:nvPr/>
          </p:nvSpPr>
          <p:spPr>
            <a:xfrm flipH="false" flipV="false" rot="0">
              <a:off x="0" y="0"/>
              <a:ext cx="5485900" cy="1527708"/>
            </a:xfrm>
            <a:custGeom>
              <a:avLst/>
              <a:gdLst/>
              <a:ahLst/>
              <a:cxnLst/>
              <a:rect r="r" b="b" t="t" l="l"/>
              <a:pathLst>
                <a:path h="1527708" w="5485900">
                  <a:moveTo>
                    <a:pt x="0" y="0"/>
                  </a:moveTo>
                  <a:lnTo>
                    <a:pt x="5485900" y="0"/>
                  </a:lnTo>
                  <a:lnTo>
                    <a:pt x="5485900" y="1527708"/>
                  </a:lnTo>
                  <a:lnTo>
                    <a:pt x="0" y="1527708"/>
                  </a:lnTo>
                  <a:close/>
                </a:path>
              </a:pathLst>
            </a:custGeom>
            <a:solidFill>
              <a:srgbClr val="D2C1B6"/>
            </a:solidFill>
          </p:spPr>
        </p:sp>
        <p:sp>
          <p:nvSpPr>
            <p:cNvPr name="TextBox 4" id="4"/>
            <p:cNvSpPr txBox="true"/>
            <p:nvPr/>
          </p:nvSpPr>
          <p:spPr>
            <a:xfrm>
              <a:off x="0" y="-38100"/>
              <a:ext cx="5485900" cy="156580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2407292" y="2881530"/>
            <a:ext cx="13737121" cy="6167220"/>
            <a:chOff x="0" y="0"/>
            <a:chExt cx="3618007" cy="1624288"/>
          </a:xfrm>
        </p:grpSpPr>
        <p:sp>
          <p:nvSpPr>
            <p:cNvPr name="Freeform 6" id="6"/>
            <p:cNvSpPr/>
            <p:nvPr/>
          </p:nvSpPr>
          <p:spPr>
            <a:xfrm flipH="false" flipV="false" rot="0">
              <a:off x="0" y="0"/>
              <a:ext cx="3618007" cy="1624288"/>
            </a:xfrm>
            <a:custGeom>
              <a:avLst/>
              <a:gdLst/>
              <a:ahLst/>
              <a:cxnLst/>
              <a:rect r="r" b="b" t="t" l="l"/>
              <a:pathLst>
                <a:path h="1624288" w="3618007">
                  <a:moveTo>
                    <a:pt x="26488" y="0"/>
                  </a:moveTo>
                  <a:lnTo>
                    <a:pt x="3591519" y="0"/>
                  </a:lnTo>
                  <a:cubicBezTo>
                    <a:pt x="3598544" y="0"/>
                    <a:pt x="3605281" y="2791"/>
                    <a:pt x="3610249" y="7758"/>
                  </a:cubicBezTo>
                  <a:cubicBezTo>
                    <a:pt x="3615217" y="12726"/>
                    <a:pt x="3618007" y="19463"/>
                    <a:pt x="3618007" y="26488"/>
                  </a:cubicBezTo>
                  <a:lnTo>
                    <a:pt x="3618007" y="1597800"/>
                  </a:lnTo>
                  <a:cubicBezTo>
                    <a:pt x="3618007" y="1604825"/>
                    <a:pt x="3615217" y="1611563"/>
                    <a:pt x="3610249" y="1616530"/>
                  </a:cubicBezTo>
                  <a:cubicBezTo>
                    <a:pt x="3605281" y="1621498"/>
                    <a:pt x="3598544" y="1624288"/>
                    <a:pt x="3591519" y="1624288"/>
                  </a:cubicBezTo>
                  <a:lnTo>
                    <a:pt x="26488" y="1624288"/>
                  </a:lnTo>
                  <a:cubicBezTo>
                    <a:pt x="19463" y="1624288"/>
                    <a:pt x="12726" y="1621498"/>
                    <a:pt x="7758" y="1616530"/>
                  </a:cubicBezTo>
                  <a:cubicBezTo>
                    <a:pt x="2791" y="1611563"/>
                    <a:pt x="0" y="1604825"/>
                    <a:pt x="0" y="1597800"/>
                  </a:cubicBezTo>
                  <a:lnTo>
                    <a:pt x="0" y="26488"/>
                  </a:lnTo>
                  <a:cubicBezTo>
                    <a:pt x="0" y="19463"/>
                    <a:pt x="2791" y="12726"/>
                    <a:pt x="7758" y="7758"/>
                  </a:cubicBezTo>
                  <a:cubicBezTo>
                    <a:pt x="12726" y="2791"/>
                    <a:pt x="19463" y="0"/>
                    <a:pt x="26488" y="0"/>
                  </a:cubicBezTo>
                  <a:close/>
                </a:path>
              </a:pathLst>
            </a:custGeom>
            <a:solidFill>
              <a:srgbClr val="456882"/>
            </a:solidFill>
          </p:spPr>
        </p:sp>
        <p:sp>
          <p:nvSpPr>
            <p:cNvPr name="TextBox 7" id="7"/>
            <p:cNvSpPr txBox="true"/>
            <p:nvPr/>
          </p:nvSpPr>
          <p:spPr>
            <a:xfrm>
              <a:off x="0" y="-38100"/>
              <a:ext cx="3618007" cy="1662388"/>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2540829" y="1407649"/>
            <a:ext cx="13603583" cy="1089052"/>
          </a:xfrm>
          <a:prstGeom prst="rect">
            <a:avLst/>
          </a:prstGeom>
        </p:spPr>
        <p:txBody>
          <a:bodyPr anchor="t" rtlCol="false" tIns="0" lIns="0" bIns="0" rIns="0">
            <a:spAutoFit/>
          </a:bodyPr>
          <a:lstStyle/>
          <a:p>
            <a:pPr algn="ctr">
              <a:lnSpc>
                <a:spcPts val="8095"/>
              </a:lnSpc>
            </a:pPr>
            <a:r>
              <a:rPr lang="en-US" b="true" sz="8704">
                <a:solidFill>
                  <a:srgbClr val="1B3C53"/>
                </a:solidFill>
                <a:latin typeface="Playfair Display Bold"/>
                <a:ea typeface="Playfair Display Bold"/>
                <a:cs typeface="Playfair Display Bold"/>
                <a:sym typeface="Playfair Display Bold"/>
              </a:rPr>
              <a:t>KESIMPULAN</a:t>
            </a:r>
          </a:p>
        </p:txBody>
      </p:sp>
      <p:grpSp>
        <p:nvGrpSpPr>
          <p:cNvPr name="Group 9" id="9"/>
          <p:cNvGrpSpPr/>
          <p:nvPr/>
        </p:nvGrpSpPr>
        <p:grpSpPr>
          <a:xfrm rot="0">
            <a:off x="2559692" y="3033930"/>
            <a:ext cx="13737121" cy="6167220"/>
            <a:chOff x="0" y="0"/>
            <a:chExt cx="3618007" cy="1624288"/>
          </a:xfrm>
        </p:grpSpPr>
        <p:sp>
          <p:nvSpPr>
            <p:cNvPr name="Freeform 10" id="10"/>
            <p:cNvSpPr/>
            <p:nvPr/>
          </p:nvSpPr>
          <p:spPr>
            <a:xfrm flipH="false" flipV="false" rot="0">
              <a:off x="0" y="0"/>
              <a:ext cx="3618007" cy="1624288"/>
            </a:xfrm>
            <a:custGeom>
              <a:avLst/>
              <a:gdLst/>
              <a:ahLst/>
              <a:cxnLst/>
              <a:rect r="r" b="b" t="t" l="l"/>
              <a:pathLst>
                <a:path h="1624288" w="3618007">
                  <a:moveTo>
                    <a:pt x="26488" y="0"/>
                  </a:moveTo>
                  <a:lnTo>
                    <a:pt x="3591519" y="0"/>
                  </a:lnTo>
                  <a:cubicBezTo>
                    <a:pt x="3598544" y="0"/>
                    <a:pt x="3605281" y="2791"/>
                    <a:pt x="3610249" y="7758"/>
                  </a:cubicBezTo>
                  <a:cubicBezTo>
                    <a:pt x="3615217" y="12726"/>
                    <a:pt x="3618007" y="19463"/>
                    <a:pt x="3618007" y="26488"/>
                  </a:cubicBezTo>
                  <a:lnTo>
                    <a:pt x="3618007" y="1597800"/>
                  </a:lnTo>
                  <a:cubicBezTo>
                    <a:pt x="3618007" y="1604825"/>
                    <a:pt x="3615217" y="1611563"/>
                    <a:pt x="3610249" y="1616530"/>
                  </a:cubicBezTo>
                  <a:cubicBezTo>
                    <a:pt x="3605281" y="1621498"/>
                    <a:pt x="3598544" y="1624288"/>
                    <a:pt x="3591519" y="1624288"/>
                  </a:cubicBezTo>
                  <a:lnTo>
                    <a:pt x="26488" y="1624288"/>
                  </a:lnTo>
                  <a:cubicBezTo>
                    <a:pt x="19463" y="1624288"/>
                    <a:pt x="12726" y="1621498"/>
                    <a:pt x="7758" y="1616530"/>
                  </a:cubicBezTo>
                  <a:cubicBezTo>
                    <a:pt x="2791" y="1611563"/>
                    <a:pt x="0" y="1604825"/>
                    <a:pt x="0" y="1597800"/>
                  </a:cubicBezTo>
                  <a:lnTo>
                    <a:pt x="0" y="26488"/>
                  </a:lnTo>
                  <a:cubicBezTo>
                    <a:pt x="0" y="19463"/>
                    <a:pt x="2791" y="12726"/>
                    <a:pt x="7758" y="7758"/>
                  </a:cubicBezTo>
                  <a:cubicBezTo>
                    <a:pt x="12726" y="2791"/>
                    <a:pt x="19463" y="0"/>
                    <a:pt x="26488" y="0"/>
                  </a:cubicBezTo>
                  <a:close/>
                </a:path>
              </a:pathLst>
            </a:custGeom>
            <a:ln w="57150" cap="rnd">
              <a:solidFill>
                <a:srgbClr val="D2C1B6"/>
              </a:solidFill>
              <a:prstDash val="solid"/>
              <a:round/>
            </a:ln>
          </p:spPr>
        </p:sp>
        <p:sp>
          <p:nvSpPr>
            <p:cNvPr name="TextBox 11" id="11"/>
            <p:cNvSpPr txBox="true"/>
            <p:nvPr/>
          </p:nvSpPr>
          <p:spPr>
            <a:xfrm>
              <a:off x="0" y="-38100"/>
              <a:ext cx="3618007" cy="1662388"/>
            </a:xfrm>
            <a:prstGeom prst="rect">
              <a:avLst/>
            </a:prstGeom>
          </p:spPr>
          <p:txBody>
            <a:bodyPr anchor="ctr" rtlCol="false" tIns="50800" lIns="50800" bIns="50800" rIns="50800"/>
            <a:lstStyle/>
            <a:p>
              <a:pPr algn="ctr">
                <a:lnSpc>
                  <a:spcPts val="2659"/>
                </a:lnSpc>
                <a:spcBef>
                  <a:spcPct val="0"/>
                </a:spcBef>
              </a:pPr>
            </a:p>
          </p:txBody>
        </p:sp>
      </p:grpSp>
      <p:sp>
        <p:nvSpPr>
          <p:cNvPr name="TextBox 12" id="12"/>
          <p:cNvSpPr txBox="true"/>
          <p:nvPr/>
        </p:nvSpPr>
        <p:spPr>
          <a:xfrm rot="0">
            <a:off x="3363149" y="3260656"/>
            <a:ext cx="11958944" cy="7377387"/>
          </a:xfrm>
          <a:prstGeom prst="rect">
            <a:avLst/>
          </a:prstGeom>
        </p:spPr>
        <p:txBody>
          <a:bodyPr anchor="t" rtlCol="false" tIns="0" lIns="0" bIns="0" rIns="0">
            <a:spAutoFit/>
          </a:bodyPr>
          <a:lstStyle/>
          <a:p>
            <a:pPr algn="ctr">
              <a:lnSpc>
                <a:spcPts val="4202"/>
              </a:lnSpc>
            </a:pPr>
            <a:r>
              <a:rPr lang="en-US" sz="3001">
                <a:solidFill>
                  <a:srgbClr val="FFFFFF"/>
                </a:solidFill>
                <a:latin typeface="Libre Baskerville"/>
                <a:ea typeface="Libre Baskerville"/>
                <a:cs typeface="Libre Baskerville"/>
                <a:sym typeface="Libre Baskerville"/>
              </a:rPr>
              <a:t>Data</a:t>
            </a:r>
            <a:r>
              <a:rPr lang="en-US" sz="3001">
                <a:solidFill>
                  <a:srgbClr val="FFFFFF"/>
                </a:solidFill>
                <a:latin typeface="Libre Baskerville"/>
                <a:ea typeface="Libre Baskerville"/>
                <a:cs typeface="Libre Baskerville"/>
                <a:sym typeface="Libre Baskerville"/>
              </a:rPr>
              <a:t>set Presentase Penyelesaian Tindak Pidana di Indonesia Tahun 2021–2022 yang bersumber dari Kaggle cukup layak digunakan untuk analisis eksploratif awal, seperti melihat tren, membuat peta, atau menyusun ranking antarwilayah, karena cakupannya nasional dan strukturnya cukup rapi. Namun, karena berasal dari data sekunder yang belum terverifikasi ke sumber resmi, memiliki nilai anomali, serta minim rincian dan data pendukung, dataset ini belum layak dijadikan dasar tunggal untuk keputusan strategis dan perlu diverifikasi serta dilengkapi data tambahan terlebih dahulu.</a:t>
            </a:r>
          </a:p>
          <a:p>
            <a:pPr algn="ctr">
              <a:lnSpc>
                <a:spcPts val="4202"/>
              </a:lnSpc>
            </a:pPr>
          </a:p>
          <a:p>
            <a:pPr algn="ctr">
              <a:lnSpc>
                <a:spcPts val="4202"/>
              </a:lnSpc>
            </a:pPr>
          </a:p>
          <a:p>
            <a:pPr algn="ctr">
              <a:lnSpc>
                <a:spcPts val="4202"/>
              </a:lnSpc>
            </a:pPr>
          </a:p>
          <a:p>
            <a:pPr algn="ctr">
              <a:lnSpc>
                <a:spcPts val="3642"/>
              </a:lnSpc>
            </a:pPr>
          </a:p>
        </p:txBody>
      </p:sp>
      <p:sp>
        <p:nvSpPr>
          <p:cNvPr name="Freeform 13" id="13"/>
          <p:cNvSpPr/>
          <p:nvPr/>
        </p:nvSpPr>
        <p:spPr>
          <a:xfrm flipH="true" flipV="false" rot="0">
            <a:off x="14473571" y="-1510076"/>
            <a:ext cx="4081285" cy="3020151"/>
          </a:xfrm>
          <a:custGeom>
            <a:avLst/>
            <a:gdLst/>
            <a:ahLst/>
            <a:cxnLst/>
            <a:rect r="r" b="b" t="t" l="l"/>
            <a:pathLst>
              <a:path h="3020151" w="4081285">
                <a:moveTo>
                  <a:pt x="4081286" y="0"/>
                </a:moveTo>
                <a:lnTo>
                  <a:pt x="0" y="0"/>
                </a:lnTo>
                <a:lnTo>
                  <a:pt x="0" y="3020152"/>
                </a:lnTo>
                <a:lnTo>
                  <a:pt x="4081286" y="3020152"/>
                </a:lnTo>
                <a:lnTo>
                  <a:pt x="4081286" y="0"/>
                </a:lnTo>
                <a:close/>
              </a:path>
            </a:pathLst>
          </a:custGeom>
          <a:blipFill>
            <a:blip r:embed="rId2">
              <a:alphaModFix amt="37000"/>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369303" y="8090042"/>
            <a:ext cx="3685104" cy="2968184"/>
          </a:xfrm>
          <a:custGeom>
            <a:avLst/>
            <a:gdLst/>
            <a:ahLst/>
            <a:cxnLst/>
            <a:rect r="r" b="b" t="t" l="l"/>
            <a:pathLst>
              <a:path h="2968184" w="3685104">
                <a:moveTo>
                  <a:pt x="0" y="0"/>
                </a:moveTo>
                <a:lnTo>
                  <a:pt x="3685104" y="0"/>
                </a:lnTo>
                <a:lnTo>
                  <a:pt x="3685104" y="2968184"/>
                </a:lnTo>
                <a:lnTo>
                  <a:pt x="0" y="2968184"/>
                </a:lnTo>
                <a:lnTo>
                  <a:pt x="0" y="0"/>
                </a:lnTo>
                <a:close/>
              </a:path>
            </a:pathLst>
          </a:custGeom>
          <a:blipFill>
            <a:blip r:embed="rId4">
              <a:alphaModFix amt="59000"/>
              <a:extLst>
                <a:ext uri="{96DAC541-7B7A-43D3-8B79-37D633B846F1}">
                  <asvg:svgBlip xmlns:asvg="http://schemas.microsoft.com/office/drawing/2016/SVG/main" r:embed="rId5"/>
                </a:ext>
              </a:extLst>
            </a:blip>
            <a:stretch>
              <a:fillRect l="0" t="0" r="0" b="0"/>
            </a:stretch>
          </a:blipFill>
        </p:spPr>
      </p:sp>
      <p:grpSp>
        <p:nvGrpSpPr>
          <p:cNvPr name="Group 15" id="15"/>
          <p:cNvGrpSpPr/>
          <p:nvPr/>
        </p:nvGrpSpPr>
        <p:grpSpPr>
          <a:xfrm rot="0">
            <a:off x="16035642" y="9258300"/>
            <a:ext cx="982727" cy="636341"/>
            <a:chOff x="0" y="0"/>
            <a:chExt cx="258825" cy="167596"/>
          </a:xfrm>
        </p:grpSpPr>
        <p:sp>
          <p:nvSpPr>
            <p:cNvPr name="Freeform 16" id="16"/>
            <p:cNvSpPr/>
            <p:nvPr/>
          </p:nvSpPr>
          <p:spPr>
            <a:xfrm flipH="false" flipV="false" rot="0">
              <a:off x="0" y="0"/>
              <a:ext cx="258825" cy="167596"/>
            </a:xfrm>
            <a:custGeom>
              <a:avLst/>
              <a:gdLst/>
              <a:ahLst/>
              <a:cxnLst/>
              <a:rect r="r" b="b" t="t" l="l"/>
              <a:pathLst>
                <a:path h="167596" w="258825">
                  <a:moveTo>
                    <a:pt x="83798" y="0"/>
                  </a:moveTo>
                  <a:lnTo>
                    <a:pt x="175027" y="0"/>
                  </a:lnTo>
                  <a:cubicBezTo>
                    <a:pt x="221308" y="0"/>
                    <a:pt x="258825" y="37518"/>
                    <a:pt x="258825" y="83798"/>
                  </a:cubicBezTo>
                  <a:lnTo>
                    <a:pt x="258825" y="83798"/>
                  </a:lnTo>
                  <a:cubicBezTo>
                    <a:pt x="258825" y="130078"/>
                    <a:pt x="221308" y="167596"/>
                    <a:pt x="175027" y="167596"/>
                  </a:cubicBezTo>
                  <a:lnTo>
                    <a:pt x="83798" y="167596"/>
                  </a:lnTo>
                  <a:cubicBezTo>
                    <a:pt x="37518" y="167596"/>
                    <a:pt x="0" y="130078"/>
                    <a:pt x="0" y="83798"/>
                  </a:cubicBezTo>
                  <a:lnTo>
                    <a:pt x="0" y="83798"/>
                  </a:lnTo>
                  <a:cubicBezTo>
                    <a:pt x="0" y="37518"/>
                    <a:pt x="37518" y="0"/>
                    <a:pt x="83798" y="0"/>
                  </a:cubicBezTo>
                  <a:close/>
                </a:path>
              </a:pathLst>
            </a:custGeom>
            <a:solidFill>
              <a:srgbClr val="D2C1B6"/>
            </a:solidFill>
            <a:ln w="38100" cap="rnd">
              <a:solidFill>
                <a:srgbClr val="FFFFFF"/>
              </a:solidFill>
              <a:prstDash val="solid"/>
              <a:round/>
            </a:ln>
          </p:spPr>
        </p:sp>
        <p:sp>
          <p:nvSpPr>
            <p:cNvPr name="TextBox 17" id="17"/>
            <p:cNvSpPr txBox="true"/>
            <p:nvPr/>
          </p:nvSpPr>
          <p:spPr>
            <a:xfrm>
              <a:off x="0" y="-38100"/>
              <a:ext cx="258825" cy="205696"/>
            </a:xfrm>
            <a:prstGeom prst="rect">
              <a:avLst/>
            </a:prstGeom>
          </p:spPr>
          <p:txBody>
            <a:bodyPr anchor="ctr" rtlCol="false" tIns="50800" lIns="50800" bIns="50800" rIns="50800"/>
            <a:lstStyle/>
            <a:p>
              <a:pPr algn="ctr">
                <a:lnSpc>
                  <a:spcPts val="2659"/>
                </a:lnSpc>
                <a:spcBef>
                  <a:spcPct val="0"/>
                </a:spcBef>
              </a:pPr>
            </a:p>
          </p:txBody>
        </p:sp>
      </p:grpSp>
      <p:sp>
        <p:nvSpPr>
          <p:cNvPr name="TextBox 18" id="18"/>
          <p:cNvSpPr txBox="true"/>
          <p:nvPr/>
        </p:nvSpPr>
        <p:spPr>
          <a:xfrm rot="0">
            <a:off x="16181145" y="9248775"/>
            <a:ext cx="691721" cy="484444"/>
          </a:xfrm>
          <a:prstGeom prst="rect">
            <a:avLst/>
          </a:prstGeom>
        </p:spPr>
        <p:txBody>
          <a:bodyPr anchor="t" rtlCol="false" tIns="0" lIns="0" bIns="0" rIns="0">
            <a:spAutoFit/>
          </a:bodyPr>
          <a:lstStyle/>
          <a:p>
            <a:pPr algn="ctr">
              <a:lnSpc>
                <a:spcPts val="4028"/>
              </a:lnSpc>
            </a:pPr>
            <a:r>
              <a:rPr lang="en-US" sz="2877" b="true">
                <a:solidFill>
                  <a:srgbClr val="1B3C53"/>
                </a:solidFill>
                <a:latin typeface="Playfair Display Bold"/>
                <a:ea typeface="Playfair Display Bold"/>
                <a:cs typeface="Playfair Display Bold"/>
                <a:sym typeface="Playfair Display Bold"/>
              </a:rPr>
              <a:t>09</a:t>
            </a:r>
          </a:p>
        </p:txBody>
      </p:sp>
      <p:grpSp>
        <p:nvGrpSpPr>
          <p:cNvPr name="Group 19" id="19"/>
          <p:cNvGrpSpPr/>
          <p:nvPr/>
        </p:nvGrpSpPr>
        <p:grpSpPr>
          <a:xfrm rot="0">
            <a:off x="17067659" y="9415048"/>
            <a:ext cx="2388751" cy="318171"/>
            <a:chOff x="0" y="0"/>
            <a:chExt cx="629136" cy="83798"/>
          </a:xfrm>
        </p:grpSpPr>
        <p:sp>
          <p:nvSpPr>
            <p:cNvPr name="Freeform 20" id="20"/>
            <p:cNvSpPr/>
            <p:nvPr/>
          </p:nvSpPr>
          <p:spPr>
            <a:xfrm flipH="false" flipV="false" rot="0">
              <a:off x="0" y="0"/>
              <a:ext cx="629136" cy="83798"/>
            </a:xfrm>
            <a:custGeom>
              <a:avLst/>
              <a:gdLst/>
              <a:ahLst/>
              <a:cxnLst/>
              <a:rect r="r" b="b" t="t" l="l"/>
              <a:pathLst>
                <a:path h="83798" w="629136">
                  <a:moveTo>
                    <a:pt x="41899" y="0"/>
                  </a:moveTo>
                  <a:lnTo>
                    <a:pt x="587237" y="0"/>
                  </a:lnTo>
                  <a:cubicBezTo>
                    <a:pt x="598349" y="0"/>
                    <a:pt x="609007" y="4414"/>
                    <a:pt x="616864" y="12272"/>
                  </a:cubicBezTo>
                  <a:cubicBezTo>
                    <a:pt x="624722" y="20130"/>
                    <a:pt x="629136" y="30787"/>
                    <a:pt x="629136" y="41899"/>
                  </a:cubicBezTo>
                  <a:lnTo>
                    <a:pt x="629136" y="41899"/>
                  </a:lnTo>
                  <a:cubicBezTo>
                    <a:pt x="629136" y="53011"/>
                    <a:pt x="624722" y="63668"/>
                    <a:pt x="616864" y="71526"/>
                  </a:cubicBezTo>
                  <a:cubicBezTo>
                    <a:pt x="609007" y="79384"/>
                    <a:pt x="598349" y="83798"/>
                    <a:pt x="587237" y="83798"/>
                  </a:cubicBezTo>
                  <a:lnTo>
                    <a:pt x="41899" y="83798"/>
                  </a:lnTo>
                  <a:cubicBezTo>
                    <a:pt x="30787" y="83798"/>
                    <a:pt x="20130" y="79384"/>
                    <a:pt x="12272" y="71526"/>
                  </a:cubicBezTo>
                  <a:cubicBezTo>
                    <a:pt x="4414" y="63668"/>
                    <a:pt x="0" y="53011"/>
                    <a:pt x="0" y="41899"/>
                  </a:cubicBezTo>
                  <a:lnTo>
                    <a:pt x="0" y="41899"/>
                  </a:lnTo>
                  <a:cubicBezTo>
                    <a:pt x="0" y="30787"/>
                    <a:pt x="4414" y="20130"/>
                    <a:pt x="12272" y="12272"/>
                  </a:cubicBezTo>
                  <a:cubicBezTo>
                    <a:pt x="20130" y="4414"/>
                    <a:pt x="30787" y="0"/>
                    <a:pt x="41899" y="0"/>
                  </a:cubicBezTo>
                  <a:close/>
                </a:path>
              </a:pathLst>
            </a:custGeom>
            <a:solidFill>
              <a:srgbClr val="D2C1B6"/>
            </a:solidFill>
            <a:ln w="38100" cap="rnd">
              <a:solidFill>
                <a:srgbClr val="FFFFFF"/>
              </a:solidFill>
              <a:prstDash val="solid"/>
              <a:round/>
            </a:ln>
          </p:spPr>
        </p:sp>
        <p:sp>
          <p:nvSpPr>
            <p:cNvPr name="TextBox 21" id="21"/>
            <p:cNvSpPr txBox="true"/>
            <p:nvPr/>
          </p:nvSpPr>
          <p:spPr>
            <a:xfrm>
              <a:off x="0" y="-38100"/>
              <a:ext cx="629136" cy="121898"/>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141346" y="3065811"/>
            <a:ext cx="13773616" cy="4155378"/>
            <a:chOff x="0" y="0"/>
            <a:chExt cx="3627619" cy="1094420"/>
          </a:xfrm>
        </p:grpSpPr>
        <p:sp>
          <p:nvSpPr>
            <p:cNvPr name="Freeform 3" id="3"/>
            <p:cNvSpPr/>
            <p:nvPr/>
          </p:nvSpPr>
          <p:spPr>
            <a:xfrm flipH="false" flipV="false" rot="0">
              <a:off x="0" y="0"/>
              <a:ext cx="3627619" cy="1094420"/>
            </a:xfrm>
            <a:custGeom>
              <a:avLst/>
              <a:gdLst/>
              <a:ahLst/>
              <a:cxnLst/>
              <a:rect r="r" b="b" t="t" l="l"/>
              <a:pathLst>
                <a:path h="1094420" w="3627619">
                  <a:moveTo>
                    <a:pt x="0" y="0"/>
                  </a:moveTo>
                  <a:lnTo>
                    <a:pt x="3627619" y="0"/>
                  </a:lnTo>
                  <a:lnTo>
                    <a:pt x="3627619" y="1094420"/>
                  </a:lnTo>
                  <a:lnTo>
                    <a:pt x="0" y="1094420"/>
                  </a:lnTo>
                  <a:close/>
                </a:path>
              </a:pathLst>
            </a:custGeom>
            <a:solidFill>
              <a:srgbClr val="456882"/>
            </a:solidFill>
          </p:spPr>
        </p:sp>
        <p:sp>
          <p:nvSpPr>
            <p:cNvPr name="TextBox 4" id="4"/>
            <p:cNvSpPr txBox="true"/>
            <p:nvPr/>
          </p:nvSpPr>
          <p:spPr>
            <a:xfrm>
              <a:off x="0" y="-38100"/>
              <a:ext cx="3627619" cy="113252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2034016" y="-316725"/>
            <a:ext cx="6850101" cy="10920450"/>
          </a:xfrm>
          <a:custGeom>
            <a:avLst/>
            <a:gdLst/>
            <a:ahLst/>
            <a:cxnLst/>
            <a:rect r="r" b="b" t="t" l="l"/>
            <a:pathLst>
              <a:path h="10920450" w="6850101">
                <a:moveTo>
                  <a:pt x="0" y="0"/>
                </a:moveTo>
                <a:lnTo>
                  <a:pt x="6850100" y="0"/>
                </a:lnTo>
                <a:lnTo>
                  <a:pt x="6850100" y="10920450"/>
                </a:lnTo>
                <a:lnTo>
                  <a:pt x="0" y="109204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0" y="0"/>
            <a:ext cx="3059915" cy="4114800"/>
          </a:xfrm>
          <a:custGeom>
            <a:avLst/>
            <a:gdLst/>
            <a:ahLst/>
            <a:cxnLst/>
            <a:rect r="r" b="b" t="t" l="l"/>
            <a:pathLst>
              <a:path h="4114800" w="3059915">
                <a:moveTo>
                  <a:pt x="0" y="0"/>
                </a:moveTo>
                <a:lnTo>
                  <a:pt x="3059915" y="0"/>
                </a:lnTo>
                <a:lnTo>
                  <a:pt x="3059915"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1127897" y="9258300"/>
            <a:ext cx="10005308" cy="255013"/>
            <a:chOff x="0" y="0"/>
            <a:chExt cx="2635143" cy="67164"/>
          </a:xfrm>
        </p:grpSpPr>
        <p:sp>
          <p:nvSpPr>
            <p:cNvPr name="Freeform 8" id="8"/>
            <p:cNvSpPr/>
            <p:nvPr/>
          </p:nvSpPr>
          <p:spPr>
            <a:xfrm flipH="false" flipV="false" rot="0">
              <a:off x="0" y="0"/>
              <a:ext cx="2635143" cy="67164"/>
            </a:xfrm>
            <a:custGeom>
              <a:avLst/>
              <a:gdLst/>
              <a:ahLst/>
              <a:cxnLst/>
              <a:rect r="r" b="b" t="t" l="l"/>
              <a:pathLst>
                <a:path h="67164" w="2635143">
                  <a:moveTo>
                    <a:pt x="0" y="0"/>
                  </a:moveTo>
                  <a:lnTo>
                    <a:pt x="2635143" y="0"/>
                  </a:lnTo>
                  <a:lnTo>
                    <a:pt x="2635143" y="67164"/>
                  </a:lnTo>
                  <a:lnTo>
                    <a:pt x="0" y="67164"/>
                  </a:lnTo>
                  <a:close/>
                </a:path>
              </a:pathLst>
            </a:custGeom>
            <a:solidFill>
              <a:srgbClr val="1B3C53"/>
            </a:solidFill>
          </p:spPr>
        </p:sp>
        <p:sp>
          <p:nvSpPr>
            <p:cNvPr name="TextBox 9" id="9"/>
            <p:cNvSpPr txBox="true"/>
            <p:nvPr/>
          </p:nvSpPr>
          <p:spPr>
            <a:xfrm>
              <a:off x="0" y="-38100"/>
              <a:ext cx="2635143" cy="105264"/>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0">
            <a:off x="0" y="9644889"/>
            <a:ext cx="10005308" cy="255013"/>
            <a:chOff x="0" y="0"/>
            <a:chExt cx="2635143" cy="67164"/>
          </a:xfrm>
        </p:grpSpPr>
        <p:sp>
          <p:nvSpPr>
            <p:cNvPr name="Freeform 11" id="11"/>
            <p:cNvSpPr/>
            <p:nvPr/>
          </p:nvSpPr>
          <p:spPr>
            <a:xfrm flipH="false" flipV="false" rot="0">
              <a:off x="0" y="0"/>
              <a:ext cx="2635143" cy="67164"/>
            </a:xfrm>
            <a:custGeom>
              <a:avLst/>
              <a:gdLst/>
              <a:ahLst/>
              <a:cxnLst/>
              <a:rect r="r" b="b" t="t" l="l"/>
              <a:pathLst>
                <a:path h="67164" w="2635143">
                  <a:moveTo>
                    <a:pt x="0" y="0"/>
                  </a:moveTo>
                  <a:lnTo>
                    <a:pt x="2635143" y="0"/>
                  </a:lnTo>
                  <a:lnTo>
                    <a:pt x="2635143" y="67164"/>
                  </a:lnTo>
                  <a:lnTo>
                    <a:pt x="0" y="67164"/>
                  </a:lnTo>
                  <a:close/>
                </a:path>
              </a:pathLst>
            </a:custGeom>
            <a:solidFill>
              <a:srgbClr val="D2C1B6"/>
            </a:solidFill>
          </p:spPr>
        </p:sp>
        <p:sp>
          <p:nvSpPr>
            <p:cNvPr name="TextBox 12" id="12"/>
            <p:cNvSpPr txBox="true"/>
            <p:nvPr/>
          </p:nvSpPr>
          <p:spPr>
            <a:xfrm>
              <a:off x="0" y="-38100"/>
              <a:ext cx="2635143" cy="105264"/>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true" flipV="false" rot="0">
            <a:off x="-1559016" y="6586521"/>
            <a:ext cx="3088973" cy="2285840"/>
          </a:xfrm>
          <a:custGeom>
            <a:avLst/>
            <a:gdLst/>
            <a:ahLst/>
            <a:cxnLst/>
            <a:rect r="r" b="b" t="t" l="l"/>
            <a:pathLst>
              <a:path h="2285840" w="3088973">
                <a:moveTo>
                  <a:pt x="3088973" y="0"/>
                </a:moveTo>
                <a:lnTo>
                  <a:pt x="0" y="0"/>
                </a:lnTo>
                <a:lnTo>
                  <a:pt x="0" y="2285840"/>
                </a:lnTo>
                <a:lnTo>
                  <a:pt x="3088973" y="2285840"/>
                </a:lnTo>
                <a:lnTo>
                  <a:pt x="3088973" y="0"/>
                </a:lnTo>
                <a:close/>
              </a:path>
            </a:pathLst>
          </a:custGeom>
          <a:blipFill>
            <a:blip r:embed="rId6">
              <a:alphaModFix amt="23000"/>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0">
            <a:off x="11499677" y="8802908"/>
            <a:ext cx="3685104" cy="2968184"/>
          </a:xfrm>
          <a:custGeom>
            <a:avLst/>
            <a:gdLst/>
            <a:ahLst/>
            <a:cxnLst/>
            <a:rect r="r" b="b" t="t" l="l"/>
            <a:pathLst>
              <a:path h="2968184" w="3685104">
                <a:moveTo>
                  <a:pt x="0" y="0"/>
                </a:moveTo>
                <a:lnTo>
                  <a:pt x="3685104" y="0"/>
                </a:lnTo>
                <a:lnTo>
                  <a:pt x="3685104" y="2968184"/>
                </a:lnTo>
                <a:lnTo>
                  <a:pt x="0" y="2968184"/>
                </a:lnTo>
                <a:lnTo>
                  <a:pt x="0" y="0"/>
                </a:lnTo>
                <a:close/>
              </a:path>
            </a:pathLst>
          </a:custGeom>
          <a:blipFill>
            <a:blip r:embed="rId8">
              <a:alphaModFix amt="36000"/>
              <a:extLst>
                <a:ext uri="{96DAC541-7B7A-43D3-8B79-37D633B846F1}">
                  <asvg:svgBlip xmlns:asvg="http://schemas.microsoft.com/office/drawing/2016/SVG/main" r:embed="rId9"/>
                </a:ext>
              </a:extLst>
            </a:blip>
            <a:stretch>
              <a:fillRect l="0" t="0" r="0" b="0"/>
            </a:stretch>
          </a:blipFill>
        </p:spPr>
      </p:sp>
      <p:sp>
        <p:nvSpPr>
          <p:cNvPr name="TextBox 15" id="15"/>
          <p:cNvSpPr txBox="true"/>
          <p:nvPr/>
        </p:nvSpPr>
        <p:spPr>
          <a:xfrm rot="0">
            <a:off x="4450302" y="2951511"/>
            <a:ext cx="8112737" cy="2281350"/>
          </a:xfrm>
          <a:prstGeom prst="rect">
            <a:avLst/>
          </a:prstGeom>
        </p:spPr>
        <p:txBody>
          <a:bodyPr anchor="t" rtlCol="false" tIns="0" lIns="0" bIns="0" rIns="0">
            <a:spAutoFit/>
          </a:bodyPr>
          <a:lstStyle/>
          <a:p>
            <a:pPr algn="l">
              <a:lnSpc>
                <a:spcPts val="18631"/>
              </a:lnSpc>
            </a:pPr>
            <a:r>
              <a:rPr lang="en-US" sz="13308" b="true">
                <a:solidFill>
                  <a:srgbClr val="FFFFFF"/>
                </a:solidFill>
                <a:latin typeface="Playfair Display Bold"/>
                <a:ea typeface="Playfair Display Bold"/>
                <a:cs typeface="Playfair Display Bold"/>
                <a:sym typeface="Playfair Display Bold"/>
              </a:rPr>
              <a:t>TERIMA</a:t>
            </a:r>
          </a:p>
        </p:txBody>
      </p:sp>
      <p:sp>
        <p:nvSpPr>
          <p:cNvPr name="TextBox 16" id="16"/>
          <p:cNvSpPr txBox="true"/>
          <p:nvPr/>
        </p:nvSpPr>
        <p:spPr>
          <a:xfrm rot="0">
            <a:off x="4450302" y="4593007"/>
            <a:ext cx="10073216" cy="2281350"/>
          </a:xfrm>
          <a:prstGeom prst="rect">
            <a:avLst/>
          </a:prstGeom>
        </p:spPr>
        <p:txBody>
          <a:bodyPr anchor="t" rtlCol="false" tIns="0" lIns="0" bIns="0" rIns="0">
            <a:spAutoFit/>
          </a:bodyPr>
          <a:lstStyle/>
          <a:p>
            <a:pPr algn="l">
              <a:lnSpc>
                <a:spcPts val="18631"/>
              </a:lnSpc>
            </a:pPr>
            <a:r>
              <a:rPr lang="en-US" sz="13308" b="true">
                <a:solidFill>
                  <a:srgbClr val="FFFFFF"/>
                </a:solidFill>
                <a:latin typeface="Playfair Display Bold"/>
                <a:ea typeface="Playfair Display Bold"/>
                <a:cs typeface="Playfair Display Bold"/>
                <a:sym typeface="Playfair Display Bold"/>
              </a:rPr>
              <a:t>KASIH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DAHRh71f5bk</dc:identifier>
  <dcterms:modified xsi:type="dcterms:W3CDTF">2011-08-01T06:04:30Z</dcterms:modified>
  <cp:revision>1</cp:revision>
  <dc:title>Biru dan Coklat Minimalis Seminar Proposal Presentasi</dc:title>
</cp:coreProperties>
</file>