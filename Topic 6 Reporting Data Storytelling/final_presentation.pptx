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836154.03</c:v>
                </c:pt>
                <c:pt idx="1">
                  <c:v>719047.03</c:v>
                </c:pt>
                <c:pt idx="2">
                  <c:v>741999.8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Office Supplies</c:v>
                </c:pt>
                <c:pt idx="2">
                  <c:v>Furniture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17.4</c:v>
                </c:pt>
                <c:pt idx="1">
                  <c:v>17.04</c:v>
                </c:pt>
                <c:pt idx="2">
                  <c:v>2.49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E293B"/>
                </a:solidFill>
              </a:defRPr>
            </a:pPr>
            <a:r>
              <a:t>Sample Superstore</a:t>
            </a:r>
          </a:p>
          <a:p>
            <a:pPr>
              <a:defRPr sz="2800">
                <a:solidFill>
                  <a:srgbClr val="2563EB"/>
                </a:solidFill>
              </a:defRPr>
            </a:pPr>
            <a:r>
              <a:t>Final Business Analysis Presentation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Data → Insight →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What happened?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Total Sales: $2.297M | Total Profit: $286.397K | Profit Margin: 12.47%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Technology is the leading category in both Sales and Profit.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Furniture has a much lower profit margin (~2.49%) than Technology (~17.40%) and Office Supplies (~17.04%).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Tables is the clearest loss point: Profit ≈ -$17.73K and margin ≈ -8.56%.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Discount shows a negative association with Profit, but the available data does not prove causation.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High Sales do not automatically mean healthy profitability.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Furniture generates substantial revenue but converts it into profit at a much lower rate.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Within Furniture, Tables is the most visible negative-profit sub-category.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Management needs to understand where profit is being lost before pursuing additional volume.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Business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E293B"/>
                </a:solidFill>
              </a:defRPr>
            </a:pPr>
            <a:r>
              <a:t>Which category contributes the most Sales and Profit?</a:t>
            </a:r>
          </a:p>
          <a:p>
            <a:pPr>
              <a:spcAft>
                <a:spcPts val="1300"/>
              </a:spcAft>
              <a:defRPr sz="2200">
                <a:solidFill>
                  <a:srgbClr val="1E293B"/>
                </a:solidFill>
              </a:defRPr>
            </a:pPr>
            <a:r>
              <a:t>Which sub-category has the weakest Profit?</a:t>
            </a:r>
          </a:p>
          <a:p>
            <a:pPr>
              <a:spcAft>
                <a:spcPts val="1300"/>
              </a:spcAft>
              <a:defRPr sz="2200">
                <a:solidFill>
                  <a:srgbClr val="1E293B"/>
                </a:solidFill>
              </a:defRPr>
            </a:pPr>
            <a:r>
              <a:t>How does Discount relate to Profit?</a:t>
            </a:r>
          </a:p>
          <a:p>
            <a:pPr>
              <a:spcAft>
                <a:spcPts val="1300"/>
              </a:spcAft>
              <a:defRPr sz="2200">
                <a:solidFill>
                  <a:srgbClr val="1E293B"/>
                </a:solidFill>
              </a:defRPr>
            </a:pPr>
            <a:r>
              <a:t>Where should management focus improvement efforts?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Dataset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Dataset: Sample Superstore — 9,994 transactions, 13 variables.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Comparison analysis: Sales and Profit by Category.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Drill-down analysis: Category → Sub-Category.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Contribution analysis: identify major profit/loss points.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Relationship review: Discount vs Profit.</a:t>
            </a:r>
          </a:p>
          <a:p>
            <a:pPr>
              <a:spcAft>
                <a:spcPts val="1300"/>
              </a:spcAft>
              <a:defRPr sz="1800">
                <a:solidFill>
                  <a:srgbClr val="1E293B"/>
                </a:solidFill>
              </a:defRPr>
            </a:pPr>
            <a:r>
              <a:t>Important limitation: correlation indicates association, not causation; Cost data is unavailable.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Key Finding 1 — Technology Leads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What happened?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17320"/>
          <a:ext cx="65836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828800"/>
            <a:ext cx="38404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Technology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Sales: $836.15K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Profit: $145.45K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Sales leadership is matched by Profit leadership.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Key Finding 2 — Furniture Profitability Gap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417320"/>
          <a:ext cx="64008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43800" y="1828800"/>
            <a:ext cx="40233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C2626"/>
                </a:solidFill>
              </a:defRPr>
            </a:pPr>
            <a:r>
              <a:t>Furniture ≈ 2.49%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Technology ≈ 17.40%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Office Supplies ≈ 17.04%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The gap indicates a profitability issue, not simply a Sales issue.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Key Finding 3 — Tables &amp; Discount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Tables Profit: ≈ -$17.73K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Tables Profit Margin: ≈ -8.56%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Average Tables Discount: ≈ 26.13%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Pearson correlation between Discount and Profit: ≈ -0.219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Interpretation: Discount is a signal worth investigating, not proof that Discount caused the loss.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Root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Confirmed loss point: Tables contributes negative Profit.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Potential contributing factor: relatively high Discount.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Other factors still need validation: product mix, pricing, and cost structure.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Because Cost is not available, the analysis should not claim a single causal driver.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Negative-profit Tables activity reduces overall profit quality.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Furniture's low margin means additional Sales alone may not solve the business problem.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Discount decisions can create a trade-off between volume and margin.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Without product-level profitability visibility, improvement efforts may target the wrong lever.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1. Review Tables at transaction/product level to identify loss patterns.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2. Evaluate discount thresholds and approval rules using Profit impact.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3. Review product mix and pricing for low-profit items.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4. Maintain focus on categories with strong Sales and Profit contribution.</a:t>
            </a:r>
          </a:p>
          <a:p>
            <a:pPr>
              <a:spcAft>
                <a:spcPts val="1300"/>
              </a:spcAft>
              <a:defRPr sz="1900">
                <a:solidFill>
                  <a:srgbClr val="1E293B"/>
                </a:solidFill>
              </a:defRPr>
            </a:pPr>
            <a:r>
              <a:t>5. Add Cost data to strengthen margin and root-cause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Reduce avoidable losses from low-profit transactions.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Improve Furniture profitability and margin discipline.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Make discount decisions using Profit, not Sales alone.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Improve product-level pricing and portfolio decisions.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Create a stronger evidence base for future profitability targets.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What happened: Furniture profitability is weak, with Tables as the clearest loss point.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Why: Tables is loss-making; Discount is a potential contributing factor that requires validation.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Impact: low-margin/high-loss activity limits the quality of overall profit.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What to do: review Tables, discount, product mix, pricing, and costs.</a:t>
            </a:r>
          </a:p>
          <a:p>
            <a:pPr>
              <a:spcAft>
                <a:spcPts val="1300"/>
              </a:spcAft>
              <a:defRPr sz="2000">
                <a:solidFill>
                  <a:srgbClr val="1E293B"/>
                </a:solidFill>
              </a:defRPr>
            </a:pPr>
            <a:r>
              <a:t>Expected result: stronger profitability control and more data-driven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37960"/>
            <a:ext cx="109728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56539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