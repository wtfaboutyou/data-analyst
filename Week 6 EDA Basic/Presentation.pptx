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-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Eksplorasi</a:t>
            </a:r>
            <a:r>
              <a:rPr dirty="0"/>
              <a:t> Data:</a:t>
            </a:r>
            <a:br>
              <a:rPr dirty="0"/>
            </a:br>
            <a:r>
              <a:rPr dirty="0"/>
              <a:t>Sample Superstore</a:t>
            </a:r>
          </a:p>
          <a:p>
            <a:pPr>
              <a:spcBef>
                <a:spcPts val="2000"/>
              </a:spcBef>
              <a:defRPr sz="2400">
                <a:solidFill>
                  <a:srgbClr val="E2E8F0"/>
                </a:solidFill>
                <a:latin typeface="Arial"/>
              </a:defRPr>
            </a:pPr>
            <a:r>
              <a:rPr dirty="0" err="1"/>
              <a:t>Laporan</a:t>
            </a:r>
            <a:r>
              <a:rPr dirty="0"/>
              <a:t> Mini Project EDA - Week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A4CA2-1F57-933A-8144-0AC6CEA8434D}"/>
              </a:ext>
            </a:extLst>
          </p:cNvPr>
          <p:cNvSpPr txBox="1"/>
          <p:nvPr/>
        </p:nvSpPr>
        <p:spPr>
          <a:xfrm>
            <a:off x="5027070" y="5640049"/>
            <a:ext cx="7034980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2000"/>
              </a:spcBef>
              <a:defRPr sz="2400">
                <a:solidFill>
                  <a:srgbClr val="E2E8F0"/>
                </a:solidFill>
                <a:latin typeface="Arial"/>
              </a:defRPr>
            </a:pPr>
            <a:r>
              <a:rPr lang="en-US" sz="2000" dirty="0" err="1"/>
              <a:t>Avrillia</a:t>
            </a:r>
            <a:r>
              <a:rPr lang="en-US" sz="2000" dirty="0"/>
              <a:t> Zahra </a:t>
            </a:r>
            <a:r>
              <a:rPr lang="en-US" sz="2000" dirty="0" err="1"/>
              <a:t>Khoirun</a:t>
            </a:r>
            <a:r>
              <a:rPr lang="en-US" sz="2000" dirty="0"/>
              <a:t> Nisa</a:t>
            </a:r>
          </a:p>
          <a:p>
            <a:pPr algn="r">
              <a:spcBef>
                <a:spcPts val="2000"/>
              </a:spcBef>
              <a:defRPr sz="2400">
                <a:solidFill>
                  <a:srgbClr val="E2E8F0"/>
                </a:solidFill>
                <a:latin typeface="Arial"/>
              </a:defRPr>
            </a:pPr>
            <a:r>
              <a:rPr lang="en-US" sz="2000" dirty="0"/>
              <a:t>SMKN 2 Surakarta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3657600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01 / Gambaran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289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tlCol="0" anchor="ctr"/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lang="en-US" dirty="0"/>
              <a:t>•</a:t>
            </a:r>
            <a:r>
              <a:rPr dirty="0"/>
              <a:t>  Dataset </a:t>
            </a:r>
            <a:r>
              <a:rPr dirty="0" err="1"/>
              <a:t>merekam</a:t>
            </a:r>
            <a:r>
              <a:rPr dirty="0"/>
              <a:t> </a:t>
            </a:r>
            <a:r>
              <a:rPr dirty="0" err="1"/>
              <a:t>aktivitas</a:t>
            </a:r>
            <a:r>
              <a:rPr dirty="0"/>
              <a:t> </a:t>
            </a:r>
            <a:r>
              <a:rPr dirty="0" err="1"/>
              <a:t>penjualan</a:t>
            </a:r>
            <a:r>
              <a:rPr dirty="0"/>
              <a:t> </a:t>
            </a:r>
            <a:r>
              <a:rPr dirty="0" err="1"/>
              <a:t>ritel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4 wilayah </a:t>
            </a:r>
            <a:r>
              <a:rPr dirty="0" err="1"/>
              <a:t>utama</a:t>
            </a:r>
            <a:r>
              <a:rPr dirty="0"/>
              <a:t> di Amerika </a:t>
            </a:r>
            <a:r>
              <a:rPr dirty="0" err="1"/>
              <a:t>Serikat</a:t>
            </a:r>
            <a:r>
              <a:rPr dirty="0"/>
              <a:t>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•  Skala Data: </a:t>
            </a:r>
            <a:r>
              <a:rPr dirty="0" err="1"/>
              <a:t>Memiliki</a:t>
            </a:r>
            <a:r>
              <a:rPr dirty="0"/>
              <a:t> 9.994 baris </a:t>
            </a:r>
            <a:r>
              <a:rPr dirty="0" err="1"/>
              <a:t>observasi</a:t>
            </a:r>
            <a:r>
              <a:rPr dirty="0"/>
              <a:t> </a:t>
            </a:r>
            <a:r>
              <a:rPr dirty="0" err="1"/>
              <a:t>transaksi</a:t>
            </a:r>
            <a:r>
              <a:rPr dirty="0"/>
              <a:t>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•  </a:t>
            </a:r>
            <a:r>
              <a:rPr dirty="0" err="1"/>
              <a:t>Dimensi</a:t>
            </a:r>
            <a:r>
              <a:rPr dirty="0"/>
              <a:t> Data: </a:t>
            </a:r>
            <a:r>
              <a:rPr dirty="0" err="1"/>
              <a:t>Terdapat</a:t>
            </a:r>
            <a:r>
              <a:rPr dirty="0"/>
              <a:t> 13 </a:t>
            </a:r>
            <a:r>
              <a:rPr dirty="0" err="1"/>
              <a:t>variabel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 </a:t>
            </a:r>
            <a:r>
              <a:rPr dirty="0" err="1"/>
              <a:t>termasuk</a:t>
            </a:r>
            <a:r>
              <a:rPr dirty="0"/>
              <a:t> </a:t>
            </a:r>
            <a:r>
              <a:rPr dirty="0" err="1"/>
              <a:t>Kategori</a:t>
            </a:r>
            <a:r>
              <a:rPr dirty="0"/>
              <a:t> </a:t>
            </a:r>
            <a:r>
              <a:rPr dirty="0" err="1"/>
              <a:t>Produk</a:t>
            </a:r>
            <a:r>
              <a:rPr dirty="0"/>
              <a:t>, Region, Sales, Profit, dan Discount.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•  Tujuan </a:t>
            </a:r>
            <a:r>
              <a:rPr dirty="0" err="1"/>
              <a:t>Analisis</a:t>
            </a:r>
            <a:r>
              <a:rPr dirty="0"/>
              <a:t>: </a:t>
            </a:r>
            <a:r>
              <a:rPr dirty="0" err="1"/>
              <a:t>Mengidentifikasi</a:t>
            </a:r>
            <a:r>
              <a:rPr dirty="0"/>
              <a:t> </a:t>
            </a:r>
            <a:r>
              <a:rPr dirty="0" err="1"/>
              <a:t>pola</a:t>
            </a:r>
            <a:r>
              <a:rPr dirty="0"/>
              <a:t> </a:t>
            </a:r>
            <a:r>
              <a:rPr dirty="0" err="1"/>
              <a:t>penjualan</a:t>
            </a:r>
            <a:r>
              <a:rPr dirty="0"/>
              <a:t>, </a:t>
            </a:r>
            <a:r>
              <a:rPr dirty="0" err="1"/>
              <a:t>menemukan</a:t>
            </a:r>
            <a:r>
              <a:rPr dirty="0"/>
              <a:t> </a:t>
            </a:r>
            <a:r>
              <a:rPr dirty="0" err="1"/>
              <a:t>akar</a:t>
            </a:r>
            <a:r>
              <a:rPr dirty="0"/>
              <a:t> </a:t>
            </a:r>
            <a:r>
              <a:rPr dirty="0" err="1"/>
              <a:t>penyebab</a:t>
            </a:r>
            <a:r>
              <a:rPr dirty="0"/>
              <a:t> </a:t>
            </a:r>
            <a:r>
              <a:rPr dirty="0" err="1"/>
              <a:t>kerugian</a:t>
            </a:r>
            <a:r>
              <a:rPr dirty="0"/>
              <a:t>, dan </a:t>
            </a:r>
            <a:r>
              <a:rPr dirty="0" err="1"/>
              <a:t>menyusun</a:t>
            </a:r>
            <a:r>
              <a:rPr dirty="0"/>
              <a:t> strategi </a:t>
            </a:r>
            <a:r>
              <a:rPr dirty="0" err="1"/>
              <a:t>diskon</a:t>
            </a:r>
            <a:r>
              <a:rPr dirty="0"/>
              <a:t> yang optimal.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FDD26-61B5-4BF1-FFBE-909A06929337}"/>
              </a:ext>
            </a:extLst>
          </p:cNvPr>
          <p:cNvSpPr txBox="1"/>
          <p:nvPr/>
        </p:nvSpPr>
        <p:spPr>
          <a:xfrm>
            <a:off x="2526738" y="2128269"/>
            <a:ext cx="713821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600" b="1">
                <a:solidFill>
                  <a:srgbClr val="2563EB"/>
                </a:solidFill>
              </a:defRPr>
            </a:pPr>
            <a:r>
              <a:rPr lang="en-US" sz="2600" dirty="0" err="1"/>
              <a:t>Konteks</a:t>
            </a:r>
            <a:r>
              <a:rPr lang="en-US" sz="2600" dirty="0"/>
              <a:t> </a:t>
            </a:r>
            <a:r>
              <a:rPr lang="en-US" sz="2600" dirty="0" err="1"/>
              <a:t>Bisnis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3657600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dirty="0"/>
              <a:t>02 / </a:t>
            </a:r>
            <a:r>
              <a:rPr dirty="0" err="1"/>
              <a:t>Statistik</a:t>
            </a:r>
            <a:r>
              <a:rPr dirty="0"/>
              <a:t> </a:t>
            </a:r>
            <a:r>
              <a:rPr dirty="0" err="1"/>
              <a:t>Deskriptif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286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0" rtlCol="0" anchor="ctr"/>
          <a:lstStyle/>
          <a:p>
            <a:pPr algn="ctr">
              <a:spcBef>
                <a:spcPts val="1500"/>
              </a:spcBef>
              <a:defRPr sz="3000" b="1">
                <a:solidFill>
                  <a:srgbClr val="2563EB"/>
                </a:solidFill>
              </a:defRPr>
            </a:pPr>
            <a:r>
              <a:rPr dirty="0"/>
              <a:t>9,994</a:t>
            </a:r>
          </a:p>
          <a:p>
            <a:pPr algn="ctr">
              <a:spcBef>
                <a:spcPts val="1500"/>
              </a:spcBef>
              <a:defRPr sz="1200">
                <a:solidFill>
                  <a:srgbClr val="0D9488"/>
                </a:solidFill>
              </a:defRPr>
            </a:pPr>
            <a:r>
              <a:rPr dirty="0" err="1"/>
              <a:t>Pesanan</a:t>
            </a:r>
            <a:r>
              <a:rPr dirty="0"/>
              <a:t> </a:t>
            </a:r>
            <a:r>
              <a:rPr dirty="0" err="1"/>
              <a:t>tercatat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727655" y="2286000"/>
            <a:ext cx="2286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0" rtlCol="0" anchor="ctr"/>
          <a:lstStyle/>
          <a:p>
            <a:pPr algn="ctr">
              <a:spcBef>
                <a:spcPts val="1500"/>
              </a:spcBef>
              <a:defRPr sz="3000" b="1">
                <a:solidFill>
                  <a:srgbClr val="2563EB"/>
                </a:solidFill>
              </a:defRPr>
            </a:pPr>
            <a:r>
              <a:rPr dirty="0"/>
              <a:t>$ 229.85</a:t>
            </a:r>
          </a:p>
          <a:p>
            <a:pPr algn="ctr">
              <a:spcBef>
                <a:spcPts val="1500"/>
              </a:spcBef>
              <a:defRPr sz="1200">
                <a:solidFill>
                  <a:srgbClr val="0D9488"/>
                </a:solidFill>
              </a:defRPr>
            </a:pPr>
            <a:r>
              <a:rPr dirty="0"/>
              <a:t>Per </a:t>
            </a:r>
            <a:r>
              <a:rPr dirty="0" err="1"/>
              <a:t>transaksi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2286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0" rtlCol="0" anchor="ctr"/>
          <a:lstStyle/>
          <a:p>
            <a:pPr algn="ctr">
              <a:spcBef>
                <a:spcPts val="1500"/>
              </a:spcBef>
              <a:defRPr sz="3000" b="1">
                <a:solidFill>
                  <a:srgbClr val="2563EB"/>
                </a:solidFill>
              </a:defRPr>
            </a:pPr>
            <a:r>
              <a:rPr dirty="0"/>
              <a:t>$ 28.65</a:t>
            </a:r>
          </a:p>
          <a:p>
            <a:pPr algn="ctr">
              <a:spcBef>
                <a:spcPts val="1500"/>
              </a:spcBef>
              <a:defRPr sz="1200">
                <a:solidFill>
                  <a:srgbClr val="0D9488"/>
                </a:solidFill>
              </a:defRPr>
            </a:pPr>
            <a:r>
              <a:rPr dirty="0"/>
              <a:t>Per </a:t>
            </a:r>
            <a:r>
              <a:rPr dirty="0" err="1"/>
              <a:t>transaksi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9144000" y="2286000"/>
            <a:ext cx="2286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0" rtlCol="0" anchor="ctr"/>
          <a:lstStyle/>
          <a:p>
            <a:pPr algn="ctr">
              <a:spcBef>
                <a:spcPts val="1500"/>
              </a:spcBef>
              <a:defRPr sz="3000" b="1">
                <a:solidFill>
                  <a:srgbClr val="2563EB"/>
                </a:solidFill>
              </a:defRPr>
            </a:pPr>
            <a:r>
              <a:rPr dirty="0"/>
              <a:t>- $ 6,599</a:t>
            </a:r>
          </a:p>
          <a:p>
            <a:pPr algn="ctr">
              <a:spcBef>
                <a:spcPts val="1500"/>
              </a:spcBef>
              <a:defRPr sz="1200">
                <a:solidFill>
                  <a:srgbClr val="0D9488"/>
                </a:solidFill>
              </a:defRPr>
            </a:pPr>
            <a:r>
              <a:rPr dirty="0"/>
              <a:t>Warning Indicator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4D221-6388-7DCC-750C-74A09B636AF1}"/>
              </a:ext>
            </a:extLst>
          </p:cNvPr>
          <p:cNvSpPr txBox="1"/>
          <p:nvPr/>
        </p:nvSpPr>
        <p:spPr>
          <a:xfrm>
            <a:off x="-1511709" y="3017456"/>
            <a:ext cx="713821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</a:defRPr>
            </a:pPr>
            <a:r>
              <a:rPr lang="en-US" sz="1300" dirty="0"/>
              <a:t>TOTAL TRANSAKSI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4AA38-5981-F461-D846-EDE2D463C4A8}"/>
              </a:ext>
            </a:extLst>
          </p:cNvPr>
          <p:cNvSpPr txBox="1"/>
          <p:nvPr/>
        </p:nvSpPr>
        <p:spPr>
          <a:xfrm>
            <a:off x="1163894" y="3017456"/>
            <a:ext cx="74135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</a:defRPr>
            </a:pPr>
            <a:r>
              <a:rPr lang="en-US" sz="1300" dirty="0"/>
              <a:t>RATA-RATA SALES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66B34-2A7E-92D3-CD63-73A3FC2429AD}"/>
              </a:ext>
            </a:extLst>
          </p:cNvPr>
          <p:cNvSpPr txBox="1"/>
          <p:nvPr/>
        </p:nvSpPr>
        <p:spPr>
          <a:xfrm>
            <a:off x="3837039" y="3017456"/>
            <a:ext cx="74135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</a:defRPr>
            </a:pPr>
            <a:r>
              <a:rPr lang="en-US" sz="1300" dirty="0"/>
              <a:t>RATA-RATA PROFIT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71A79-88AF-8888-150C-4A2B324FA501}"/>
              </a:ext>
            </a:extLst>
          </p:cNvPr>
          <p:cNvSpPr txBox="1"/>
          <p:nvPr/>
        </p:nvSpPr>
        <p:spPr>
          <a:xfrm>
            <a:off x="6580239" y="3017456"/>
            <a:ext cx="741352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</a:defRPr>
            </a:pPr>
            <a:r>
              <a:rPr lang="en-US" sz="1300" dirty="0"/>
              <a:t>KERUGIAN MAKS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3657600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4880" y="996991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dirty="0"/>
              <a:t>03 / </a:t>
            </a:r>
            <a:r>
              <a:rPr dirty="0" err="1"/>
              <a:t>Visualisasi</a:t>
            </a:r>
            <a:r>
              <a:rPr dirty="0"/>
              <a:t> &amp; Insight Awal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</a:defRPr>
            </a:pPr>
            <a:r>
              <a:rPr dirty="0"/>
              <a:t>• </a:t>
            </a:r>
            <a:r>
              <a:rPr dirty="0" err="1"/>
              <a:t>Konsumen</a:t>
            </a:r>
            <a:r>
              <a:rPr dirty="0"/>
              <a:t> Retail </a:t>
            </a:r>
            <a:r>
              <a:rPr dirty="0" err="1"/>
              <a:t>Dominan</a:t>
            </a:r>
            <a:r>
              <a:rPr dirty="0"/>
              <a:t>: </a:t>
            </a:r>
            <a:r>
              <a:rPr dirty="0" err="1"/>
              <a:t>Segmen</a:t>
            </a:r>
            <a:r>
              <a:rPr dirty="0"/>
              <a:t> 'Consumer' </a:t>
            </a:r>
            <a:r>
              <a:rPr dirty="0" err="1"/>
              <a:t>menyumbang</a:t>
            </a:r>
            <a:r>
              <a:rPr dirty="0"/>
              <a:t> </a:t>
            </a:r>
            <a:r>
              <a:rPr dirty="0" err="1"/>
              <a:t>porsi</a:t>
            </a:r>
            <a:r>
              <a:rPr dirty="0"/>
              <a:t> </a:t>
            </a:r>
            <a:r>
              <a:rPr dirty="0" err="1"/>
              <a:t>terbesar</a:t>
            </a:r>
            <a:r>
              <a:rPr dirty="0"/>
              <a:t> (51.9%).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</a:defRPr>
            </a:pPr>
            <a:r>
              <a:rPr dirty="0"/>
              <a:t>• Office Supplies Paling Laku: </a:t>
            </a:r>
            <a:r>
              <a:rPr dirty="0" err="1"/>
              <a:t>Secara</a:t>
            </a:r>
            <a:r>
              <a:rPr dirty="0"/>
              <a:t> volume, </a:t>
            </a:r>
            <a:r>
              <a:rPr dirty="0" err="1"/>
              <a:t>produk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kantor</a:t>
            </a:r>
            <a:r>
              <a:rPr dirty="0"/>
              <a:t> </a:t>
            </a:r>
            <a:r>
              <a:rPr dirty="0" err="1"/>
              <a:t>mencatat</a:t>
            </a:r>
            <a:r>
              <a:rPr dirty="0"/>
              <a:t> &gt;6.000 </a:t>
            </a:r>
            <a:r>
              <a:rPr dirty="0" err="1"/>
              <a:t>transaksi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</a:defRPr>
            </a:pPr>
            <a:r>
              <a:rPr dirty="0"/>
              <a:t>• Technology Paling Cuan: </a:t>
            </a:r>
            <a:r>
              <a:rPr dirty="0" err="1"/>
              <a:t>Meski</a:t>
            </a:r>
            <a:r>
              <a:rPr dirty="0"/>
              <a:t> </a:t>
            </a:r>
            <a:r>
              <a:rPr dirty="0" err="1"/>
              <a:t>transaksinya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sedikit</a:t>
            </a:r>
            <a:r>
              <a:rPr dirty="0"/>
              <a:t>, </a:t>
            </a:r>
            <a:r>
              <a:rPr dirty="0" err="1"/>
              <a:t>kategori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menyumbang</a:t>
            </a:r>
            <a:r>
              <a:rPr dirty="0"/>
              <a:t> total Sales dan Profit </a:t>
            </a:r>
            <a:r>
              <a:rPr dirty="0" err="1"/>
              <a:t>tertinggi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rPr dirty="0"/>
              <a:t>• </a:t>
            </a:r>
            <a:r>
              <a:rPr dirty="0" err="1"/>
              <a:t>Paradoks</a:t>
            </a:r>
            <a:r>
              <a:rPr dirty="0"/>
              <a:t> </a:t>
            </a:r>
            <a:r>
              <a:rPr dirty="0" err="1"/>
              <a:t>Diskon</a:t>
            </a:r>
            <a:r>
              <a:rPr dirty="0"/>
              <a:t>: </a:t>
            </a:r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korelasi</a:t>
            </a:r>
            <a:r>
              <a:rPr dirty="0"/>
              <a:t> </a:t>
            </a:r>
            <a:r>
              <a:rPr dirty="0" err="1"/>
              <a:t>menemukan</a:t>
            </a:r>
            <a:r>
              <a:rPr dirty="0"/>
              <a:t> </a:t>
            </a:r>
            <a:r>
              <a:rPr dirty="0" err="1"/>
              <a:t>hubungan</a:t>
            </a:r>
            <a:r>
              <a:rPr dirty="0"/>
              <a:t> </a:t>
            </a:r>
            <a:r>
              <a:rPr dirty="0" err="1"/>
              <a:t>negatif</a:t>
            </a:r>
            <a:r>
              <a:rPr dirty="0"/>
              <a:t> (-0.22) </a:t>
            </a:r>
            <a:r>
              <a:rPr dirty="0" err="1"/>
              <a:t>antara</a:t>
            </a:r>
            <a:r>
              <a:rPr dirty="0"/>
              <a:t> </a:t>
            </a:r>
            <a:r>
              <a:rPr dirty="0" err="1"/>
              <a:t>Diskon</a:t>
            </a:r>
            <a:r>
              <a:rPr dirty="0"/>
              <a:t> dan Profit.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rPr dirty="0"/>
              <a:t>• Batas </a:t>
            </a:r>
            <a:r>
              <a:rPr dirty="0" err="1"/>
              <a:t>Toleransi</a:t>
            </a:r>
            <a:r>
              <a:rPr dirty="0"/>
              <a:t>: </a:t>
            </a:r>
            <a:r>
              <a:rPr dirty="0" err="1"/>
              <a:t>Pemberian</a:t>
            </a:r>
            <a:r>
              <a:rPr dirty="0"/>
              <a:t> </a:t>
            </a:r>
            <a:r>
              <a:rPr dirty="0" err="1"/>
              <a:t>diskon</a:t>
            </a:r>
            <a:r>
              <a:rPr dirty="0"/>
              <a:t> di </a:t>
            </a:r>
            <a:r>
              <a:rPr dirty="0" err="1"/>
              <a:t>atas</a:t>
            </a:r>
            <a:r>
              <a:rPr dirty="0"/>
              <a:t> 30%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konsisten</a:t>
            </a:r>
            <a:r>
              <a:rPr dirty="0"/>
              <a:t> </a:t>
            </a:r>
            <a:r>
              <a:rPr dirty="0" err="1"/>
              <a:t>menyeret</a:t>
            </a:r>
            <a:r>
              <a:rPr dirty="0"/>
              <a:t> </a:t>
            </a:r>
            <a:r>
              <a:rPr dirty="0" err="1"/>
              <a:t>transaksi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arah</a:t>
            </a:r>
            <a:r>
              <a:rPr dirty="0"/>
              <a:t> </a:t>
            </a:r>
            <a:r>
              <a:rPr dirty="0" err="1"/>
              <a:t>kerugian</a:t>
            </a:r>
            <a:r>
              <a:rPr dirty="0"/>
              <a:t> (profit </a:t>
            </a:r>
            <a:r>
              <a:rPr dirty="0" err="1"/>
              <a:t>negatif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rPr dirty="0"/>
              <a:t>• </a:t>
            </a:r>
            <a:r>
              <a:rPr dirty="0" err="1"/>
              <a:t>Efek</a:t>
            </a:r>
            <a:r>
              <a:rPr dirty="0"/>
              <a:t> </a:t>
            </a:r>
            <a:r>
              <a:rPr dirty="0" err="1"/>
              <a:t>Ekstrem</a:t>
            </a:r>
            <a:r>
              <a:rPr dirty="0"/>
              <a:t>: </a:t>
            </a:r>
            <a:r>
              <a:rPr dirty="0" err="1"/>
              <a:t>Diskon</a:t>
            </a:r>
            <a:r>
              <a:rPr dirty="0"/>
              <a:t> sangat </a:t>
            </a:r>
            <a:r>
              <a:rPr dirty="0" err="1"/>
              <a:t>tinggi</a:t>
            </a:r>
            <a:r>
              <a:rPr dirty="0"/>
              <a:t> (</a:t>
            </a:r>
            <a:r>
              <a:rPr dirty="0" err="1"/>
              <a:t>hingga</a:t>
            </a:r>
            <a:r>
              <a:rPr dirty="0"/>
              <a:t> 80%) </a:t>
            </a:r>
            <a:r>
              <a:rPr dirty="0" err="1"/>
              <a:t>menghancurkan</a:t>
            </a:r>
            <a:r>
              <a:rPr dirty="0"/>
              <a:t> margin </a:t>
            </a:r>
            <a:r>
              <a:rPr dirty="0" err="1"/>
              <a:t>keuntungan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meningkatkan</a:t>
            </a:r>
            <a:r>
              <a:rPr dirty="0"/>
              <a:t> volume.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F3A21-67E7-DB28-6F5E-C81D146E9AC4}"/>
              </a:ext>
            </a:extLst>
          </p:cNvPr>
          <p:cNvSpPr txBox="1"/>
          <p:nvPr/>
        </p:nvSpPr>
        <p:spPr>
          <a:xfrm>
            <a:off x="-185829" y="2042417"/>
            <a:ext cx="7138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200" b="1">
                <a:solidFill>
                  <a:srgbClr val="0D9488"/>
                </a:solidFill>
              </a:defRPr>
            </a:pPr>
            <a:r>
              <a:rPr lang="en-US" sz="2200" dirty="0"/>
              <a:t>Pilar </a:t>
            </a:r>
            <a:r>
              <a:rPr lang="en-US" sz="2200" dirty="0" err="1"/>
              <a:t>Penjualan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70445-B946-9C6A-11C0-85A9794D1D42}"/>
              </a:ext>
            </a:extLst>
          </p:cNvPr>
          <p:cNvSpPr txBox="1"/>
          <p:nvPr/>
        </p:nvSpPr>
        <p:spPr>
          <a:xfrm>
            <a:off x="5209131" y="2042417"/>
            <a:ext cx="7138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200" b="1">
                <a:solidFill>
                  <a:srgbClr val="FFFFFF"/>
                </a:solidFill>
              </a:defRPr>
            </a:pPr>
            <a:r>
              <a:rPr lang="en-US" sz="2200" dirty="0" err="1"/>
              <a:t>Identifikasi</a:t>
            </a:r>
            <a:r>
              <a:rPr lang="en-US" sz="2200" dirty="0"/>
              <a:t> </a:t>
            </a:r>
            <a:r>
              <a:rPr lang="en-US" sz="2200" dirty="0" err="1"/>
              <a:t>Masalah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3657600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16656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04 / Potensi Analisis Lanjutan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289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tlCol="0" anchor="ctr"/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•  Trend Analysis: </a:t>
            </a:r>
            <a:r>
              <a:rPr dirty="0" err="1"/>
              <a:t>Melakukan</a:t>
            </a:r>
            <a:r>
              <a:rPr dirty="0"/>
              <a:t> </a:t>
            </a:r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runtut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 (time-series)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mendeteksi</a:t>
            </a:r>
            <a:r>
              <a:rPr dirty="0"/>
              <a:t> </a:t>
            </a:r>
            <a:r>
              <a:rPr dirty="0" err="1"/>
              <a:t>lonjakan</a:t>
            </a:r>
            <a:r>
              <a:rPr dirty="0"/>
              <a:t> </a:t>
            </a:r>
            <a:r>
              <a:rPr dirty="0" err="1"/>
              <a:t>musiman</a:t>
            </a:r>
            <a:r>
              <a:rPr dirty="0"/>
              <a:t> (seasonality) pada </a:t>
            </a:r>
            <a:r>
              <a:rPr dirty="0" err="1"/>
              <a:t>penjualan</a:t>
            </a:r>
            <a:r>
              <a:rPr dirty="0"/>
              <a:t>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•  Outlier Investigation: </a:t>
            </a:r>
            <a:r>
              <a:rPr dirty="0" err="1"/>
              <a:t>Membedah</a:t>
            </a:r>
            <a:r>
              <a:rPr dirty="0"/>
              <a:t> data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pada </a:t>
            </a:r>
            <a:r>
              <a:rPr dirty="0" err="1"/>
              <a:t>transaksi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kerugian</a:t>
            </a:r>
            <a:r>
              <a:rPr dirty="0"/>
              <a:t> </a:t>
            </a:r>
            <a:r>
              <a:rPr dirty="0" err="1"/>
              <a:t>ekstrem</a:t>
            </a:r>
            <a:r>
              <a:rPr dirty="0"/>
              <a:t> (-$6,599)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mengetahui</a:t>
            </a:r>
            <a:r>
              <a:rPr dirty="0"/>
              <a:t> </a:t>
            </a:r>
            <a:r>
              <a:rPr dirty="0" err="1"/>
              <a:t>pelanggan</a:t>
            </a:r>
            <a:r>
              <a:rPr dirty="0"/>
              <a:t>, </a:t>
            </a:r>
            <a:r>
              <a:rPr dirty="0" err="1"/>
              <a:t>produk</a:t>
            </a:r>
            <a:r>
              <a:rPr dirty="0"/>
              <a:t>, dan </a:t>
            </a:r>
            <a:r>
              <a:rPr dirty="0" err="1"/>
              <a:t>pemicunya</a:t>
            </a:r>
            <a:r>
              <a:rPr dirty="0"/>
              <a:t>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•  </a:t>
            </a:r>
            <a:r>
              <a:rPr dirty="0" err="1"/>
              <a:t>Segmentasi</a:t>
            </a:r>
            <a:r>
              <a:rPr dirty="0"/>
              <a:t> </a:t>
            </a:r>
            <a:r>
              <a:rPr dirty="0" err="1"/>
              <a:t>Mendalam</a:t>
            </a:r>
            <a:r>
              <a:rPr dirty="0"/>
              <a:t>: </a:t>
            </a:r>
            <a:r>
              <a:rPr dirty="0" err="1"/>
              <a:t>Menganalisis</a:t>
            </a:r>
            <a:r>
              <a:rPr dirty="0"/>
              <a:t> </a:t>
            </a:r>
            <a:r>
              <a:rPr dirty="0" err="1"/>
              <a:t>mengapa</a:t>
            </a:r>
            <a:r>
              <a:rPr dirty="0"/>
              <a:t> </a:t>
            </a:r>
            <a:r>
              <a:rPr dirty="0" err="1"/>
              <a:t>segmen</a:t>
            </a:r>
            <a:r>
              <a:rPr dirty="0"/>
              <a:t> 'Home Office' </a:t>
            </a:r>
            <a:r>
              <a:rPr dirty="0" err="1"/>
              <a:t>tertinggal</a:t>
            </a:r>
            <a:r>
              <a:rPr dirty="0"/>
              <a:t> </a:t>
            </a:r>
            <a:r>
              <a:rPr dirty="0" err="1"/>
              <a:t>jauh</a:t>
            </a:r>
            <a:r>
              <a:rPr dirty="0"/>
              <a:t> di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kategori</a:t>
            </a:r>
            <a:r>
              <a:rPr dirty="0"/>
              <a:t>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•  </a:t>
            </a:r>
            <a:r>
              <a:rPr dirty="0" err="1"/>
              <a:t>Pembuatan</a:t>
            </a:r>
            <a:r>
              <a:rPr dirty="0"/>
              <a:t> Dashboard: </a:t>
            </a:r>
            <a:r>
              <a:rPr dirty="0" err="1"/>
              <a:t>Membangun</a:t>
            </a:r>
            <a:r>
              <a:rPr dirty="0"/>
              <a:t> dashboard </a:t>
            </a:r>
            <a:r>
              <a:rPr dirty="0" err="1"/>
              <a:t>interaktif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memonitor</a:t>
            </a:r>
            <a:r>
              <a:rPr dirty="0"/>
              <a:t> KPI </a:t>
            </a:r>
            <a:r>
              <a:rPr dirty="0" err="1"/>
              <a:t>utama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real-time dan </a:t>
            </a:r>
            <a:r>
              <a:rPr dirty="0" err="1"/>
              <a:t>membuat</a:t>
            </a:r>
            <a:r>
              <a:rPr dirty="0"/>
              <a:t> filter </a:t>
            </a:r>
            <a:r>
              <a:rPr dirty="0" err="1"/>
              <a:t>pengawasan</a:t>
            </a:r>
            <a:r>
              <a:rPr dirty="0"/>
              <a:t> batas </a:t>
            </a:r>
            <a:r>
              <a:rPr dirty="0" err="1"/>
              <a:t>aman</a:t>
            </a:r>
            <a:r>
              <a:rPr dirty="0"/>
              <a:t> </a:t>
            </a:r>
            <a:r>
              <a:rPr dirty="0" err="1"/>
              <a:t>diskon</a:t>
            </a:r>
            <a:r>
              <a:rPr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8EDA9-6B52-C8E0-309F-10C4DDC52131}"/>
              </a:ext>
            </a:extLst>
          </p:cNvPr>
          <p:cNvSpPr txBox="1"/>
          <p:nvPr/>
        </p:nvSpPr>
        <p:spPr>
          <a:xfrm>
            <a:off x="2526738" y="1971028"/>
            <a:ext cx="713821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600" b="1">
                <a:solidFill>
                  <a:srgbClr val="0D9488"/>
                </a:solidFill>
              </a:defRPr>
            </a:pPr>
            <a:r>
              <a:rPr lang="en-US" sz="2600" dirty="0" err="1"/>
              <a:t>Rencana</a:t>
            </a:r>
            <a:r>
              <a:rPr lang="en-US" sz="2600" dirty="0"/>
              <a:t> Aksi (Week 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329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 Ideapad</cp:lastModifiedBy>
  <cp:revision>2</cp:revision>
  <dcterms:created xsi:type="dcterms:W3CDTF">2013-01-27T09:14:16Z</dcterms:created>
  <dcterms:modified xsi:type="dcterms:W3CDTF">2026-09-02T10:05:30Z</dcterms:modified>
  <cp:category/>
</cp:coreProperties>
</file>