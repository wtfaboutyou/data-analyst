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9035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63347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Data Superstore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Insight, Permasalahan, dan Rekomendasi Bisnis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EDA — Week 7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Superstore</a:t>
            </a:r>
            <a:endParaRPr lang="en-US" sz="11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9B3E0B-17C1-C9B6-F542-F161424D0DB8}"/>
              </a:ext>
            </a:extLst>
          </p:cNvPr>
          <p:cNvSpPr txBox="1"/>
          <p:nvPr/>
        </p:nvSpPr>
        <p:spPr>
          <a:xfrm>
            <a:off x="8722233" y="342913"/>
            <a:ext cx="3279267" cy="59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009999"/>
                </a:solidFill>
                <a:latin typeface="Bowlby One SC" panose="02000505060000020004" pitchFamily="2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400" dirty="0">
                <a:solidFill>
                  <a:srgbClr val="009999"/>
                </a:solidFill>
                <a:latin typeface="Bowlby One SC" panose="02000505060000020004" pitchFamily="2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400" dirty="0" err="1">
                <a:solidFill>
                  <a:srgbClr val="009999"/>
                </a:solidFill>
                <a:latin typeface="Bowlby One SC" panose="02000505060000020004" pitchFamily="2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400" dirty="0">
                <a:solidFill>
                  <a:srgbClr val="009999"/>
                </a:solidFill>
                <a:latin typeface="Bowlby One SC" panose="02000505060000020004" pitchFamily="2" charset="0"/>
                <a:ea typeface="Calibri" pitchFamily="34" charset="-122"/>
                <a:cs typeface="Calibri" pitchFamily="34" charset="-120"/>
              </a:rPr>
              <a:t> Nisa</a:t>
            </a:r>
          </a:p>
          <a:p>
            <a:pPr marL="0" indent="0" algn="r">
              <a:lnSpc>
                <a:spcPct val="120000"/>
              </a:lnSpc>
              <a:buNone/>
            </a:pPr>
            <a:r>
              <a:rPr lang="en-US" sz="1400" dirty="0">
                <a:solidFill>
                  <a:srgbClr val="009999"/>
                </a:solidFill>
                <a:latin typeface="Bowlby One SC" panose="02000505060000020004" pitchFamily="2" charset="0"/>
                <a:ea typeface="Calibri" pitchFamily="34" charset="-122"/>
                <a:cs typeface="Calibri" pitchFamily="34" charset="-120"/>
              </a:rPr>
              <a:t>SMKN 2 Surakarta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Gambaran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transaksi Sample Superstore yang dianalisis untuk melihat pola penjualan dan profitabilitas.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6844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554480"/>
            <a:ext cx="233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BARIS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" y="1801368"/>
            <a:ext cx="233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9.994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21792" y="2313432"/>
            <a:ext cx="233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transaksi pada dataset.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26816" y="1417320"/>
            <a:ext cx="266844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91408" y="1554480"/>
            <a:ext cx="233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KOLOM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91408" y="1801368"/>
            <a:ext cx="233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91408" y="2313432"/>
            <a:ext cx="233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kategorikal + 5 numerik.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96432" y="1417320"/>
            <a:ext cx="266844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1024" y="1554480"/>
            <a:ext cx="233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61024" y="1801368"/>
            <a:ext cx="233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$229,86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61024" y="2313432"/>
            <a:ext cx="233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per transaksi.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66047" y="1417320"/>
            <a:ext cx="266844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0639" y="1554480"/>
            <a:ext cx="233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230639" y="1801368"/>
            <a:ext cx="233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$28,66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30639" y="2313432"/>
            <a:ext cx="233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profit per transaksi.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66751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1729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UTAMA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61264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Dimensi: </a:t>
            </a:r>
            <a:r>
              <a:rPr lang="en-US" sz="1300" dirty="0">
                <a:solidFill>
                  <a:srgbClr val="2B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Mode, Segment, Country, City, State, Region, Category, Sub-Category.
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Metrik: </a:t>
            </a:r>
            <a:r>
              <a:rPr lang="en-US" sz="1300" dirty="0">
                <a:solidFill>
                  <a:srgbClr val="2B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Quantity, Discount, Profit.
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ditemukan nilai kosong </a:t>
            </a:r>
            <a:r>
              <a:rPr lang="en-US" sz="1300" dirty="0">
                <a:solidFill>
                  <a:srgbClr val="2B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13 kolom berdasarkan pemeriksaan df.info().
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tren </a:t>
            </a:r>
            <a:r>
              <a:rPr lang="en-US" sz="1300" dirty="0">
                <a:solidFill>
                  <a:srgbClr val="2B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Order Date 2020–2023 yang diinjeksi/dibuat di notebook untuk simulasi pola musiman.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06640" y="2971800"/>
            <a:ext cx="4327855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0" y="3172968"/>
            <a:ext cx="37792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Variabel Numerik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680960" y="3657600"/>
            <a:ext cx="151168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92646" y="3657600"/>
            <a:ext cx="2267529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$0,444 – $22.638,48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680960" y="4169664"/>
            <a:ext cx="3779215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4224528"/>
            <a:ext cx="151168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92646" y="4224528"/>
            <a:ext cx="2267529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14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680960" y="4736592"/>
            <a:ext cx="3779215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791456"/>
            <a:ext cx="151168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192646" y="4791456"/>
            <a:ext cx="2267529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– 80%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680960" y="5303520"/>
            <a:ext cx="3779215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5358384"/>
            <a:ext cx="151168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192646" y="5358384"/>
            <a:ext cx="2267529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-$6.599,98 – $8.399,98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EDA — Week 7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Statistik Deskriptif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rata-rata terlihat kecil dibandingkan nilai maksimum, menunjukkan distribusi yang sangat menyebar.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21031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– 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7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$229,86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$54,49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$623,25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$0,44 – $22.638,48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7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7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20,65%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– 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7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$234,26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-$6.599,98 – $8.399,98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77640"/>
            <a:ext cx="357621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4178808"/>
            <a:ext cx="54864" cy="457200"/>
          </a:xfrm>
          <a:prstGeom prst="rect">
            <a:avLst/>
          </a:prstGeom>
          <a:solidFill>
            <a:srgbClr val="1F9A8C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4178808"/>
            <a:ext cx="3119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F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3232" y="4544568"/>
            <a:ext cx="3119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jauh &gt; median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13232" y="5148072"/>
            <a:ext cx="31190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Sales dan Profit dipengaruhi transaksi ekstrem.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07738" y="3977640"/>
            <a:ext cx="357621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07738" y="4178808"/>
            <a:ext cx="54864" cy="457200"/>
          </a:xfrm>
          <a:prstGeom prst="rect">
            <a:avLst/>
          </a:prstGeom>
          <a:solidFill>
            <a:srgbClr val="C0463C"/>
          </a:solidFill>
          <a:ln/>
        </p:spPr>
      </p:sp>
      <p:sp>
        <p:nvSpPr>
          <p:cNvPr id="12" name="Text 9"/>
          <p:cNvSpPr/>
          <p:nvPr/>
        </p:nvSpPr>
        <p:spPr>
          <a:xfrm>
            <a:off x="4563770" y="4178808"/>
            <a:ext cx="3119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0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63770" y="4544568"/>
            <a:ext cx="3119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sangat lebar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563770" y="5148072"/>
            <a:ext cx="31190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minimum mencapai -$6.599,98.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58277" y="3977640"/>
            <a:ext cx="357621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158277" y="4178808"/>
            <a:ext cx="54864" cy="457200"/>
          </a:xfrm>
          <a:prstGeom prst="rect">
            <a:avLst/>
          </a:prstGeom>
          <a:solidFill>
            <a:srgbClr val="C98A2B"/>
          </a:solidFill>
          <a:ln/>
        </p:spPr>
      </p:sp>
      <p:sp>
        <p:nvSpPr>
          <p:cNvPr id="17" name="Text 14"/>
          <p:cNvSpPr/>
          <p:nvPr/>
        </p:nvSpPr>
        <p:spPr>
          <a:xfrm>
            <a:off x="8414309" y="4178808"/>
            <a:ext cx="3119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414309" y="4544568"/>
            <a:ext cx="3119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414309" y="5148072"/>
            <a:ext cx="31190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diskon mencapai 0%–80%.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EDA — Week 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Visualisasi Utama — Tren Penjualan &amp; Profit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tahunan menunjukkan kenaikan umum dengan lonjakan kuat pada akhir tahun.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120640" cy="5096081"/>
          </a:xfrm>
          <a:prstGeom prst="roundRect">
            <a:avLst>
              <a:gd name="adj" fmla="val 161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pic>
        <p:nvPicPr>
          <p:cNvPr id="5" name="Image 0" descr="trend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3040"/>
            <a:ext cx="4846320" cy="48217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1325880"/>
            <a:ext cx="5836615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97880" y="1508760"/>
            <a:ext cx="54864" cy="384048"/>
          </a:xfrm>
          <a:prstGeom prst="rect">
            <a:avLst/>
          </a:prstGeom>
          <a:solidFill>
            <a:srgbClr val="1F9A8C"/>
          </a:solidFill>
          <a:ln/>
        </p:spPr>
      </p:sp>
      <p:sp>
        <p:nvSpPr>
          <p:cNvPr id="8" name="Text 5"/>
          <p:cNvSpPr/>
          <p:nvPr/>
        </p:nvSpPr>
        <p:spPr>
          <a:xfrm>
            <a:off x="6153912" y="1472184"/>
            <a:ext cx="5379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F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53912" y="1728216"/>
            <a:ext cx="5379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YoY cenderung naik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153912" y="2112264"/>
            <a:ext cx="5379415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 bertumbuh dari tahun ke tahun meski berfluktuasi bulanan.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3118104"/>
            <a:ext cx="5836615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97880" y="3300984"/>
            <a:ext cx="54864" cy="384048"/>
          </a:xfrm>
          <a:prstGeom prst="rect">
            <a:avLst/>
          </a:prstGeom>
          <a:solidFill>
            <a:srgbClr val="17324F"/>
          </a:solidFill>
          <a:ln/>
        </p:spPr>
      </p:sp>
      <p:sp>
        <p:nvSpPr>
          <p:cNvPr id="13" name="Text 10"/>
          <p:cNvSpPr/>
          <p:nvPr/>
        </p:nvSpPr>
        <p:spPr>
          <a:xfrm>
            <a:off x="6153912" y="3264408"/>
            <a:ext cx="5379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53912" y="3520440"/>
            <a:ext cx="5379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Nov–Des peak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153912" y="3904488"/>
            <a:ext cx="5379415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relatif lambat, lalu meningkat menuju Q4.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97880" y="4910328"/>
            <a:ext cx="5836615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97880" y="5093208"/>
            <a:ext cx="54864" cy="384048"/>
          </a:xfrm>
          <a:prstGeom prst="rect">
            <a:avLst/>
          </a:prstGeom>
          <a:solidFill>
            <a:srgbClr val="C98A2B"/>
          </a:solidFill>
          <a:ln/>
        </p:spPr>
      </p:sp>
      <p:sp>
        <p:nvSpPr>
          <p:cNvPr id="18" name="Text 15"/>
          <p:cNvSpPr/>
          <p:nvPr/>
        </p:nvSpPr>
        <p:spPr>
          <a:xfrm>
            <a:off x="6153912" y="5056632"/>
            <a:ext cx="5379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53912" y="5312664"/>
            <a:ext cx="5379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Sejalan dengan Sales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153912" y="5696712"/>
            <a:ext cx="5379415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umumnya tetap di atas 0 dan ikut tumbuh.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EDA — Week 7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Visualisasi Utama — Segmentasi &amp; Outlier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wilayah, kategori, dan titik ekstrem memperlihatkan sumber profit sekaligus sumber risiko.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720944" cy="2564743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pic>
        <p:nvPicPr>
          <p:cNvPr id="5" name="Image 0" descr="segment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81328"/>
            <a:ext cx="5501488" cy="23452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33008" y="1371600"/>
            <a:ext cx="5720944" cy="2564743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pic>
        <p:nvPicPr>
          <p:cNvPr id="7" name="Image 1" descr="outlier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736" y="1481328"/>
            <a:ext cx="5501488" cy="234528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4192375"/>
            <a:ext cx="3588410" cy="2190137"/>
          </a:xfrm>
          <a:prstGeom prst="roundRect">
            <a:avLst>
              <a:gd name="adj" fmla="val 375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57200" y="4375255"/>
            <a:ext cx="54864" cy="365760"/>
          </a:xfrm>
          <a:prstGeom prst="rect">
            <a:avLst/>
          </a:prstGeom>
          <a:solidFill>
            <a:srgbClr val="1F9A8C"/>
          </a:solidFill>
          <a:ln/>
        </p:spPr>
      </p:sp>
      <p:sp>
        <p:nvSpPr>
          <p:cNvPr id="10" name="Text 6"/>
          <p:cNvSpPr/>
          <p:nvPr/>
        </p:nvSpPr>
        <p:spPr>
          <a:xfrm>
            <a:off x="694944" y="4338679"/>
            <a:ext cx="31769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Terbesar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94944" y="4741015"/>
            <a:ext cx="3176930" cy="1504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&amp; East didominasi segmen Consumer; South tertinggal di semua segmen.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01642" y="4192375"/>
            <a:ext cx="3588410" cy="2190137"/>
          </a:xfrm>
          <a:prstGeom prst="roundRect">
            <a:avLst>
              <a:gd name="adj" fmla="val 375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01642" y="4375255"/>
            <a:ext cx="54864" cy="365760"/>
          </a:xfrm>
          <a:prstGeom prst="rect">
            <a:avLst/>
          </a:prstGeom>
          <a:solidFill>
            <a:srgbClr val="17324F"/>
          </a:solidFill>
          <a:ln/>
        </p:spPr>
      </p:sp>
      <p:sp>
        <p:nvSpPr>
          <p:cNvPr id="14" name="Text 10"/>
          <p:cNvSpPr/>
          <p:nvPr/>
        </p:nvSpPr>
        <p:spPr>
          <a:xfrm>
            <a:off x="4539386" y="4338679"/>
            <a:ext cx="31769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Digerakkan Technology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39386" y="4741015"/>
            <a:ext cx="3176930" cy="1504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Copiers, Accessories, dan Binders jadi pendorong utama profit di West.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46085" y="4192375"/>
            <a:ext cx="3588410" cy="2190137"/>
          </a:xfrm>
          <a:prstGeom prst="roundRect">
            <a:avLst>
              <a:gd name="adj" fmla="val 375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46085" y="4375255"/>
            <a:ext cx="54864" cy="365760"/>
          </a:xfrm>
          <a:prstGeom prst="rect">
            <a:avLst/>
          </a:prstGeom>
          <a:solidFill>
            <a:srgbClr val="C0463C"/>
          </a:solidFill>
          <a:ln/>
        </p:spPr>
      </p:sp>
      <p:sp>
        <p:nvSpPr>
          <p:cNvPr id="18" name="Text 14"/>
          <p:cNvSpPr/>
          <p:nvPr/>
        </p:nvSpPr>
        <p:spPr>
          <a:xfrm>
            <a:off x="8383829" y="4338679"/>
            <a:ext cx="31769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Ekstrem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383829" y="4741015"/>
            <a:ext cx="3176930" cy="1504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Diskon &gt;70% menghasilkan kerugian hingga -$6.599; sebagian Sales tembus $22K.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EDA — Week 7 | Segmentasi &amp; Outlier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Insight Penting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temuan yang paling relevan untuk pengambilan keputusan bisnis.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66928" cy="566928"/>
          </a:xfrm>
          <a:prstGeom prst="ellipse">
            <a:avLst/>
          </a:prstGeom>
          <a:solidFill>
            <a:srgbClr val="1F9A8C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55448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499616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adalah pasar terbesar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901952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Consumer mendominasi lebih dari 50% transaksi dan kuat terutama di West dan East.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24912"/>
            <a:ext cx="566928" cy="566928"/>
          </a:xfrm>
          <a:prstGeom prst="ellipse">
            <a:avLst/>
          </a:prstGeom>
          <a:solidFill>
            <a:srgbClr val="1F9A8C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724912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670048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Supplies unggul secara volume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072384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ini menjadi mayoritas penyumbang volume transaksi di seluruh segmen.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95344"/>
            <a:ext cx="566928" cy="566928"/>
          </a:xfrm>
          <a:prstGeom prst="ellipse">
            <a:avLst/>
          </a:prstGeom>
          <a:solidFill>
            <a:srgbClr val="1F9A8C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895344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840480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adalah penggerak profit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242816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Technology sangat kuat di East dan West; Copiers, Accessories, dan Binders menonjol di West.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065776"/>
            <a:ext cx="566928" cy="566928"/>
          </a:xfrm>
          <a:prstGeom prst="ellipse">
            <a:avLst/>
          </a:prstGeom>
          <a:solidFill>
            <a:srgbClr val="1F9A8C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5065776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5010912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Diskon ekstrem menjadi akar masalah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5413248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Diskon &gt;30% konsisten berkaitan dengan profit negatif; Furniture Central menjadi kasus terburuk.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EDA — Week 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Permasalahan yang Ditemukan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utama bukan hanya volume penjualan, tetapi bagaimana margin dan performa regional dikelola.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7295" cy="1129284"/>
          </a:xfrm>
          <a:prstGeom prst="roundRect">
            <a:avLst>
              <a:gd name="adj" fmla="val 728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80210"/>
            <a:ext cx="512064" cy="512064"/>
          </a:xfrm>
          <a:prstGeom prst="ellipse">
            <a:avLst/>
          </a:prstGeom>
          <a:solidFill>
            <a:srgbClr val="C0463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680210"/>
            <a:ext cx="6035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499616"/>
            <a:ext cx="999713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Kebocoran margin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997964"/>
            <a:ext cx="99971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Diskon 70–80% pada transaksi bernilai besar dapat menghasilkan kerugian ekstrem.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02052"/>
            <a:ext cx="11277295" cy="1129284"/>
          </a:xfrm>
          <a:prstGeom prst="roundRect">
            <a:avLst>
              <a:gd name="adj" fmla="val 728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3010662"/>
            <a:ext cx="512064" cy="512064"/>
          </a:xfrm>
          <a:prstGeom prst="ellipse">
            <a:avLst/>
          </a:prstGeom>
          <a:solidFill>
            <a:srgbClr val="C0463C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3010662"/>
            <a:ext cx="6035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830068"/>
            <a:ext cx="999713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 Central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328416"/>
            <a:ext cx="99971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Furniture di region Central secara total menghasilkan profit negatif.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032504"/>
            <a:ext cx="11277295" cy="1129284"/>
          </a:xfrm>
          <a:prstGeom prst="roundRect">
            <a:avLst>
              <a:gd name="adj" fmla="val 728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4341114"/>
            <a:ext cx="512064" cy="512064"/>
          </a:xfrm>
          <a:prstGeom prst="ellipse">
            <a:avLst/>
          </a:prstGeom>
          <a:solidFill>
            <a:srgbClr val="C0463C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4341114"/>
            <a:ext cx="6035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160520"/>
            <a:ext cx="999713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menutupi kondisi mayoritas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658868"/>
            <a:ext cx="99971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sangat besar dapat membuat rata-rata terlihat tinggi dan menutupi pola pembelian kecil.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5362956"/>
            <a:ext cx="11277295" cy="1129284"/>
          </a:xfrm>
          <a:prstGeom prst="roundRect">
            <a:avLst>
              <a:gd name="adj" fmla="val 728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5671566"/>
            <a:ext cx="512064" cy="512064"/>
          </a:xfrm>
          <a:prstGeom prst="ellipse">
            <a:avLst/>
          </a:prstGeom>
          <a:solidFill>
            <a:srgbClr val="C0463C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5671566"/>
            <a:ext cx="6035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5490972"/>
            <a:ext cx="999713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Ketergantungan pada peak season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5989320"/>
            <a:ext cx="99971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Lonjakan Nov–Des memberi peluang besar, tetapi juga menuntut kesiapan stok dan operasional.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EDA — Week 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Peluang Bisnis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data dapat diarahkan menjadi peluang pertumbuhan sekaligus efisiensi.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501488" cy="24003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36776"/>
            <a:ext cx="54864" cy="365760"/>
          </a:xfrm>
          <a:prstGeom prst="rect">
            <a:avLst/>
          </a:prstGeom>
          <a:solidFill>
            <a:srgbClr val="1F9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495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F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Perkuat Technology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13432"/>
            <a:ext cx="4952848" cy="1348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Dorong ketersediaan dan promosi produk Technology di West dan East, terutama menjelang Q4.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417320"/>
            <a:ext cx="5501488" cy="24003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1636776"/>
            <a:ext cx="54864" cy="365760"/>
          </a:xfrm>
          <a:prstGeom prst="rect">
            <a:avLst/>
          </a:prstGeom>
          <a:solidFill>
            <a:srgbClr val="17324F"/>
          </a:solidFill>
          <a:ln/>
        </p:spPr>
      </p:sp>
      <p:sp>
        <p:nvSpPr>
          <p:cNvPr id="11" name="Text 9"/>
          <p:cNvSpPr/>
          <p:nvPr/>
        </p:nvSpPr>
        <p:spPr>
          <a:xfrm>
            <a:off x="6507328" y="1600200"/>
            <a:ext cx="495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07328" y="187452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Pertahankan margin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07328" y="2313432"/>
            <a:ext cx="4952848" cy="1348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strategi diskon dari mass discount menjadi diskon yang lebih selektif dan terukur.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91940"/>
            <a:ext cx="5501488" cy="24003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311396"/>
            <a:ext cx="54864" cy="365760"/>
          </a:xfrm>
          <a:prstGeom prst="rect">
            <a:avLst/>
          </a:prstGeom>
          <a:solidFill>
            <a:srgbClr val="C98A2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74820"/>
            <a:ext cx="495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54914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Benahi Central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988052"/>
            <a:ext cx="4952848" cy="1348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ulang Furniture Central untuk menemukan kombinasi harga, diskon, dan produk yang lebih sehat.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3008" y="4091940"/>
            <a:ext cx="5501488" cy="24003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3008" y="4311396"/>
            <a:ext cx="54864" cy="365760"/>
          </a:xfrm>
          <a:prstGeom prst="rect">
            <a:avLst/>
          </a:prstGeom>
          <a:solidFill>
            <a:srgbClr val="C0463C"/>
          </a:solidFill>
          <a:ln/>
        </p:spPr>
      </p:sp>
      <p:sp>
        <p:nvSpPr>
          <p:cNvPr id="21" name="Text 19"/>
          <p:cNvSpPr/>
          <p:nvPr/>
        </p:nvSpPr>
        <p:spPr>
          <a:xfrm>
            <a:off x="6507328" y="4274820"/>
            <a:ext cx="495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0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07328" y="4549140"/>
            <a:ext cx="495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Manfaatkan seasonality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07328" y="4988052"/>
            <a:ext cx="4952848" cy="1348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stok dan aktivitas penjualan sebelum November–Desember saat demand mencapai peak.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EDA — Week 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7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Rekomendasi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tindakan berdasarkan temuan EDA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60220"/>
            <a:ext cx="438912" cy="438912"/>
          </a:xfrm>
          <a:prstGeom prst="ellipse">
            <a:avLst/>
          </a:prstGeom>
          <a:solidFill>
            <a:srgbClr val="1F9A8C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760220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43000" y="1508760"/>
            <a:ext cx="10454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Batasi diskon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43000" y="2066544"/>
            <a:ext cx="104543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cap diskon 20–25% dan hentikan praktik diskon ekstrem hingga 80%.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48356"/>
            <a:ext cx="438912" cy="438912"/>
          </a:xfrm>
          <a:prstGeom prst="ellipse">
            <a:avLst/>
          </a:prstGeom>
          <a:solidFill>
            <a:srgbClr val="1F9A8C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848356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43000" y="2596896"/>
            <a:ext cx="10454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Siapkan stok Q4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43000" y="3154680"/>
            <a:ext cx="104543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Naikkan kesiapan stok Technology mulai akhir Q3 untuk menghadapi peak Nov–Des.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36492"/>
            <a:ext cx="438912" cy="438912"/>
          </a:xfrm>
          <a:prstGeom prst="ellipse">
            <a:avLst/>
          </a:prstGeom>
          <a:solidFill>
            <a:srgbClr val="1F9A8C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936492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43000" y="3685032"/>
            <a:ext cx="10454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Furniture Central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43000" y="4242816"/>
            <a:ext cx="104543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harga dan subsidi diskon; bila tidak sehat, pertimbangkan penghentian ekspansi.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024628"/>
            <a:ext cx="438912" cy="438912"/>
          </a:xfrm>
          <a:prstGeom prst="ellipse">
            <a:avLst/>
          </a:prstGeom>
          <a:solidFill>
            <a:srgbClr val="1F9A8C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5024628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43000" y="4773168"/>
            <a:ext cx="10454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margin, bukan Sales saja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43000" y="5330952"/>
            <a:ext cx="104543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profit dan outlier sebagai indikator utama agar pertumbuhan penjualan tidak mengorbankan margin.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989320"/>
            <a:ext cx="11277295" cy="0"/>
          </a:xfrm>
          <a:prstGeom prst="line">
            <a:avLst/>
          </a:prstGeom>
          <a:noFill/>
          <a:ln w="12700">
            <a:solidFill>
              <a:srgbClr val="2E45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108192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1F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strategi: pertumbuhan penjualan harus berjalan bersama perlindungan profitabilitas.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menunjukkan bisnis tumbuh, tetapi kualitas pertumbuhan perlu dijaga.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8841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18488"/>
            <a:ext cx="54864" cy="384048"/>
          </a:xfrm>
          <a:prstGeom prst="rect">
            <a:avLst/>
          </a:prstGeom>
          <a:solidFill>
            <a:srgbClr val="1F9A8C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600200"/>
            <a:ext cx="317693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1F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PERTUMBUHAN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4944" y="1874520"/>
            <a:ext cx="317693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Profit naik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94944" y="2350008"/>
            <a:ext cx="317693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tahunan positif dengan peak season pada November–Desember.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1642" y="1417320"/>
            <a:ext cx="358841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01642" y="1618488"/>
            <a:ext cx="54864" cy="384048"/>
          </a:xfrm>
          <a:prstGeom prst="rect">
            <a:avLst/>
          </a:prstGeom>
          <a:solidFill>
            <a:srgbClr val="17324F"/>
          </a:solidFill>
          <a:ln/>
        </p:spPr>
      </p:sp>
      <p:sp>
        <p:nvSpPr>
          <p:cNvPr id="11" name="Text 9"/>
          <p:cNvSpPr/>
          <p:nvPr/>
        </p:nvSpPr>
        <p:spPr>
          <a:xfrm>
            <a:off x="4539386" y="1600200"/>
            <a:ext cx="317693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NILAI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39386" y="1874520"/>
            <a:ext cx="317693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539386" y="2350008"/>
            <a:ext cx="317693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penggerak profit terutama di East dan West.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46085" y="1417320"/>
            <a:ext cx="358841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46085" y="1618488"/>
            <a:ext cx="54864" cy="384048"/>
          </a:xfrm>
          <a:prstGeom prst="rect">
            <a:avLst/>
          </a:prstGeom>
          <a:solidFill>
            <a:srgbClr val="C0463C"/>
          </a:solidFill>
          <a:ln/>
        </p:spPr>
      </p:sp>
      <p:sp>
        <p:nvSpPr>
          <p:cNvPr id="16" name="Text 14"/>
          <p:cNvSpPr/>
          <p:nvPr/>
        </p:nvSpPr>
        <p:spPr>
          <a:xfrm>
            <a:off x="8383829" y="1600200"/>
            <a:ext cx="317693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C0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RISIKO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83829" y="1874520"/>
            <a:ext cx="317693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ekstrem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83829" y="2350008"/>
            <a:ext cx="317693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Diskon tinggi berkaitan dengan kerugian dan kebocoran margin.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keputusan berikutnya
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Lindungi margin → siapkan Q4 → evaluasi Central → pertahankan pertumbuhan yang sehat.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analisis: Notebook EDA dan laporan Trend, Segment, Outlier, Insight, serta Business Recommendation.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EDA — Week 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920</Words>
  <Application>Microsoft Office PowerPoint</Application>
  <PresentationFormat>Widescreen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Bowlby One SC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 Ideapad</cp:lastModifiedBy>
  <cp:revision>2</cp:revision>
  <dcterms:created xsi:type="dcterms:W3CDTF">2026-09-03T04:21:41Z</dcterms:created>
  <dcterms:modified xsi:type="dcterms:W3CDTF">2026-09-03T04:31:16Z</dcterms:modified>
</cp:coreProperties>
</file>