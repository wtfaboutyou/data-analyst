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36454F"/>
                    </a:solidFill>
                    <a:latin typeface="Cambr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Technology</c:v>
                </c:pt>
                <c:pt idx="2">
                  <c:v>Office Supplies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2.4900000000000002</c:v>
                </c:pt>
                <c:pt idx="1">
                  <c:v>17.399999999999999</c:v>
                </c:pt>
                <c:pt idx="2">
                  <c:v>17.04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02-429F-9E60-8064BEE2A6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8CBB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645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7F1E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7F1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92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3291840"/>
            <a:ext cx="5943600" cy="5943600"/>
          </a:xfrm>
          <a:prstGeom prst="ellipse">
            <a:avLst/>
          </a:prstGeom>
          <a:solidFill>
            <a:srgbClr val="8C3B3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572000"/>
            <a:ext cx="3657600" cy="3657600"/>
          </a:xfrm>
          <a:prstGeom prst="ellipse">
            <a:avLst/>
          </a:prstGeom>
          <a:solidFill>
            <a:srgbClr val="B85042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1005840" cy="10058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5" name="Image 0" descr="/home/claude/icons/chai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802" y="115580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8B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SAMPLESUPERSTORE — WEEK 9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88036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Profitability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Case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00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&amp; Business Recommendation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rgbClr val="9AA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Business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tinggi, tapi labanya tipis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3A2E2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SALES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$741,999.80</a:t>
            </a:r>
            <a:endParaRPr lang="en-US" sz="4400" dirty="0"/>
          </a:p>
        </p:txBody>
      </p:sp>
      <p:pic>
        <p:nvPicPr>
          <p:cNvPr id="7" name="Image 0" descr="/home/claude/icons/arrowUp_6E8F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1945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886200"/>
            <a:ext cx="4937760" cy="1737360"/>
          </a:xfrm>
          <a:prstGeom prst="roundRect">
            <a:avLst>
              <a:gd name="adj" fmla="val 6316"/>
            </a:avLst>
          </a:prstGeom>
          <a:solidFill>
            <a:srgbClr val="B85042"/>
          </a:solidFill>
          <a:ln/>
          <a:effectLst>
            <a:outerShdw blurRad="127000" dist="38100" dir="5400000" algn="bl" rotWithShape="0">
              <a:srgbClr val="3A2E22">
                <a:alpha val="2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14400" y="4069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3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PROFIT MARGIN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343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2.49%</a:t>
            </a:r>
            <a:endParaRPr lang="en-US" sz="4400" dirty="0"/>
          </a:p>
        </p:txBody>
      </p:sp>
      <p:pic>
        <p:nvPicPr>
          <p:cNvPr id="11" name="Image 1" descr="/home/claude/icons/arrowDow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114800"/>
            <a:ext cx="457200" cy="457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943600" y="196596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EFE6D8"/>
          </a:solidFill>
          <a:ln/>
        </p:spPr>
      </p:sp>
      <p:sp>
        <p:nvSpPr>
          <p:cNvPr id="13" name="Shape 9"/>
          <p:cNvSpPr/>
          <p:nvPr/>
        </p:nvSpPr>
        <p:spPr>
          <a:xfrm>
            <a:off x="6377940" y="221742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4" name="Image 2" descr="/home/claude/icons/problem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78" y="240395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0800" y="32004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besar tetapi profitabilitas rendah.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41148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Furniture menghasilkan revenue terbesar kedua, namun margin keuntungannya jauh di bawah kategori lain — sinyal awal adanya masalah struktural pada biaya atau strategi diskon.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1948734-C5DD-F7ED-4BB7-B21DF96CACFD}"/>
              </a:ext>
            </a:extLst>
          </p:cNvPr>
          <p:cNvSpPr txBox="1"/>
          <p:nvPr/>
        </p:nvSpPr>
        <p:spPr>
          <a:xfrm>
            <a:off x="713232" y="640080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Business Question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pertanyaan inti investigasi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21992"/>
            <a:ext cx="768096" cy="7680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21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1488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profitabilitas Furniture rendah?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65176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Menelusuri akar penyebab margin yang jauh tertinggal dari kategori lain.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85032"/>
            <a:ext cx="768096" cy="7680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85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61188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Sub-category mana yang paling bermasalah?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411480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titik kerugian spesifik melalui drill-down data.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148072"/>
            <a:ext cx="768096" cy="76809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1480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507492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Solusi apa yang paling tepat?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57784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langkah perbaikan yang realistis dan terukur.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6177320D-9BDF-F0D1-D2D5-A88B98663878}"/>
              </a:ext>
            </a:extLst>
          </p:cNvPr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B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Key Performance Indicators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Angka yang membentuk gambaran besar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" y="196596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6454F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" y="2286000"/>
            <a:ext cx="1664208" cy="73152"/>
          </a:xfrm>
          <a:prstGeom prst="roundRect">
            <a:avLst/>
          </a:prstGeom>
          <a:solidFill>
            <a:srgbClr val="A7BEA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1500" y="25603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97764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$2,297,200.86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11196" y="196596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6454F"/>
          </a:solidFill>
          <a:ln/>
        </p:spPr>
      </p:sp>
      <p:sp>
        <p:nvSpPr>
          <p:cNvPr id="9" name="Shape 7"/>
          <p:cNvSpPr/>
          <p:nvPr/>
        </p:nvSpPr>
        <p:spPr>
          <a:xfrm>
            <a:off x="2939796" y="2286000"/>
            <a:ext cx="1664208" cy="73152"/>
          </a:xfrm>
          <a:prstGeom prst="roundRect">
            <a:avLst/>
          </a:prstGeom>
          <a:solidFill>
            <a:srgbClr val="A7BEA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94076" y="25603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894076" y="397764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$286,397.02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33772" y="196596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6454F"/>
          </a:solidFill>
          <a:ln/>
        </p:spPr>
      </p:sp>
      <p:sp>
        <p:nvSpPr>
          <p:cNvPr id="13" name="Shape 11"/>
          <p:cNvSpPr/>
          <p:nvPr/>
        </p:nvSpPr>
        <p:spPr>
          <a:xfrm>
            <a:off x="5262372" y="2286000"/>
            <a:ext cx="1664208" cy="73152"/>
          </a:xfrm>
          <a:prstGeom prst="roundRect">
            <a:avLst/>
          </a:prstGeom>
          <a:solidFill>
            <a:srgbClr val="D8B9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6652" y="25603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SALES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16652" y="397764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$741,999.80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56348" y="196596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6454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4948" y="2286000"/>
            <a:ext cx="1664208" cy="73152"/>
          </a:xfrm>
          <a:prstGeom prst="round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39228" y="25603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PROFIT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539228" y="397764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$18,451.27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78924" y="196596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36454F"/>
          </a:solidFill>
          <a:ln/>
        </p:spPr>
      </p:sp>
      <p:sp>
        <p:nvSpPr>
          <p:cNvPr id="21" name="Shape 19"/>
          <p:cNvSpPr/>
          <p:nvPr/>
        </p:nvSpPr>
        <p:spPr>
          <a:xfrm>
            <a:off x="9907524" y="2286000"/>
            <a:ext cx="1664208" cy="73152"/>
          </a:xfrm>
          <a:prstGeom prst="roundRect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861804" y="256032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A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MARGIN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61804" y="3977640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2.49%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2E76F41D-97D9-9782-2761-92FB201AFC4A}"/>
              </a:ext>
            </a:extLst>
          </p:cNvPr>
          <p:cNvSpPr txBox="1"/>
          <p:nvPr/>
        </p:nvSpPr>
        <p:spPr>
          <a:xfrm>
            <a:off x="388620" y="635508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Data &amp; 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Pendekatan analisis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3657600"/>
          </a:xfrm>
          <a:prstGeom prst="roundRect">
            <a:avLst>
              <a:gd name="adj" fmla="val 3333"/>
            </a:avLst>
          </a:prstGeom>
          <a:solidFill>
            <a:srgbClr val="36454F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233172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icons/data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590" y="25292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D8B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SampleSuperstore.csv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06240" y="2011680"/>
            <a:ext cx="7406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80560" y="201168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17627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Analysis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6334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margin antar kategori produk.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3108960"/>
            <a:ext cx="0" cy="182880"/>
          </a:xfrm>
          <a:prstGeom prst="line">
            <a:avLst/>
          </a:prstGeom>
          <a:noFill/>
          <a:ln w="19050">
            <a:solidFill>
              <a:srgbClr val="6E8F7E"/>
            </a:solidFill>
            <a:prstDash val="dash"/>
          </a:ln>
        </p:spPr>
      </p:sp>
      <p:sp>
        <p:nvSpPr>
          <p:cNvPr id="14" name="Shape 11"/>
          <p:cNvSpPr/>
          <p:nvPr/>
        </p:nvSpPr>
        <p:spPr>
          <a:xfrm>
            <a:off x="4206240" y="3291840"/>
            <a:ext cx="7406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480560" y="329184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4564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 Down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39136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→ Sub-Category untuk menemukan sumber masalah.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4389120"/>
            <a:ext cx="0" cy="182880"/>
          </a:xfrm>
          <a:prstGeom prst="line">
            <a:avLst/>
          </a:prstGeom>
          <a:noFill/>
          <a:ln w="19050">
            <a:solidFill>
              <a:srgbClr val="6E8F7E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4206240" y="4572000"/>
            <a:ext cx="7406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480560" y="4572000"/>
            <a:ext cx="73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E8F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47365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/ Contribution Analysis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51937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kontribusi tiap segmen terhadap hasil akhir.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20C46E8-F943-9869-85A1-FC563FC27EFA}"/>
              </a:ext>
            </a:extLst>
          </p:cNvPr>
          <p:cNvSpPr txBox="1"/>
          <p:nvPr/>
        </p:nvSpPr>
        <p:spPr>
          <a:xfrm>
            <a:off x="609600" y="633222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Category 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tertinggal jauh dari kategori lain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96596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965960"/>
            <a:ext cx="1371600" cy="18288"/>
          </a:xfrm>
          <a:prstGeom prst="roundRect">
            <a:avLst/>
          </a:prstGeom>
          <a:solidFill>
            <a:srgbClr val="F7F1E8"/>
          </a:solidFill>
          <a:ln/>
        </p:spPr>
      </p:sp>
      <p:sp>
        <p:nvSpPr>
          <p:cNvPr id="6" name="Shape 3"/>
          <p:cNvSpPr/>
          <p:nvPr/>
        </p:nvSpPr>
        <p:spPr>
          <a:xfrm>
            <a:off x="7498080" y="196596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36454F"/>
          </a:solidFill>
          <a:ln/>
        </p:spPr>
      </p:sp>
      <p:sp>
        <p:nvSpPr>
          <p:cNvPr id="7" name="Shape 4"/>
          <p:cNvSpPr/>
          <p:nvPr/>
        </p:nvSpPr>
        <p:spPr>
          <a:xfrm>
            <a:off x="8023860" y="226314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8" name="Image 0" descr="/home/claude/icons/compar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398" y="2449678"/>
            <a:ext cx="404165" cy="4041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63840" y="3246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memiliki margin terendah.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863840" y="411480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margin 2.49% dibanding 17%+ pada dua kategori lainnya, Furniture menjadi prioritas utama untuk investigasi lebih lanjut.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09129DCE-0D18-6694-5BB8-9C4182FCFD9A}"/>
              </a:ext>
            </a:extLst>
          </p:cNvPr>
          <p:cNvSpPr txBox="1"/>
          <p:nvPr/>
        </p:nvSpPr>
        <p:spPr>
          <a:xfrm>
            <a:off x="609600" y="630936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Drill Down: Furniture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adalah sumber kerugian terbesar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8C2F39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240030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boxOpen_8C2F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18" y="25868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Sub-category prioritas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977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-$17,725.48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Discount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9834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26.13%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6355080" y="201168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36454F"/>
          </a:solidFill>
          <a:ln/>
        </p:spPr>
      </p:sp>
      <p:sp>
        <p:nvSpPr>
          <p:cNvPr id="14" name="Shape 11"/>
          <p:cNvSpPr/>
          <p:nvPr/>
        </p:nvSpPr>
        <p:spPr>
          <a:xfrm>
            <a:off x="6789420" y="2400300"/>
            <a:ext cx="777240" cy="777240"/>
          </a:xfrm>
          <a:prstGeom prst="ellipse">
            <a:avLst/>
          </a:prstGeom>
          <a:solidFill>
            <a:srgbClr val="5C6B73"/>
          </a:solidFill>
          <a:ln/>
        </p:spPr>
      </p:sp>
      <p:pic>
        <p:nvPicPr>
          <p:cNvPr id="15" name="Image 1" descr="/home/claude/icons/box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958" y="2586838"/>
            <a:ext cx="404165" cy="40416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81812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A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BOOKCASES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2788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Sub-category kedua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675120" y="39776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-$3,472.56</a:t>
            </a:r>
            <a:endParaRPr lang="en-US" sz="3400" dirty="0"/>
          </a:p>
        </p:txBody>
      </p:sp>
      <p:sp>
        <p:nvSpPr>
          <p:cNvPr id="20" name="Shape 16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EFE6D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22960" y="5806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menjadi prioritas investigasi.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087B855D-F898-16B1-8BB5-AE193CBAE51E}"/>
              </a:ext>
            </a:extLst>
          </p:cNvPr>
          <p:cNvSpPr txBox="1"/>
          <p:nvPr/>
        </p:nvSpPr>
        <p:spPr>
          <a:xfrm>
            <a:off x="713232" y="6414516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Root Cause Assessment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Dugaan penyebab, dengan catatan penting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8700" y="228600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icons/ta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24725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22219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relatif tinggi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269748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diskon pada Tables mencapai 26.13%, jauh di atas level sehat untuk menjaga margin.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28700" y="388620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icons/box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238" y="40727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48840" y="382219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Terdapat sub-category loss-making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148840" y="429768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dan Bookcases sama-sama mencatat profit negatif pada periode analisis.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52120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36454F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5303520"/>
            <a:ext cx="594360" cy="594360"/>
          </a:xfrm>
          <a:prstGeom prst="ellipse">
            <a:avLst/>
          </a:prstGeom>
          <a:solidFill>
            <a:srgbClr val="5C6B73"/>
          </a:solidFill>
          <a:ln/>
        </p:spPr>
      </p:sp>
      <p:pic>
        <p:nvPicPr>
          <p:cNvPr id="16" name="Image 2" descr="/home/claude/icons/ro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346" y="544616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65960" y="521208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tidak tersedia — causal impact belum terbukti.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775AD3F-74F9-A4A7-C477-2117312517AE}"/>
              </a:ext>
            </a:extLst>
          </p:cNvPr>
          <p:cNvSpPr txBox="1"/>
          <p:nvPr/>
        </p:nvSpPr>
        <p:spPr>
          <a:xfrm>
            <a:off x="713232" y="626364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B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Key Insights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simpulan utama dari analisis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36454F"/>
          </a:solidFill>
          <a:ln/>
        </p:spPr>
      </p:sp>
      <p:sp>
        <p:nvSpPr>
          <p:cNvPr id="5" name="Shape 3"/>
          <p:cNvSpPr/>
          <p:nvPr/>
        </p:nvSpPr>
        <p:spPr>
          <a:xfrm>
            <a:off x="1911096" y="2400300"/>
            <a:ext cx="868680" cy="8686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/home/claude/icons/compar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579" y="26087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9536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besar ≠ profit tinggi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4480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penjualan yang tinggi tidak otomatis berarti keuntungan yang sehat.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4256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36454F"/>
          </a:solidFill>
          <a:ln/>
        </p:spPr>
      </p:sp>
      <p:sp>
        <p:nvSpPr>
          <p:cNvPr id="10" name="Shape 7"/>
          <p:cNvSpPr/>
          <p:nvPr/>
        </p:nvSpPr>
        <p:spPr>
          <a:xfrm>
            <a:off x="5660136" y="2400300"/>
            <a:ext cx="868680" cy="8686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icons/boxOpe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619" y="26087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08576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= sumber kerugian jelas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54296" y="4480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menunjukkan Tables secara konsisten merugi pada periode ini.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36454F"/>
          </a:solidFill>
          <a:ln/>
        </p:spPr>
      </p:sp>
      <p:sp>
        <p:nvSpPr>
          <p:cNvPr id="15" name="Shape 11"/>
          <p:cNvSpPr/>
          <p:nvPr/>
        </p:nvSpPr>
        <p:spPr>
          <a:xfrm>
            <a:off x="9409176" y="2400300"/>
            <a:ext cx="868680" cy="8686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home/claude/icons/ta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7659" y="26087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perlu dikendalikan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3336" y="44805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diskon harus disesuaikan berdasarkan tingkat profitabilitas produk.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9C193B49-64F2-9EFA-3532-CDBE141A0A1D}"/>
              </a:ext>
            </a:extLst>
          </p:cNvPr>
          <p:cNvSpPr txBox="1"/>
          <p:nvPr/>
        </p:nvSpPr>
        <p:spPr>
          <a:xfrm>
            <a:off x="548640" y="6391656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Alternative Solutions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Opsi solusi, diurutkan berdasarkan prioritas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2E22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21992"/>
            <a:ext cx="585216" cy="58521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0574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governance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509760" y="225856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09760" y="225856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2E2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319272"/>
            <a:ext cx="585216" cy="58521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3192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1546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profitability review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509760" y="33558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509760" y="33558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2E22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416552"/>
            <a:ext cx="585216" cy="58521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4165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2519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bundling / promotion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509760" y="445312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6E8F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09760" y="445312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3A2E22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5513832"/>
            <a:ext cx="585216" cy="585216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5513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3492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Rationalization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509760" y="555040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6E8F7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509760" y="555040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2BA8B55B-9670-BB4B-7974-6C16C354C8E5}"/>
              </a:ext>
            </a:extLst>
          </p:cNvPr>
          <p:cNvSpPr txBox="1"/>
          <p:nvPr/>
        </p:nvSpPr>
        <p:spPr>
          <a:xfrm>
            <a:off x="609600" y="640080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Recommendation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yang direkomendasikan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B85042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23088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recommend_B850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98" y="24953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26771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Prioritaskan profitability review Furniture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78892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Dimulai dari sub-category Tables sebagai sumber kerugian terbesar.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584448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37260" y="3881628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1" name="Image 1" descr="/home/claude/icons/recomme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8" y="406816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03120" y="38404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Terapkan discount governance berbasis margin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103120" y="43616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Batasi diskon berdasarkan ambang profitabilitas, bukan hanya target volume.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5157216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3A2E2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7260" y="5454396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6" name="Image 2" descr="/home/claude/icons/recommen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798" y="5640934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54132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produk yang tetap tidak profitable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5934456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Pertimbangkan rationalization untuk produk yang konsisten merugi.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C3250CBB-EAB5-CFDC-1698-6D1DC2297D6E}"/>
              </a:ext>
            </a:extLst>
          </p:cNvPr>
          <p:cNvSpPr txBox="1"/>
          <p:nvPr/>
        </p:nvSpPr>
        <p:spPr>
          <a:xfrm>
            <a:off x="548640" y="6517386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Expected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yang diharapkan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0116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A7BEAE"/>
          </a:solidFill>
          <a:ln/>
        </p:spPr>
      </p:sp>
      <p:sp>
        <p:nvSpPr>
          <p:cNvPr id="5" name="Shape 3"/>
          <p:cNvSpPr/>
          <p:nvPr/>
        </p:nvSpPr>
        <p:spPr>
          <a:xfrm>
            <a:off x="1956816" y="23088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icons/impact_6E8F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354" y="249539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9536" y="33375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Profit Margin meningkat.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34256" y="20116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A7BEAE"/>
          </a:solidFill>
          <a:ln/>
        </p:spPr>
      </p:sp>
      <p:sp>
        <p:nvSpPr>
          <p:cNvPr id="9" name="Shape 6"/>
          <p:cNvSpPr/>
          <p:nvPr/>
        </p:nvSpPr>
        <p:spPr>
          <a:xfrm>
            <a:off x="5705856" y="23088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impact_6E8F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394" y="24953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8576" y="33375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Kerugian sub-category berkurang.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83296" y="201168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A7BEAE"/>
          </a:solidFill>
          <a:ln/>
        </p:spPr>
      </p:sp>
      <p:sp>
        <p:nvSpPr>
          <p:cNvPr id="13" name="Shape 9"/>
          <p:cNvSpPr/>
          <p:nvPr/>
        </p:nvSpPr>
        <p:spPr>
          <a:xfrm>
            <a:off x="9454896" y="23088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icons/impact_6E8F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4" y="249539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7616" y="33375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32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lebih terkontrol.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85216" y="4754880"/>
            <a:ext cx="11018520" cy="822960"/>
          </a:xfrm>
          <a:prstGeom prst="roundRect">
            <a:avLst>
              <a:gd name="adj" fmla="val 11111"/>
            </a:avLst>
          </a:prstGeom>
          <a:solidFill>
            <a:srgbClr val="36454F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950976" y="4754880"/>
            <a:ext cx="10287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finansial ditetapkan setelah Cost tersedia.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6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E4EEE882-02C0-5013-CC99-D572487494BF}"/>
              </a:ext>
            </a:extLst>
          </p:cNvPr>
          <p:cNvSpPr txBox="1"/>
          <p:nvPr/>
        </p:nvSpPr>
        <p:spPr>
          <a:xfrm>
            <a:off x="713232" y="6240780"/>
            <a:ext cx="5486400" cy="32004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9929A5-B99A-FE0C-694F-C8E7114E5002}"/>
              </a:ext>
            </a:extLst>
          </p:cNvPr>
          <p:cNvSpPr txBox="1"/>
          <p:nvPr/>
        </p:nvSpPr>
        <p:spPr>
          <a:xfrm>
            <a:off x="3047238" y="3298195"/>
            <a:ext cx="60944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Avrillia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Zahra </a:t>
            </a:r>
            <a:r>
              <a:rPr lang="en-US" sz="11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Khoirun</a:t>
            </a:r>
            <a:r>
              <a:rPr lang="en-US" sz="11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Nisa | SMKN 2 SURAKARTA</a:t>
            </a:r>
            <a:endParaRPr lang="en-US" sz="11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8C3B3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77724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4" name="Image 0" descr="/home/claude/icons/conclusi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9966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8B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CONCLUSION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→ Tables adalah prioritas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94360" y="345643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27355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Prioritas: Furniture → Tables.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4360" y="411480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3931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profitability review + discount governance.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94360" y="477316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5902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final perlu divalidasi dengan data Cost.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852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631</Words>
  <Application>Microsoft Office PowerPoint</Application>
  <PresentationFormat>Widescreen</PresentationFormat>
  <Paragraphs>151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 Ideapad</cp:lastModifiedBy>
  <cp:revision>2</cp:revision>
  <dcterms:created xsi:type="dcterms:W3CDTF">2026-09-17T04:13:20Z</dcterms:created>
  <dcterms:modified xsi:type="dcterms:W3CDTF">2026-09-17T04:45:45Z</dcterms:modified>
</cp:coreProperties>
</file>