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Value</c:v>
                </c:pt>
              </c:strCache>
            </c:strRef>
          </c:tx>
          <c:spPr>
            <a:solidFill>
              <a:srgbClr val="C77F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NORMALIZED_
LOSSES</c:v>
                </c:pt>
                <c:pt idx="1">
                  <c:v>PRICE</c:v>
                </c:pt>
                <c:pt idx="2">
                  <c:v>STROKE</c:v>
                </c:pt>
                <c:pt idx="3">
                  <c:v>BORE</c:v>
                </c:pt>
                <c:pt idx="4">
                  <c:v>PEAK_RPM</c:v>
                </c:pt>
                <c:pt idx="5">
                  <c:v>HORSE-
POWER</c:v>
                </c:pt>
                <c:pt idx="6">
                  <c:v>NUM_OF_
DOORS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2A-4905-AC89-891102B5F7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2F2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Korelasi</c:v>
                </c:pt>
              </c:strCache>
            </c:strRef>
          </c:tx>
          <c:spPr>
            <a:solidFill>
              <a:srgbClr val="C77F0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ENGINE_
SIZE</c:v>
                </c:pt>
                <c:pt idx="1">
                  <c:v>CURB_
WEIGHT</c:v>
                </c:pt>
                <c:pt idx="2">
                  <c:v>HORSE-
POWER</c:v>
                </c:pt>
                <c:pt idx="3">
                  <c:v>AVG_
MPG</c:v>
                </c:pt>
                <c:pt idx="4">
                  <c:v>POWER_TO_
WEIGHT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</c:v>
                </c:pt>
                <c:pt idx="1">
                  <c:v>0.83</c:v>
                </c:pt>
                <c:pt idx="2">
                  <c:v>0.81</c:v>
                </c:pt>
                <c:pt idx="3">
                  <c:v>-0.7</c:v>
                </c:pt>
                <c:pt idx="4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36-4133-9758-351DADF0B6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2F2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1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9525">
            <a:solidFill>
              <a:srgbClr val="36454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9525">
            <a:solidFill>
              <a:srgbClr val="36454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9525">
            <a:solidFill>
              <a:srgbClr val="36454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9525">
            <a:solidFill>
              <a:srgbClr val="36454F">
                <a:alpha val="60000"/>
              </a:srgbClr>
            </a:solidFill>
            <a:prstDash val="solid"/>
          </a:ln>
        </p:spPr>
      </p:sp>
      <p:pic>
        <p:nvPicPr>
          <p:cNvPr id="6" name="Image 0" descr="icons_car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AUTOMOBILE DATASET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Cleaning &amp; Feature Engineering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2377440" cy="54864"/>
          </a:xfrm>
          <a:prstGeom prst="rect">
            <a:avLst/>
          </a:prstGeom>
          <a:solidFill>
            <a:srgbClr val="FFB10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977641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— Junior Data Analyst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Oleh: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500" dirty="0" err="1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SMKN 2 Surakarta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 | Data Cleaning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tahap perjalanan data — dari mentah hingga siap dianalisis oleh tim senior.</a:t>
            </a:r>
            <a:endParaRPr lang="en-US" sz="1300" dirty="0"/>
          </a:p>
        </p:txBody>
      </p:sp>
      <p:pic>
        <p:nvPicPr>
          <p:cNvPr id="5" name="Image 0" descr="icons_c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20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34840" y="59436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212080" y="594360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Dataset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34840" y="1435608"/>
            <a:ext cx="7132320" cy="0"/>
          </a:xfrm>
          <a:prstGeom prst="line">
            <a:avLst/>
          </a:prstGeom>
          <a:noFill/>
          <a:ln w="15875">
            <a:solidFill>
              <a:srgbClr val="F2F2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34840" y="1435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12080" y="1435608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Permasalahan Data yang Ditemukan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34840" y="2276856"/>
            <a:ext cx="7132320" cy="0"/>
          </a:xfrm>
          <a:prstGeom prst="line">
            <a:avLst/>
          </a:prstGeom>
          <a:noFill/>
          <a:ln w="15875">
            <a:solidFill>
              <a:srgbClr val="F2F2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840" y="2276856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212080" y="2276856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Langkah-Langkah Cleaning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434840" y="3118104"/>
            <a:ext cx="7132320" cy="0"/>
          </a:xfrm>
          <a:prstGeom prst="line">
            <a:avLst/>
          </a:prstGeom>
          <a:noFill/>
          <a:ln w="15875">
            <a:solidFill>
              <a:srgbClr val="F2F2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34840" y="3118104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212080" y="3118104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yang Dilakukan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34840" y="3959352"/>
            <a:ext cx="7132320" cy="0"/>
          </a:xfrm>
          <a:prstGeom prst="line">
            <a:avLst/>
          </a:prstGeom>
          <a:noFill/>
          <a:ln w="15875">
            <a:solidFill>
              <a:srgbClr val="F2F2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34840" y="3959352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212080" y="3959352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34840" y="4800600"/>
            <a:ext cx="7132320" cy="0"/>
          </a:xfrm>
          <a:prstGeom prst="line">
            <a:avLst/>
          </a:prstGeom>
          <a:noFill/>
          <a:ln w="15875">
            <a:solidFill>
              <a:srgbClr val="F2F2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34840" y="480060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212080" y="4800600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434840" y="5641848"/>
            <a:ext cx="7132320" cy="0"/>
          </a:xfrm>
          <a:prstGeom prst="line">
            <a:avLst/>
          </a:prstGeom>
          <a:noFill/>
          <a:ln w="15875">
            <a:solidFill>
              <a:srgbClr val="F2F2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34840" y="564184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212080" y="5641848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Awal Setelah Cleaning</a:t>
            </a:r>
            <a:endParaRPr lang="en-US" sz="16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2EE1DFE5-2208-9633-D492-4745F283A9CE}"/>
              </a:ext>
            </a:extLst>
          </p:cNvPr>
          <p:cNvSpPr/>
          <p:nvPr/>
        </p:nvSpPr>
        <p:spPr>
          <a:xfrm>
            <a:off x="228600" y="6400800"/>
            <a:ext cx="10058400" cy="36576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200" dirty="0" err="1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 | Data Cleaning</a:t>
            </a:r>
            <a:endParaRPr lang="en-US" sz="12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Mobil Mentah: 26 Atribut Teknis &amp; Harga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Data Awal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8328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/ Atribut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 Mobil (Make)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19202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5256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Duplikat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456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Atribut dalam Dataset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867912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33672"/>
            <a:ext cx="502920" cy="502920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20" name="Image 0" descr="icons_speed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4338828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17320" y="3977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Mesin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417320" y="430682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horsepower, engine-size, compression-ratio, bore, stroke, peak-rpm, num-of-cylinders, fuel-system, engine-type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26480" y="39319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09360" y="4233672"/>
            <a:ext cx="502920" cy="502920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25" name="Image 1" descr="icons_ca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4338828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95160" y="396849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&amp; Bobot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6995160" y="419709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width, height, wheel-base, curb-weight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48640" y="53492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31520" y="5650992"/>
            <a:ext cx="502920" cy="502920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30" name="Image 2" descr="icons_gas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5756148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417320" y="5394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Konsumsi &amp; Harga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1417320" y="558698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city-mpg, highway-mpg, price, normalized-losses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26480" y="53492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309360" y="5650992"/>
            <a:ext cx="502920" cy="502920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35" name="Image 3" descr="icons_check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5756148"/>
            <a:ext cx="292608" cy="2926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95160" y="54132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Kendaraan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6995160" y="56692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make, body-style, drive-wheels, engine-location, fuel-type, aspiration, num-of-doors, symboling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80F87088-A951-E40C-4716-8F018A12C1AD}"/>
              </a:ext>
            </a:extLst>
          </p:cNvPr>
          <p:cNvSpPr/>
          <p:nvPr/>
        </p:nvSpPr>
        <p:spPr>
          <a:xfrm>
            <a:off x="640080" y="640994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 | Data Cleaning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PERMASALAHAN DATA YANG DITEMUKAN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Masalah Utama Sebelum Data Siap Dipakai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per Kolom (Data Mentah)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148840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Image 0" descr="icons_warning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8288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6948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Tersebar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269480" y="2176272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nilai kosong di 6 kolom numerik: normalized-losses (41), price (4), stroke (4), bore (4), peak-rpm (2), horsepower (2), serta num-of-doors (2).</a:t>
            </a:r>
            <a:endParaRPr lang="en-US" sz="1100" dirty="0"/>
          </a:p>
        </p:txBody>
      </p:sp>
      <p:pic>
        <p:nvPicPr>
          <p:cNvPr id="10" name="Image 1" descr="icons_text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24612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9480" y="3200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Kolom Tidak Konsisten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7269480" y="3593592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huruf kecil dengan tanda hubung (mis. highway-mpg, num-of-doors) — rawan salah ketik &amp; tidak seragam untuk query/analisis lanjutan.</a:t>
            </a:r>
            <a:endParaRPr lang="en-US" sz="1100" dirty="0"/>
          </a:p>
        </p:txBody>
      </p:sp>
      <p:pic>
        <p:nvPicPr>
          <p:cNvPr id="13" name="Image 2" descr="icons_clean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66344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69480" y="4617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Teks Belum Seragam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7269480" y="5010912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kategori (make, body-style, fuel-type, dll.) berpotensi memiliki variasi spasi/kapitalisasi yang mempersulit pengelompokan data.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1879FC66-4268-0D42-C59B-EC022DF02D25}"/>
              </a:ext>
            </a:extLst>
          </p:cNvPr>
          <p:cNvSpPr/>
          <p:nvPr/>
        </p:nvSpPr>
        <p:spPr>
          <a:xfrm>
            <a:off x="548640" y="62453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 | Data Cleaning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LANGKAH-LANGKAH CLEANING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Data Mentah ke Clean Dataset v1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baris tanpa harga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adalah variabel target — 4 baris tanpa nilai price dihapus (205 → 201 baris).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3566160"/>
            <a:ext cx="164592" cy="365760"/>
          </a:xfrm>
          <a:prstGeom prst="rightArrow">
            <a:avLst/>
          </a:prstGeom>
          <a:solidFill>
            <a:srgbClr val="FFB100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87452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03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11880" y="2788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missing numerik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11880" y="347472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normalized-losses, bore, stroke, horsepower, peak-rpm diisi dengan nilai rata-rata (mean) kolom masing-masing.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3566160"/>
            <a:ext cx="164592" cy="365760"/>
          </a:xfrm>
          <a:prstGeom prst="rightArrow">
            <a:avLst/>
          </a:prstGeom>
          <a:solidFill>
            <a:srgbClr val="FFB1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87452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103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missing kategorikal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92240" y="347472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num-of-doors diisi dengan nilai modus (nilai yang paling sering muncul).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25128" y="3566160"/>
            <a:ext cx="164592" cy="365760"/>
          </a:xfrm>
          <a:prstGeom prst="rightArrow">
            <a:avLst/>
          </a:prstGeom>
          <a:solidFill>
            <a:srgbClr val="FFB100"/>
          </a:solidFill>
          <a:ln/>
        </p:spPr>
      </p:sp>
      <p:sp>
        <p:nvSpPr>
          <p:cNvPr id="20" name="Shape 18"/>
          <p:cNvSpPr/>
          <p:nvPr/>
        </p:nvSpPr>
        <p:spPr>
          <a:xfrm>
            <a:off x="9189720" y="1874520"/>
            <a:ext cx="2697480" cy="3749040"/>
          </a:xfrm>
          <a:prstGeom prst="roundRect">
            <a:avLst>
              <a:gd name="adj" fmla="val 2712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2103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372600" y="2788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&amp; hapus duplikat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72600" y="347472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Pengecekan baris duplikat dilakukan — hasilnya 0 baris duplikat ditemukan.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FB1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8064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Clean Dataset v1 — 201 baris × 26 kolom, 0 missing value, 0 duplikat</a:t>
            </a:r>
            <a:endParaRPr lang="en-US" sz="14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D455AFBD-BEA2-8FF6-D419-20321DFD9656}"/>
              </a:ext>
            </a:extLst>
          </p:cNvPr>
          <p:cNvSpPr/>
          <p:nvPr/>
        </p:nvSpPr>
        <p:spPr>
          <a:xfrm>
            <a:off x="548640" y="6492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 | Data Cleaning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YANG DILAKUKAN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Standardisasi: dari Clean v1 menuju Clean v2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12121"/>
                </a:solidFill>
              </a:rPr>
              <a:t>Aturan Standardisasi
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680"/>
                </a:solidFill>
              </a:rPr>
              <a:t>• Nama kolom diubah ke HURUF KAPITAL
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680"/>
                </a:solidFill>
              </a:rPr>
              <a:t>• Tanda hubung ( - ) &amp; spasi diganti underscore ( _ )
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680"/>
                </a:solidFill>
              </a:rPr>
              <a:t>• Semua nilai teks diubah ke HURUF KAPITAL
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680"/>
                </a:solidFill>
              </a:rPr>
              <a:t>• Spasi di awal/akhir teks dihapus (trim)
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680"/>
                </a:solidFill>
              </a:rPr>
              <a:t>• Nilai numerik tetap dipertahankan apa adanya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572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 baris  •  26 kolom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baris &amp; kolom tidak berubah — standardisasi hanya menyeragamkan format penulisan.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Perubahan Nama Kolom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194560"/>
          <a:ext cx="6583680" cy="235915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highway-mpg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HIGHWAY_MPG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num-of-cylinders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NUM_OF_CYLINDERS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engine-location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ENGINE_LOCATION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normalized-losses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NORMALIZED_LOSSES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0" y="4800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Perubahan Nilai Teks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5166360"/>
          <a:ext cx="6583680" cy="13716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alfa-romero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ALFA-ROMERO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convertible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CONVERTIBLE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96A86DB8-1901-8EAF-62C0-B3136374717F}"/>
              </a:ext>
            </a:extLst>
          </p:cNvPr>
          <p:cNvSpPr/>
          <p:nvPr/>
        </p:nvSpPr>
        <p:spPr>
          <a:xfrm>
            <a:off x="548640" y="6400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 | Data Cleaning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Fitur Baru untuk Analisis Lebih Dalam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7" name="Image 0" descr="icons_gas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31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AVG_MPG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9164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konsumsi bahan bakar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154680"/>
            <a:ext cx="4709160" cy="594360"/>
          </a:xfrm>
          <a:prstGeom prst="roundRect">
            <a:avLst>
              <a:gd name="adj" fmla="val 7692"/>
            </a:avLst>
          </a:prstGeom>
          <a:solidFill>
            <a:srgbClr val="21212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1546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AVG_MPG = (CITY_MPG + HIGHWAY_MPG) / 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393192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sumber:  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CITY_MPG, HIGHWAY_MPG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 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Meringkas efisiensi bahan bakar kota &amp; jalan raya menjadi satu metrik.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 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CITY_MPG=21, HIGHWAY_MPG=27 → AVG_MPG = 24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187452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36454F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6520" y="219456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15" name="Image 1" descr="icons_spee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3317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194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POWER_TO_WEIGHT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26948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 tenaga terhadap bobot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46520" y="3154680"/>
            <a:ext cx="4709160" cy="594360"/>
          </a:xfrm>
          <a:prstGeom prst="roundRect">
            <a:avLst>
              <a:gd name="adj" fmla="val 7692"/>
            </a:avLst>
          </a:prstGeom>
          <a:solidFill>
            <a:srgbClr val="212121"/>
          </a:solidFill>
          <a:ln/>
        </p:spPr>
      </p:sp>
      <p:sp>
        <p:nvSpPr>
          <p:cNvPr id="19" name="Text 15"/>
          <p:cNvSpPr/>
          <p:nvPr/>
        </p:nvSpPr>
        <p:spPr>
          <a:xfrm>
            <a:off x="6446520" y="31546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POWER_TO_WEIGHT = HORSEPOWER / CURB_WEIGHT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46520" y="393192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sumber:  </a:t>
            </a: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HORSEPOWER, CURB_WEIGHT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 </a:t>
            </a: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performa relatif mesin terhadap bobot kendaraan; makin tinggi, makin bertenaga.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 </a:t>
            </a: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HORSEPOWER=111, CURB_WEIGHT=2548 → POWER_TO_WEIGHT ≈ 0.0436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45BAFCD-3DCF-D35C-3AA9-4B05DA9633D0}"/>
              </a:ext>
            </a:extLst>
          </p:cNvPr>
          <p:cNvSpPr/>
          <p:nvPr/>
        </p:nvSpPr>
        <p:spPr>
          <a:xfrm>
            <a:off x="548640" y="63825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 | Data Cleaning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Clean Dataset: Siap Diserahkan ke Tim Senior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019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36454F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9019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25603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(26 asli + 2 fitur baru)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36454F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9019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25603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18288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36454F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19019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44000" y="25603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Transformasi Dataset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2468880" cy="1417320"/>
          </a:xfrm>
          <a:prstGeom prst="roundRect">
            <a:avLst>
              <a:gd name="adj" fmla="val 4516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baris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kolom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72384" y="4434840"/>
            <a:ext cx="365760" cy="411480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0440" y="3886200"/>
            <a:ext cx="2468880" cy="1417320"/>
          </a:xfrm>
          <a:prstGeom prst="roundRect">
            <a:avLst>
              <a:gd name="adj" fmla="val 4516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v1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4389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baris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kolom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4434840"/>
            <a:ext cx="365760" cy="411480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0" y="3886200"/>
            <a:ext cx="2468880" cy="1417320"/>
          </a:xfrm>
          <a:prstGeom prst="roundRect">
            <a:avLst>
              <a:gd name="adj" fmla="val 4516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v2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389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baris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kolom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(standar)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15984" y="4434840"/>
            <a:ext cx="365760" cy="411480"/>
          </a:xfrm>
          <a:prstGeom prst="rightArrow">
            <a:avLst/>
          </a:prstGeom>
          <a:solidFill>
            <a:srgbClr val="6B7680"/>
          </a:solidFill>
          <a:ln/>
        </p:spPr>
      </p:sp>
      <p:sp>
        <p:nvSpPr>
          <p:cNvPr id="30" name="Shape 28"/>
          <p:cNvSpPr/>
          <p:nvPr/>
        </p:nvSpPr>
        <p:spPr>
          <a:xfrm>
            <a:off x="9464040" y="3886200"/>
            <a:ext cx="2468880" cy="1417320"/>
          </a:xfrm>
          <a:prstGeom prst="roundRect">
            <a:avLst>
              <a:gd name="adj" fmla="val 4516"/>
            </a:avLst>
          </a:prstGeom>
          <a:solidFill>
            <a:srgbClr val="FFB100"/>
          </a:solidFill>
          <a:ln/>
        </p:spPr>
      </p:sp>
      <p:sp>
        <p:nvSpPr>
          <p:cNvPr id="31" name="Text 29"/>
          <p:cNvSpPr/>
          <p:nvPr/>
        </p:nvSpPr>
        <p:spPr>
          <a:xfrm>
            <a:off x="946404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64040" y="4389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baris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kolom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output: Final_Clean_Dataset1.csv — dua fitur baru (AVG_MPG, POWER_TO_WEIGHT) ditambahkan tanpa mengubah jumlah baris atau memunculkan missing value baru.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A6C41324-9A90-BE3F-B0CA-6296526DC42C}"/>
              </a:ext>
            </a:extLst>
          </p:cNvPr>
          <p:cNvSpPr/>
          <p:nvPr/>
        </p:nvSpPr>
        <p:spPr>
          <a:xfrm>
            <a:off x="548640" y="63276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 | Data Cleaning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AWAL SETELAH CLEANING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Sudah Terlihat dari Data Bersih?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Spesifikasi terhadap PRICE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148840"/>
          <a:ext cx="60350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720840" y="1856232"/>
            <a:ext cx="146304" cy="146304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0" y="17556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ENGINE_SIZE paling berkorelasi kuat dengan PRICE (r ≈ 0.87)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040880" y="20848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besar kapasitas mesin, semakin tinggi harga mobil.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20840" y="2651760"/>
            <a:ext cx="146304" cy="146304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0" y="25511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AVG_MPG berkorelasi negatif dengan PRICE (r ≈ -0.70)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040880" y="2880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yang lebih mahal cenderung lebih boros bahan bakar.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20840" y="3447288"/>
            <a:ext cx="146304" cy="146304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33467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DIESEL rata-rata lebih mahal dari GAS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040880" y="36758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harga diesel ≈ $15.838 vs gas ≈ $12.916.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20840" y="4242816"/>
            <a:ext cx="146304" cy="146304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41422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HARDTOP &amp; CONVERTIBLE adalah body style termahal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040880" y="44714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di atas $21.000, jauh di atas HATCHBACK (≈ $9.957).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20840" y="5038344"/>
            <a:ext cx="146304" cy="146304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20" name="Text 17"/>
          <p:cNvSpPr/>
          <p:nvPr/>
        </p:nvSpPr>
        <p:spPr>
          <a:xfrm>
            <a:off x="7040880" y="4937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adalah merek terbanyak dalam dataset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040880" y="52669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dari 201 baris (≈16%), diikuti NISSAN dan MAZDA.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A8F896DB-9929-4B1D-C953-7A6A3D65EFDF}"/>
              </a:ext>
            </a:extLst>
          </p:cNvPr>
          <p:cNvSpPr/>
          <p:nvPr/>
        </p:nvSpPr>
        <p:spPr>
          <a:xfrm>
            <a:off x="457200" y="63276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200" dirty="0" err="1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 | Data Cleaning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9525">
            <a:solidFill>
              <a:srgbClr val="36454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9525">
            <a:solidFill>
              <a:srgbClr val="36454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9525">
            <a:solidFill>
              <a:srgbClr val="36454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9525">
            <a:solidFill>
              <a:srgbClr val="36454F">
                <a:alpha val="60000"/>
              </a:srgbClr>
            </a:solidFill>
            <a:prstDash val="solid"/>
          </a:ln>
        </p:spPr>
      </p:sp>
      <p:pic>
        <p:nvPicPr>
          <p:cNvPr id="6" name="Image 0" descr="icons_check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63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2011680" cy="45720"/>
          </a:xfrm>
          <a:prstGeom prst="rect">
            <a:avLst/>
          </a:prstGeom>
          <a:solidFill>
            <a:srgbClr val="FFB10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560320"/>
            <a:ext cx="128016" cy="1280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0" name="Text 7"/>
          <p:cNvSpPr/>
          <p:nvPr/>
        </p:nvSpPr>
        <p:spPr>
          <a:xfrm>
            <a:off x="905256" y="225856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automobile berhasil diaudit, dibersihkan, distandardisasi, dan diperkaya dengan feature engineering.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429000"/>
            <a:ext cx="128016" cy="1280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273552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baris data mentah dengan 59 missing value diproses menjadi 201 baris bersih (0 missing, 0 duplikat) dengan format kolom &amp; teks yang konsisten.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4297680"/>
            <a:ext cx="128016" cy="1280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142232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fitur turunan (AVG_MPG, POWER_TO_WEIGHT) ditambahkan untuk mendukung analisis efisiensi bahan bakar dan performa kendaraan.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5166360"/>
            <a:ext cx="128016" cy="128016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5010912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awal menunjukkan ENGINE_SIZE, CURB_WEIGHT, dan HORSEPOWER sebagai faktor paling berkaitan dengan PRICE.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68096" y="5742431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kasih.</a:t>
            </a:r>
            <a:endParaRPr lang="en-US" sz="16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E9688991-FA05-AA94-68BE-BC76D82A0630}"/>
              </a:ext>
            </a:extLst>
          </p:cNvPr>
          <p:cNvSpPr/>
          <p:nvPr/>
        </p:nvSpPr>
        <p:spPr>
          <a:xfrm>
            <a:off x="50292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 | Data Cleaning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1076</Words>
  <Application>Microsoft Office PowerPoint</Application>
  <PresentationFormat>Widescreen</PresentationFormat>
  <Paragraphs>188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 Ideapad</cp:lastModifiedBy>
  <cp:revision>3</cp:revision>
  <dcterms:created xsi:type="dcterms:W3CDTF">2026-08-21T02:05:42Z</dcterms:created>
  <dcterms:modified xsi:type="dcterms:W3CDTF">2026-08-21T02:52:16Z</dcterms:modified>
</cp:coreProperties>
</file>